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gif" ContentType="image/gif"/>
  <Default Extension="jpeg" ContentType="image/jpeg"/>
  <Default Extension="JPG" ContentType="image/.jpg"/>
  <Default Extension="rels" ContentType="application/vnd.openxmlformats-package.relationships+xml"/>
  <Override PartName="/customXml/itemProps205.xml" ContentType="application/vnd.openxmlformats-officedocument.customXmlProperties+xml"/>
  <Override PartName="/customXml/itemProps206.xml" ContentType="application/vnd.openxmlformats-officedocument.customXmlProperties+xml"/>
  <Override PartName="/customXml/itemProps207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ink/ink1.xml" ContentType="application/inkml+xml"/>
  <Override PartName="/ppt/ink/ink2.xml" ContentType="application/inkml+xml"/>
  <Override PartName="/ppt/ink/ink3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</p:sldMasterIdLst>
  <p:notesMasterIdLst>
    <p:notesMasterId r:id="rId4"/>
  </p:notesMasterIdLst>
  <p:handoutMasterIdLst>
    <p:handoutMasterId r:id="rId61"/>
  </p:handoutMasterIdLst>
  <p:sldIdLst>
    <p:sldId id="311" r:id="rId3"/>
    <p:sldId id="403" r:id="rId5"/>
    <p:sldId id="358" r:id="rId6"/>
    <p:sldId id="636" r:id="rId7"/>
    <p:sldId id="638" r:id="rId8"/>
    <p:sldId id="637" r:id="rId9"/>
    <p:sldId id="629" r:id="rId10"/>
    <p:sldId id="633" r:id="rId11"/>
    <p:sldId id="632" r:id="rId12"/>
    <p:sldId id="635" r:id="rId13"/>
    <p:sldId id="688" r:id="rId14"/>
    <p:sldId id="686" r:id="rId15"/>
    <p:sldId id="689" r:id="rId16"/>
    <p:sldId id="690" r:id="rId17"/>
    <p:sldId id="685" r:id="rId18"/>
    <p:sldId id="682" r:id="rId19"/>
    <p:sldId id="480" r:id="rId20"/>
    <p:sldId id="639" r:id="rId21"/>
    <p:sldId id="641" r:id="rId22"/>
    <p:sldId id="645" r:id="rId23"/>
    <p:sldId id="640" r:id="rId24"/>
    <p:sldId id="643" r:id="rId25"/>
    <p:sldId id="644" r:id="rId26"/>
    <p:sldId id="691" r:id="rId27"/>
    <p:sldId id="692" r:id="rId28"/>
    <p:sldId id="693" r:id="rId29"/>
    <p:sldId id="694" r:id="rId30"/>
    <p:sldId id="663" r:id="rId31"/>
    <p:sldId id="672" r:id="rId32"/>
    <p:sldId id="646" r:id="rId33"/>
    <p:sldId id="647" r:id="rId34"/>
    <p:sldId id="503" r:id="rId35"/>
    <p:sldId id="648" r:id="rId36"/>
    <p:sldId id="651" r:id="rId37"/>
    <p:sldId id="659" r:id="rId38"/>
    <p:sldId id="489" r:id="rId39"/>
    <p:sldId id="650" r:id="rId40"/>
    <p:sldId id="655" r:id="rId41"/>
    <p:sldId id="656" r:id="rId42"/>
    <p:sldId id="657" r:id="rId43"/>
    <p:sldId id="658" r:id="rId44"/>
    <p:sldId id="660" r:id="rId45"/>
    <p:sldId id="662" r:id="rId46"/>
    <p:sldId id="666" r:id="rId47"/>
    <p:sldId id="665" r:id="rId48"/>
    <p:sldId id="667" r:id="rId49"/>
    <p:sldId id="674" r:id="rId50"/>
    <p:sldId id="678" r:id="rId51"/>
    <p:sldId id="680" r:id="rId52"/>
    <p:sldId id="664" r:id="rId53"/>
    <p:sldId id="676" r:id="rId54"/>
    <p:sldId id="677" r:id="rId55"/>
    <p:sldId id="668" r:id="rId56"/>
    <p:sldId id="669" r:id="rId57"/>
    <p:sldId id="670" r:id="rId58"/>
    <p:sldId id="661" r:id="rId59"/>
    <p:sldId id="679" r:id="rId60"/>
  </p:sldIdLst>
  <p:sldSz cx="9144000" cy="6858000" type="screen4x3"/>
  <p:notesSz cx="9872345" cy="6797675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8" userDrawn="1">
          <p15:clr>
            <a:srgbClr val="A4A3A4"/>
          </p15:clr>
        </p15:guide>
        <p15:guide id="2" pos="287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ang Gary FENG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597"/>
    <a:srgbClr val="3366FF"/>
    <a:srgbClr val="3333CC"/>
    <a:srgbClr val="B83D68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2517" autoAdjust="0"/>
  </p:normalViewPr>
  <p:slideViewPr>
    <p:cSldViewPr showGuides="1">
      <p:cViewPr varScale="1">
        <p:scale>
          <a:sx n="129" d="100"/>
          <a:sy n="129" d="100"/>
        </p:scale>
        <p:origin x="1134" y="75"/>
      </p:cViewPr>
      <p:guideLst>
        <p:guide orient="horz" pos="2128"/>
        <p:guide pos="2873"/>
      </p:guideLst>
    </p:cSldViewPr>
  </p:slideViewPr>
  <p:outlineViewPr>
    <p:cViewPr>
      <p:scale>
        <a:sx n="33" d="100"/>
        <a:sy n="33" d="100"/>
      </p:scale>
      <p:origin x="0" y="-15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74"/>
    </p:cViewPr>
  </p:sorterViewPr>
  <p:notesViewPr>
    <p:cSldViewPr>
      <p:cViewPr varScale="1">
        <p:scale>
          <a:sx n="113" d="100"/>
          <a:sy n="113" d="100"/>
        </p:scale>
        <p:origin x="97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8" Type="http://schemas.openxmlformats.org/officeDocument/2006/relationships/customXml" Target="../customXml/item3.xml"/><Relationship Id="rId67" Type="http://schemas.openxmlformats.org/officeDocument/2006/relationships/customXml" Target="../customXml/item2.xml"/><Relationship Id="rId66" Type="http://schemas.openxmlformats.org/officeDocument/2006/relationships/customXml" Target="../customXml/item1.xml"/><Relationship Id="rId65" Type="http://schemas.openxmlformats.org/officeDocument/2006/relationships/commentAuthors" Target="commentAuthors.xml"/><Relationship Id="rId64" Type="http://schemas.openxmlformats.org/officeDocument/2006/relationships/tableStyles" Target="tableStyles.xml"/><Relationship Id="rId63" Type="http://schemas.openxmlformats.org/officeDocument/2006/relationships/viewProps" Target="viewProps.xml"/><Relationship Id="rId62" Type="http://schemas.openxmlformats.org/officeDocument/2006/relationships/presProps" Target="presProps.xml"/><Relationship Id="rId61" Type="http://schemas.openxmlformats.org/officeDocument/2006/relationships/handoutMaster" Target="handoutMasters/handoutMaster1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154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592224" y="0"/>
            <a:ext cx="4278154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459EF0-107E-4A2E-B630-A66A10C0651D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278154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592224" y="6456612"/>
            <a:ext cx="4278154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A925CF-ACD0-463E-87A5-3E3D55A96CF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1T01:52: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2600.000 1407.000 24575,'0.000'-6.000'0,"-1.000"0.000"0,0.000 0.000 0,-1.000 0.000 0,1.000 1.000 0,-1.000-1.000 0,-5.000-10.000 0,-2.000-6.000 0,-36.000-90.000 0,-5.000-15.000 0,30.000 61.000 0,-44.000-95.000 0,45.000 119.000 0,4.000 7.000 0,-37.000-61.000 0,-15.000-11.000 0,-37.000-53.000 0,31.000 74.000 0,37.000 47.000 0,16.000 16.000 0,-1.000 2.000 0,-1.000 1.000 0,-1.000 0.000 0,-1.000 2.000 0,0.000 1.000 0,-34.000-18.000 0,23.000 18.000 0,-1.000 1.000 0,0.000 2.000 0,-1.000 1.000 0,-50.000-9.000 0,-152.000-25.000 0,171.000 38.000 0,-108.000-1.000 0,65.000 10.000 0,-141.000 5.000 0,219.000-1.000 0,0.000 1.000 0,0.000 2.000 0,-35.000 12.000 0,-90.000 42.000 0,152.000-58.000 0,0.000 0.000 0,1.000 0.000 0,-1.000 1.000 0,1.000 0.000 0,-1.000 0.000 0,1.000 1.000 0,-7.000 7.000 0,-30.000 42.000 0,12.000-15.000 0,2.000-4.000 0,1.000 1.000 0,2.000 1.000 0,1.000 1.000 0,3.000 1.000 0,0.000 2.000 0,3.000 0.000 0,1.000 1.000 0,2.000 0.000 0,2.000 1.000 0,-11.000 62.000 0,-3.000 27.000 0,7.000-45.000 0,-11.000 126.000 0,27.000 192.000 0,6.000-382.000 0,1.000-1.000 0,1.000 0.000 0,1.000 0.000 0,0.000 0.000 0,2.000 0.000 0,12.000 27.000 0,-2.000-12.000 0,2.000 0.000 0,35.000 52.000 0,-9.000-29.000 0,98.000 100.000 0,-57.000-68.000 0,-52.000-55.000 0,2.000-2.000 0,70.000 55.000 0,-81.000-73.000 0,-1.000-1.000 0,2.000-1.000 0,0.000-1.000 0,1.000-2.000 0,0.000-1.000 0,30.000 9.000 0,366.000 84.000 0,-346.000-89.000 0,1.000-3.000 0,116.000 1.000 0,-186.000-13.000 0,88.000-4.000 0,-82.000 2.000 0,0.000 0.000 0,-1.000-1.000 0,1.000-1.000 0,24.000-10.000 0,-15.000 4.000 0,-14.000 7.000 0,0.000 0.000 0,-1.000-1.000 0,0.000 0.000 0,1.000 0.000 0,-2.000-1.000 0,1.000 0.000 0,0.000-1.000 0,-1.000 0.000 0,0.000 0.000 0,-1.000 0.000 0,1.000-1.000 0,9.000-12.000 0,7.000-12.000 0,-18.000 26.000 0,-1.000 0.000 0,0.000 0.000 0,0.000 0.000 0,0.000-1.000 0,-1.000 0.000 0,1.000 0.000 0,-2.000 0.000 0,1.000 0.000 0,3.000-9.000 0,-1.000-1.000 0,1.000 0.000 0,1.000 1.000 0,0.000 0.000 0,1.000 1.000 0,0.000 0.000 0,15.000-19.000 0,-5.000 6.000 0,11.000-28.000 0,-2.000 0.000 0,-6.000 22.000 0,-2.000-2.000 0,-1.000 0.000 0,-2.000 0.000 0,-2.000-2.000 0,0.000 0.000 0,9.000-47.000 0,-18.000 49.000 0,-2.000 0.000 0,-1.000-1.000 0,-4.000-57.000 0,0.000 17.000 0,2.000 58.000 0,0.000-4.000 0,-5.000-45.000 0,4.000 58.000 0,-1.000 1.000 0,0.000 0.000 0,-1.000 0.000 0,0.000 0.000 0,0.000 0.000 0,0.000 0.000 0,-1.000 1.000 0,-8.000-13.000 0,-36.000-57.000 0,36.000 55.000 0,9.000 16.000 0,0.000 1.000 0,0.000 0.000 0,0.000 0.000 0,0.000 0.000 0,-1.000 0.000 0,0.000 0.000 0,-5.000-4.000 0,5.000 5.000 0,0.000 0.000 0,1.000-1.000 0,-1.000 0.000 0,1.000 0.000 0,0.000 0.000 0,-5.000-10.000 0,5.000 9.000 0,0.000 0.000 0,0.000 0.000 0,-1.000 1.000 0,-5.000-7.000 0,9.000 12.000 0,-1.000 0.000 0,1.000 0.000 0,-1.000 0.000 0,1.000 1.000 0,0.000-1.000 0,-1.000 0.000 0,1.000 0.000 0,-1.000 1.000 0,1.000-1.000 0,0.000 0.000 0,-1.000 1.000 0,1.000-1.000 0,0.000 0.000 0,-1.000 1.000 0,1.000-1.000 0,0.000 1.000 0,0.000-1.000 0,-1.000 0.000 0,1.000 1.000 0,0.000-1.000 0,0.000 1.000 0,0.000-1.000 0,0.000 1.000 0,-1.000-1.000 0,1.000 1.000 0,0.000-1.000 0,0.000 1.000 0,0.000-1.000 0,0.000 1.000 0,0.000 0.000 0,-5.000 19.000 0,5.000-20.000 0,-54.000 248.000-1365,50.000-230.000-5461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1T01:52: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1.000 1.000 24575,'3.000'0.000'0,"4.000"0.000"0,3.000 0.000 0,3.000 0.000 0,3.000 0.000 0,0.000 0.000 0,2.000 0.000 0,0.000 0.000 0,-1.000 0.000 0,1.000 0.000 0,2.000 3.000 0,1.000 4.000 0,-1.000 0.000 0,0.000 0.000 0,-1.000 1.000 0,-3.000 0.000-8191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08:45: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186.000 1.000 24575,'0.000'24.000'0,"1.000"13.000"0,-3.000 0.000 0,-8.000 60.000 0,1.000-48.000 0,-8.000 42.000 0,14.000-80.000 0,-1.000-1.000 0,1.000 0.000 0,-1.000 0.000 0,-1.000 0.000 0,0.000 0.000 0,-8.000 11.000 0,8.000-15.000 0,-1.000-1.000 0,1.000 1.000 0,-1.000-1.000 0,-8.000 7.000 0,-17.000 15.000 0,-4.000 5.000-1365,26.000-24.000-5461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154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592224" y="0"/>
            <a:ext cx="4278154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08A134-1A06-0140-8CC9-2EB9F00F96C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236913" y="509588"/>
            <a:ext cx="3398837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87267" y="3228895"/>
            <a:ext cx="789813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278154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592224" y="6456612"/>
            <a:ext cx="4278154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假设大家已经掌握了这些内容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60E6-95FC-419E-8164-FC637F8F7CB2}" type="datetimeFigureOut">
              <a:rPr lang="zh-HK" altLang="en-US" smtClean="0"/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B72F-753C-4E0B-8FFE-1A491E9129D8}" type="slidenum">
              <a:rPr lang="zh-HK" altLang="en-US" smtClean="0"/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683568" y="6388832"/>
            <a:ext cx="71287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27 Imagen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2989" y="6476290"/>
            <a:ext cx="379637" cy="303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28 Imagen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9144" y="6476290"/>
            <a:ext cx="363537" cy="303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30 CuadroTexto"/>
          <p:cNvSpPr txBox="1">
            <a:spLocks noChangeArrowheads="1"/>
          </p:cNvSpPr>
          <p:nvPr userDrawn="1"/>
        </p:nvSpPr>
        <p:spPr bwMode="auto">
          <a:xfrm>
            <a:off x="4304506" y="6487402"/>
            <a:ext cx="315913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s-HN" altLang="en-US" sz="1200" b="1" i="1" dirty="0">
                <a:solidFill>
                  <a:srgbClr val="A6A6A6"/>
                </a:solidFill>
                <a:latin typeface="Calibri" pitchFamily="34" charset="0"/>
              </a:rPr>
              <a:t>of</a:t>
            </a:r>
            <a:endParaRPr lang="es-ES" altLang="en-US" sz="1200" b="1" i="1" dirty="0">
              <a:solidFill>
                <a:srgbClr val="A6A6A6"/>
              </a:solidFill>
              <a:latin typeface="Calibri" pitchFamily="34" charset="0"/>
            </a:endParaRPr>
          </a:p>
        </p:txBody>
      </p:sp>
      <p:pic>
        <p:nvPicPr>
          <p:cNvPr id="12" name="Imagen 27" descr="btns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7919" y="6527090"/>
            <a:ext cx="215900" cy="21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Imagen 28" descr="btns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1581" y="6527090"/>
            <a:ext cx="215900" cy="21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Slide Number Placeholder 5"/>
          <p:cNvSpPr txBox="1"/>
          <p:nvPr userDrawn="1"/>
        </p:nvSpPr>
        <p:spPr>
          <a:xfrm>
            <a:off x="4582640" y="6478849"/>
            <a:ext cx="360041" cy="293450"/>
          </a:xfrm>
          <a:prstGeom prst="rect">
            <a:avLst/>
          </a:prstGeom>
          <a:noFill/>
        </p:spPr>
        <p:txBody>
          <a:bodyPr/>
          <a:lstStyle>
            <a:defPPr>
              <a:defRPr lang="zh-HK"/>
            </a:defPPr>
            <a:lvl1pPr marL="0" algn="l" defTabSz="914400" rtl="0" eaLnBrk="1" latinLnBrk="0" hangingPunct="1">
              <a:defRPr sz="1200" b="1" kern="1200">
                <a:solidFill>
                  <a:srgbClr val="00B0F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HK" dirty="0">
                <a:solidFill>
                  <a:schemeClr val="bg1"/>
                </a:solidFill>
              </a:rPr>
              <a:t>55</a:t>
            </a:r>
            <a:endParaRPr lang="en-US" altLang="zh-HK" dirty="0">
              <a:solidFill>
                <a:schemeClr val="bg1"/>
              </a:solidFill>
            </a:endParaRPr>
          </a:p>
        </p:txBody>
      </p:sp>
      <p:sp>
        <p:nvSpPr>
          <p:cNvPr id="15" name="Slide Number Placeholder 5"/>
          <p:cNvSpPr txBox="1"/>
          <p:nvPr userDrawn="1"/>
        </p:nvSpPr>
        <p:spPr>
          <a:xfrm>
            <a:off x="3997608" y="6478849"/>
            <a:ext cx="370398" cy="293450"/>
          </a:xfrm>
          <a:prstGeom prst="rect">
            <a:avLst/>
          </a:prstGeom>
          <a:noFill/>
        </p:spPr>
        <p:txBody>
          <a:bodyPr anchor="ctr" anchorCtr="1"/>
          <a:lstStyle>
            <a:defPPr>
              <a:defRPr lang="zh-HK"/>
            </a:defPPr>
            <a:lvl1pPr marL="0" algn="l" defTabSz="914400" rtl="0" eaLnBrk="1" latinLnBrk="0" hangingPunct="1">
              <a:defRPr sz="1200" b="1" kern="1200">
                <a:solidFill>
                  <a:srgbClr val="00B0F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92CB72F-753C-4E0B-8FFE-1A491E9129D8}" type="slidenum">
              <a:rPr lang="zh-HK" altLang="en-US" smtClean="0">
                <a:solidFill>
                  <a:schemeClr val="bg1"/>
                </a:solidFill>
              </a:rPr>
            </a:fld>
            <a:r>
              <a:rPr lang="zh-HK" altLang="en-US" dirty="0"/>
              <a:t>            </a:t>
            </a:r>
            <a:endParaRPr lang="zh-HK" altLang="en-US" dirty="0"/>
          </a:p>
        </p:txBody>
      </p:sp>
      <p:pic>
        <p:nvPicPr>
          <p:cNvPr id="2" name="图片 1" descr="徽标&#10;&#10;描述已自动生成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328" y="5763266"/>
            <a:ext cx="1496877" cy="107644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 userDrawn="1"/>
        </p:nvSpPr>
        <p:spPr>
          <a:xfrm>
            <a:off x="1811525" y="2875121"/>
            <a:ext cx="5352763" cy="83454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eaVert"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60E6-95FC-419E-8164-FC637F8F7CB2}" type="datetimeFigureOut">
              <a:rPr lang="zh-HK" altLang="en-US" smtClean="0"/>
            </a:fld>
            <a:endParaRPr lang="zh-HK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B72F-753C-4E0B-8FFE-1A491E9129D8}" type="slidenum">
              <a:rPr lang="zh-HK" altLang="en-US" smtClean="0"/>
            </a:fld>
            <a:endParaRPr lang="zh-HK" altLang="en-US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683568" y="6381328"/>
            <a:ext cx="71287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27 Imagen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2989" y="6463368"/>
            <a:ext cx="379637" cy="303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28 Imagen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9144" y="6463368"/>
            <a:ext cx="363537" cy="303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30 CuadroTexto"/>
          <p:cNvSpPr txBox="1">
            <a:spLocks noChangeArrowheads="1"/>
          </p:cNvSpPr>
          <p:nvPr userDrawn="1"/>
        </p:nvSpPr>
        <p:spPr bwMode="auto">
          <a:xfrm>
            <a:off x="4304506" y="6488723"/>
            <a:ext cx="315913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s-HN" altLang="en-US" sz="1200" b="1" i="1" dirty="0">
                <a:solidFill>
                  <a:srgbClr val="A6A6A6"/>
                </a:solidFill>
                <a:latin typeface="Calibri" pitchFamily="34" charset="0"/>
              </a:rPr>
              <a:t>of</a:t>
            </a:r>
            <a:endParaRPr lang="es-ES" altLang="en-US" sz="1200" b="1" i="1" dirty="0">
              <a:solidFill>
                <a:srgbClr val="A6A6A6"/>
              </a:solidFill>
              <a:latin typeface="Calibri" pitchFamily="34" charset="0"/>
            </a:endParaRPr>
          </a:p>
        </p:txBody>
      </p:sp>
      <p:pic>
        <p:nvPicPr>
          <p:cNvPr id="10" name="Imagen 27" descr="btns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7919" y="6528411"/>
            <a:ext cx="215900" cy="21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Imagen 28" descr="btns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1581" y="6528411"/>
            <a:ext cx="215900" cy="21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Slide Number Placeholder 5"/>
          <p:cNvSpPr txBox="1"/>
          <p:nvPr userDrawn="1"/>
        </p:nvSpPr>
        <p:spPr>
          <a:xfrm>
            <a:off x="4582640" y="6480170"/>
            <a:ext cx="360041" cy="293450"/>
          </a:xfrm>
          <a:prstGeom prst="rect">
            <a:avLst/>
          </a:prstGeom>
          <a:noFill/>
        </p:spPr>
        <p:txBody>
          <a:bodyPr/>
          <a:lstStyle>
            <a:defPPr>
              <a:defRPr lang="zh-HK"/>
            </a:defPPr>
            <a:lvl1pPr marL="0" algn="l" defTabSz="914400" rtl="0" eaLnBrk="1" latinLnBrk="0" hangingPunct="1">
              <a:defRPr sz="1200" b="1" kern="1200">
                <a:solidFill>
                  <a:srgbClr val="00B0F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HK" dirty="0">
                <a:solidFill>
                  <a:schemeClr val="bg1"/>
                </a:solidFill>
              </a:rPr>
              <a:t>32</a:t>
            </a:r>
            <a:r>
              <a:rPr lang="zh-HK" altLang="en-US" dirty="0"/>
              <a:t>           </a:t>
            </a:r>
            <a:endParaRPr lang="zh-HK" altLang="en-US" dirty="0"/>
          </a:p>
        </p:txBody>
      </p:sp>
      <p:sp>
        <p:nvSpPr>
          <p:cNvPr id="13" name="Slide Number Placeholder 5"/>
          <p:cNvSpPr txBox="1"/>
          <p:nvPr userDrawn="1"/>
        </p:nvSpPr>
        <p:spPr>
          <a:xfrm>
            <a:off x="3997608" y="6480170"/>
            <a:ext cx="370398" cy="293450"/>
          </a:xfrm>
          <a:prstGeom prst="rect">
            <a:avLst/>
          </a:prstGeom>
          <a:noFill/>
        </p:spPr>
        <p:txBody>
          <a:bodyPr anchor="ctr" anchorCtr="1"/>
          <a:lstStyle>
            <a:defPPr>
              <a:defRPr lang="zh-HK"/>
            </a:defPPr>
            <a:lvl1pPr marL="0" algn="l" defTabSz="914400" rtl="0" eaLnBrk="1" latinLnBrk="0" hangingPunct="1">
              <a:defRPr sz="1200" b="1" kern="1200">
                <a:solidFill>
                  <a:srgbClr val="00B0F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92CB72F-753C-4E0B-8FFE-1A491E9129D8}" type="slidenum">
              <a:rPr lang="zh-HK" altLang="en-US" smtClean="0">
                <a:solidFill>
                  <a:schemeClr val="bg1"/>
                </a:solidFill>
              </a:rPr>
            </a:fld>
            <a:r>
              <a:rPr lang="zh-HK" altLang="en-US" dirty="0"/>
              <a:t>            </a:t>
            </a:r>
            <a:endParaRPr lang="zh-HK" altLang="en-US" dirty="0"/>
          </a:p>
        </p:txBody>
      </p:sp>
      <p:pic>
        <p:nvPicPr>
          <p:cNvPr id="14" name="图片 13" descr="徽标&#10;&#10;描述已自动生成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328" y="5763266"/>
            <a:ext cx="1496877" cy="107644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43533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0" dirty="0">
                <a:solidFill>
                  <a:schemeClr val="bg1"/>
                </a:solidFill>
              </a:rPr>
              <a:t>Department of Biomedical Engineering</a:t>
            </a:r>
            <a:endParaRPr lang="en-US" sz="1800" b="0" dirty="0">
              <a:solidFill>
                <a:schemeClr val="bg1"/>
              </a:solidFill>
            </a:endParaRPr>
          </a:p>
        </p:txBody>
      </p:sp>
      <p:pic>
        <p:nvPicPr>
          <p:cNvPr id="4" name="图片 3" descr="徽标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328" y="5761010"/>
            <a:ext cx="1496877" cy="107644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60E6-95FC-419E-8164-FC637F8F7CB2}" type="datetimeFigureOut">
              <a:rPr lang="zh-HK" altLang="en-US" smtClean="0"/>
            </a:fld>
            <a:endParaRPr lang="zh-HK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B72F-753C-4E0B-8FFE-1A491E9129D8}" type="slidenum">
              <a:rPr lang="zh-HK" altLang="en-US" smtClean="0"/>
            </a:fld>
            <a:endParaRPr lang="zh-HK" alt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60E6-95FC-419E-8164-FC637F8F7CB2}" type="datetimeFigureOut">
              <a:rPr lang="zh-HK" altLang="en-US" smtClean="0"/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B72F-753C-4E0B-8FFE-1A491E9129D8}" type="slidenum">
              <a:rPr lang="zh-HK" altLang="en-US" smtClean="0"/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60E6-95FC-419E-8164-FC637F8F7CB2}" type="datetimeFigureOut">
              <a:rPr lang="zh-HK" altLang="en-US" smtClean="0"/>
            </a:fld>
            <a:endParaRPr lang="zh-HK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B72F-753C-4E0B-8FFE-1A491E9129D8}" type="slidenum">
              <a:rPr lang="zh-HK" altLang="en-US" smtClean="0"/>
            </a:fld>
            <a:endParaRPr lang="zh-HK" alt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60E6-95FC-419E-8164-FC637F8F7CB2}" type="datetimeFigureOut">
              <a:rPr lang="zh-HK" altLang="en-US" smtClean="0"/>
            </a:fld>
            <a:endParaRPr lang="zh-HK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B72F-753C-4E0B-8FFE-1A491E9129D8}" type="slidenum">
              <a:rPr lang="zh-HK" altLang="en-US" smtClean="0"/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60E6-95FC-419E-8164-FC637F8F7CB2}" type="datetimeFigureOut">
              <a:rPr lang="zh-HK" altLang="en-US" smtClean="0"/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B72F-753C-4E0B-8FFE-1A491E9129D8}" type="slidenum">
              <a:rPr lang="zh-HK" altLang="en-US" smtClean="0"/>
            </a:fld>
            <a:endParaRPr lang="zh-HK" alt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60E6-95FC-419E-8164-FC637F8F7CB2}" type="datetimeFigureOut">
              <a:rPr lang="zh-HK" altLang="en-US" smtClean="0"/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B72F-753C-4E0B-8FFE-1A491E9129D8}" type="slidenum">
              <a:rPr lang="zh-HK" altLang="en-US" smtClean="0"/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60E6-95FC-419E-8164-FC637F8F7CB2}" type="datetimeFigureOut">
              <a:rPr lang="zh-HK" altLang="en-US" smtClean="0"/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B72F-753C-4E0B-8FFE-1A491E9129D8}" type="slidenum">
              <a:rPr lang="zh-HK" altLang="en-US" smtClean="0"/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60E6-95FC-419E-8164-FC637F8F7CB2}" type="datetimeFigureOut">
              <a:rPr lang="zh-HK" altLang="en-US" smtClean="0"/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B72F-753C-4E0B-8FFE-1A491E9129D8}" type="slidenum">
              <a:rPr lang="zh-HK" altLang="en-US" smtClean="0"/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32040" y="638132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tx1"/>
                </a:solidFill>
              </a:defRPr>
            </a:lvl1pPr>
          </a:lstStyle>
          <a:p>
            <a:pPr algn="ctr"/>
            <a:fld id="{892CB72F-753C-4E0B-8FFE-1A491E9129D8}" type="slidenum">
              <a:rPr lang="zh-HK" altLang="en-US" smtClean="0"/>
            </a:fld>
            <a:endParaRPr lang="zh-HK" altLang="en-US" dirty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51520" y="6237312"/>
            <a:ext cx="777686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 descr="C:\Users\xiangxu5-c\Desktop\CityU_logo_2015.svg.png"/>
          <p:cNvPicPr preferRelativeResize="0"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3910" y="5999908"/>
            <a:ext cx="1070717" cy="722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 userDrawn="1"/>
        </p:nvSpPr>
        <p:spPr>
          <a:xfrm>
            <a:off x="179512" y="6309320"/>
            <a:ext cx="3672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Department of Biomedical Engineering</a:t>
            </a:r>
            <a:endParaRPr lang="en-GB" sz="1600" dirty="0">
              <a:solidFill>
                <a:schemeClr val="bg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C8E260E6-95FC-419E-8164-FC637F8F7CB2}" type="datetimeFigureOut">
              <a:rPr lang="zh-HK" altLang="en-US" smtClean="0"/>
            </a:fld>
            <a:endParaRPr lang="zh-HK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892CB72F-753C-4E0B-8FFE-1A491E9129D8}" type="slidenum">
              <a:rPr lang="zh-HK" altLang="en-US" smtClean="0"/>
            </a:fld>
            <a:endParaRPr lang="zh-HK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anose="020B060402020209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9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9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9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9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.xml"/><Relationship Id="rId1" Type="http://schemas.openxmlformats.org/officeDocument/2006/relationships/hyperlink" Target="https://www.sustech.edu.cn/zh/faculties/bohaozhu.html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9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.xml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.xml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8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6.xml"/><Relationship Id="rId4" Type="http://schemas.openxmlformats.org/officeDocument/2006/relationships/image" Target="../media/image13.png"/><Relationship Id="rId3" Type="http://schemas.openxmlformats.org/officeDocument/2006/relationships/tags" Target="../tags/tag15.xml"/><Relationship Id="rId2" Type="http://schemas.openxmlformats.org/officeDocument/2006/relationships/image" Target="../media/image12.png"/><Relationship Id="rId1" Type="http://schemas.openxmlformats.org/officeDocument/2006/relationships/tags" Target="../tags/tag14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image" Target="../media/image17.png"/><Relationship Id="rId7" Type="http://schemas.openxmlformats.org/officeDocument/2006/relationships/tags" Target="../tags/tag20.xml"/><Relationship Id="rId6" Type="http://schemas.openxmlformats.org/officeDocument/2006/relationships/image" Target="../media/image16.png"/><Relationship Id="rId5" Type="http://schemas.openxmlformats.org/officeDocument/2006/relationships/tags" Target="../tags/tag19.xml"/><Relationship Id="rId4" Type="http://schemas.openxmlformats.org/officeDocument/2006/relationships/image" Target="../media/image15.png"/><Relationship Id="rId3" Type="http://schemas.openxmlformats.org/officeDocument/2006/relationships/tags" Target="../tags/tag18.xml"/><Relationship Id="rId2" Type="http://schemas.openxmlformats.org/officeDocument/2006/relationships/image" Target="../media/image14.png"/><Relationship Id="rId19" Type="http://schemas.openxmlformats.org/officeDocument/2006/relationships/notesSlide" Target="../notesSlides/notesSlide19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25.xml"/><Relationship Id="rId16" Type="http://schemas.openxmlformats.org/officeDocument/2006/relationships/image" Target="../media/image21.png"/><Relationship Id="rId15" Type="http://schemas.openxmlformats.org/officeDocument/2006/relationships/tags" Target="../tags/tag24.xml"/><Relationship Id="rId14" Type="http://schemas.openxmlformats.org/officeDocument/2006/relationships/image" Target="../media/image20.png"/><Relationship Id="rId13" Type="http://schemas.openxmlformats.org/officeDocument/2006/relationships/tags" Target="../tags/tag23.xml"/><Relationship Id="rId12" Type="http://schemas.openxmlformats.org/officeDocument/2006/relationships/image" Target="../media/image19.png"/><Relationship Id="rId11" Type="http://schemas.openxmlformats.org/officeDocument/2006/relationships/tags" Target="../tags/tag22.xml"/><Relationship Id="rId10" Type="http://schemas.openxmlformats.org/officeDocument/2006/relationships/image" Target="../media/image18.png"/><Relationship Id="rId1" Type="http://schemas.openxmlformats.org/officeDocument/2006/relationships/tags" Target="../tags/tag17.xml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0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8.xml"/><Relationship Id="rId4" Type="http://schemas.openxmlformats.org/officeDocument/2006/relationships/image" Target="../media/image23.png"/><Relationship Id="rId3" Type="http://schemas.openxmlformats.org/officeDocument/2006/relationships/tags" Target="../tags/tag27.xml"/><Relationship Id="rId2" Type="http://schemas.openxmlformats.org/officeDocument/2006/relationships/image" Target="../media/image22.png"/><Relationship Id="rId1" Type="http://schemas.openxmlformats.org/officeDocument/2006/relationships/tags" Target="../tags/tag26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1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32.xml"/><Relationship Id="rId6" Type="http://schemas.openxmlformats.org/officeDocument/2006/relationships/image" Target="../media/image26.png"/><Relationship Id="rId5" Type="http://schemas.openxmlformats.org/officeDocument/2006/relationships/tags" Target="../tags/tag31.xml"/><Relationship Id="rId4" Type="http://schemas.openxmlformats.org/officeDocument/2006/relationships/image" Target="../media/image25.png"/><Relationship Id="rId3" Type="http://schemas.openxmlformats.org/officeDocument/2006/relationships/tags" Target="../tags/tag30.xml"/><Relationship Id="rId2" Type="http://schemas.openxmlformats.org/officeDocument/2006/relationships/image" Target="../media/image24.png"/><Relationship Id="rId1" Type="http://schemas.openxmlformats.org/officeDocument/2006/relationships/tags" Target="../tags/tag29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2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36.xml"/><Relationship Id="rId6" Type="http://schemas.openxmlformats.org/officeDocument/2006/relationships/image" Target="../media/image26.png"/><Relationship Id="rId5" Type="http://schemas.openxmlformats.org/officeDocument/2006/relationships/tags" Target="../tags/tag35.xml"/><Relationship Id="rId4" Type="http://schemas.openxmlformats.org/officeDocument/2006/relationships/image" Target="../media/image28.png"/><Relationship Id="rId3" Type="http://schemas.openxmlformats.org/officeDocument/2006/relationships/tags" Target="../tags/tag34.xml"/><Relationship Id="rId2" Type="http://schemas.openxmlformats.org/officeDocument/2006/relationships/image" Target="../media/image27.png"/><Relationship Id="rId1" Type="http://schemas.openxmlformats.org/officeDocument/2006/relationships/tags" Target="../tags/tag33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image" Target="../media/image32.png"/><Relationship Id="rId7" Type="http://schemas.openxmlformats.org/officeDocument/2006/relationships/tags" Target="../tags/tag40.xml"/><Relationship Id="rId6" Type="http://schemas.openxmlformats.org/officeDocument/2006/relationships/image" Target="../media/image31.png"/><Relationship Id="rId5" Type="http://schemas.openxmlformats.org/officeDocument/2006/relationships/tags" Target="../tags/tag39.xml"/><Relationship Id="rId4" Type="http://schemas.openxmlformats.org/officeDocument/2006/relationships/image" Target="../media/image30.png"/><Relationship Id="rId3" Type="http://schemas.openxmlformats.org/officeDocument/2006/relationships/tags" Target="../tags/tag38.xml"/><Relationship Id="rId2" Type="http://schemas.openxmlformats.org/officeDocument/2006/relationships/image" Target="../media/image29.png"/><Relationship Id="rId15" Type="http://schemas.openxmlformats.org/officeDocument/2006/relationships/notesSlide" Target="../notesSlides/notesSlide23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43.xml"/><Relationship Id="rId12" Type="http://schemas.openxmlformats.org/officeDocument/2006/relationships/image" Target="../media/image34.png"/><Relationship Id="rId11" Type="http://schemas.openxmlformats.org/officeDocument/2006/relationships/tags" Target="../tags/tag42.xml"/><Relationship Id="rId10" Type="http://schemas.openxmlformats.org/officeDocument/2006/relationships/image" Target="../media/image33.png"/><Relationship Id="rId1" Type="http://schemas.openxmlformats.org/officeDocument/2006/relationships/tags" Target="../tags/tag37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image" Target="../media/image37.png"/><Relationship Id="rId7" Type="http://schemas.openxmlformats.org/officeDocument/2006/relationships/tags" Target="../tags/tag47.xml"/><Relationship Id="rId6" Type="http://schemas.openxmlformats.org/officeDocument/2006/relationships/image" Target="../media/image36.png"/><Relationship Id="rId5" Type="http://schemas.openxmlformats.org/officeDocument/2006/relationships/tags" Target="../tags/tag46.xml"/><Relationship Id="rId4" Type="http://schemas.openxmlformats.org/officeDocument/2006/relationships/image" Target="../media/image35.png"/><Relationship Id="rId3" Type="http://schemas.openxmlformats.org/officeDocument/2006/relationships/tags" Target="../tags/tag45.xml"/><Relationship Id="rId2" Type="http://schemas.openxmlformats.org/officeDocument/2006/relationships/image" Target="../media/image15.png"/><Relationship Id="rId13" Type="http://schemas.openxmlformats.org/officeDocument/2006/relationships/notesSlide" Target="../notesSlides/notesSlide24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49.xml"/><Relationship Id="rId10" Type="http://schemas.openxmlformats.org/officeDocument/2006/relationships/image" Target="../media/image38.png"/><Relationship Id="rId1" Type="http://schemas.openxmlformats.org/officeDocument/2006/relationships/tags" Target="../tags/tag44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54.xml"/><Relationship Id="rId8" Type="http://schemas.openxmlformats.org/officeDocument/2006/relationships/image" Target="../media/image42.png"/><Relationship Id="rId7" Type="http://schemas.openxmlformats.org/officeDocument/2006/relationships/tags" Target="../tags/tag53.xml"/><Relationship Id="rId6" Type="http://schemas.openxmlformats.org/officeDocument/2006/relationships/image" Target="../media/image41.png"/><Relationship Id="rId5" Type="http://schemas.openxmlformats.org/officeDocument/2006/relationships/tags" Target="../tags/tag52.xml"/><Relationship Id="rId4" Type="http://schemas.openxmlformats.org/officeDocument/2006/relationships/image" Target="../media/image40.png"/><Relationship Id="rId3" Type="http://schemas.openxmlformats.org/officeDocument/2006/relationships/tags" Target="../tags/tag51.xml"/><Relationship Id="rId2" Type="http://schemas.openxmlformats.org/officeDocument/2006/relationships/image" Target="../media/image39.png"/><Relationship Id="rId19" Type="http://schemas.openxmlformats.org/officeDocument/2006/relationships/notesSlide" Target="../notesSlides/notesSlide25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58.xml"/><Relationship Id="rId16" Type="http://schemas.openxmlformats.org/officeDocument/2006/relationships/image" Target="../media/image46.png"/><Relationship Id="rId15" Type="http://schemas.openxmlformats.org/officeDocument/2006/relationships/tags" Target="../tags/tag57.xml"/><Relationship Id="rId14" Type="http://schemas.openxmlformats.org/officeDocument/2006/relationships/image" Target="../media/image45.png"/><Relationship Id="rId13" Type="http://schemas.openxmlformats.org/officeDocument/2006/relationships/tags" Target="../tags/tag56.xml"/><Relationship Id="rId12" Type="http://schemas.openxmlformats.org/officeDocument/2006/relationships/image" Target="../media/image44.png"/><Relationship Id="rId11" Type="http://schemas.openxmlformats.org/officeDocument/2006/relationships/tags" Target="../tags/tag55.xml"/><Relationship Id="rId10" Type="http://schemas.openxmlformats.org/officeDocument/2006/relationships/image" Target="../media/image43.png"/><Relationship Id="rId1" Type="http://schemas.openxmlformats.org/officeDocument/2006/relationships/tags" Target="../tags/tag50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image" Target="../media/image50.png"/><Relationship Id="rId7" Type="http://schemas.openxmlformats.org/officeDocument/2006/relationships/tags" Target="../tags/tag62.xml"/><Relationship Id="rId6" Type="http://schemas.openxmlformats.org/officeDocument/2006/relationships/image" Target="../media/image49.png"/><Relationship Id="rId5" Type="http://schemas.openxmlformats.org/officeDocument/2006/relationships/tags" Target="../tags/tag61.xml"/><Relationship Id="rId4" Type="http://schemas.openxmlformats.org/officeDocument/2006/relationships/image" Target="../media/image48.png"/><Relationship Id="rId3" Type="http://schemas.openxmlformats.org/officeDocument/2006/relationships/tags" Target="../tags/tag60.xml"/><Relationship Id="rId2" Type="http://schemas.openxmlformats.org/officeDocument/2006/relationships/image" Target="../media/image47.png"/><Relationship Id="rId15" Type="http://schemas.openxmlformats.org/officeDocument/2006/relationships/notesSlide" Target="../notesSlides/notesSlide26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65.xml"/><Relationship Id="rId12" Type="http://schemas.openxmlformats.org/officeDocument/2006/relationships/image" Target="../media/image52.png"/><Relationship Id="rId11" Type="http://schemas.openxmlformats.org/officeDocument/2006/relationships/tags" Target="../tags/tag64.xml"/><Relationship Id="rId10" Type="http://schemas.openxmlformats.org/officeDocument/2006/relationships/image" Target="../media/image51.png"/><Relationship Id="rId1" Type="http://schemas.openxmlformats.org/officeDocument/2006/relationships/tags" Target="../tags/tag59.xml"/></Relationships>
</file>

<file path=ppt/slides/_rels/slide2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7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8.xml"/><Relationship Id="rId4" Type="http://schemas.openxmlformats.org/officeDocument/2006/relationships/image" Target="../media/image54.png"/><Relationship Id="rId3" Type="http://schemas.openxmlformats.org/officeDocument/2006/relationships/tags" Target="../tags/tag67.xml"/><Relationship Id="rId2" Type="http://schemas.openxmlformats.org/officeDocument/2006/relationships/image" Target="../media/image53.png"/><Relationship Id="rId1" Type="http://schemas.openxmlformats.org/officeDocument/2006/relationships/tags" Target="../tags/tag66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image" Target="../media/image58.png"/><Relationship Id="rId7" Type="http://schemas.openxmlformats.org/officeDocument/2006/relationships/tags" Target="../tags/tag72.xml"/><Relationship Id="rId6" Type="http://schemas.openxmlformats.org/officeDocument/2006/relationships/image" Target="../media/image57.png"/><Relationship Id="rId5" Type="http://schemas.openxmlformats.org/officeDocument/2006/relationships/tags" Target="../tags/tag71.xml"/><Relationship Id="rId4" Type="http://schemas.openxmlformats.org/officeDocument/2006/relationships/image" Target="../media/image56.png"/><Relationship Id="rId3" Type="http://schemas.openxmlformats.org/officeDocument/2006/relationships/tags" Target="../tags/tag70.xml"/><Relationship Id="rId2" Type="http://schemas.openxmlformats.org/officeDocument/2006/relationships/image" Target="../media/image55.png"/><Relationship Id="rId11" Type="http://schemas.openxmlformats.org/officeDocument/2006/relationships/notesSlide" Target="../notesSlides/notesSlide28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image" Target="../media/image60.png"/><Relationship Id="rId7" Type="http://schemas.openxmlformats.org/officeDocument/2006/relationships/tags" Target="../tags/tag77.xml"/><Relationship Id="rId6" Type="http://schemas.openxmlformats.org/officeDocument/2006/relationships/image" Target="../media/image59.png"/><Relationship Id="rId5" Type="http://schemas.openxmlformats.org/officeDocument/2006/relationships/tags" Target="../tags/tag76.xml"/><Relationship Id="rId4" Type="http://schemas.openxmlformats.org/officeDocument/2006/relationships/image" Target="../media/image17.png"/><Relationship Id="rId3" Type="http://schemas.openxmlformats.org/officeDocument/2006/relationships/tags" Target="../tags/tag75.xml"/><Relationship Id="rId22" Type="http://schemas.openxmlformats.org/officeDocument/2006/relationships/notesSlide" Target="../notesSlides/notesSlide29.xml"/><Relationship Id="rId21" Type="http://schemas.openxmlformats.org/officeDocument/2006/relationships/slideLayout" Target="../slideLayouts/slideLayout2.xml"/><Relationship Id="rId20" Type="http://schemas.openxmlformats.org/officeDocument/2006/relationships/tags" Target="../tags/tag84.xml"/><Relationship Id="rId2" Type="http://schemas.openxmlformats.org/officeDocument/2006/relationships/image" Target="../media/image16.png"/><Relationship Id="rId19" Type="http://schemas.openxmlformats.org/officeDocument/2006/relationships/image" Target="../media/image65.png"/><Relationship Id="rId18" Type="http://schemas.openxmlformats.org/officeDocument/2006/relationships/tags" Target="../tags/tag83.xml"/><Relationship Id="rId17" Type="http://schemas.openxmlformats.org/officeDocument/2006/relationships/tags" Target="../tags/tag82.xml"/><Relationship Id="rId16" Type="http://schemas.openxmlformats.org/officeDocument/2006/relationships/image" Target="../media/image64.png"/><Relationship Id="rId15" Type="http://schemas.openxmlformats.org/officeDocument/2006/relationships/tags" Target="../tags/tag81.xml"/><Relationship Id="rId14" Type="http://schemas.openxmlformats.org/officeDocument/2006/relationships/image" Target="../media/image63.png"/><Relationship Id="rId13" Type="http://schemas.openxmlformats.org/officeDocument/2006/relationships/tags" Target="../tags/tag80.xml"/><Relationship Id="rId12" Type="http://schemas.openxmlformats.org/officeDocument/2006/relationships/image" Target="../media/image62.png"/><Relationship Id="rId11" Type="http://schemas.openxmlformats.org/officeDocument/2006/relationships/tags" Target="../tags/tag79.xml"/><Relationship Id="rId10" Type="http://schemas.openxmlformats.org/officeDocument/2006/relationships/image" Target="../media/image61.png"/><Relationship Id="rId1" Type="http://schemas.openxmlformats.org/officeDocument/2006/relationships/tags" Target="../tags/tag74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image" Target="../media/image68.png"/><Relationship Id="rId7" Type="http://schemas.openxmlformats.org/officeDocument/2006/relationships/tags" Target="../tags/tag88.xml"/><Relationship Id="rId6" Type="http://schemas.openxmlformats.org/officeDocument/2006/relationships/image" Target="../media/image67.png"/><Relationship Id="rId5" Type="http://schemas.openxmlformats.org/officeDocument/2006/relationships/tags" Target="../tags/tag87.xml"/><Relationship Id="rId4" Type="http://schemas.openxmlformats.org/officeDocument/2006/relationships/image" Target="../media/image66.png"/><Relationship Id="rId3" Type="http://schemas.openxmlformats.org/officeDocument/2006/relationships/tags" Target="../tags/tag86.xml"/><Relationship Id="rId2" Type="http://schemas.openxmlformats.org/officeDocument/2006/relationships/image" Target="../media/image15.png"/><Relationship Id="rId11" Type="http://schemas.openxmlformats.org/officeDocument/2006/relationships/notesSlide" Target="../notesSlides/notesSlide30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85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94.xml"/><Relationship Id="rId7" Type="http://schemas.openxmlformats.org/officeDocument/2006/relationships/tags" Target="../tags/tag93.xml"/><Relationship Id="rId6" Type="http://schemas.openxmlformats.org/officeDocument/2006/relationships/image" Target="../media/image71.png"/><Relationship Id="rId5" Type="http://schemas.openxmlformats.org/officeDocument/2006/relationships/tags" Target="../tags/tag92.xml"/><Relationship Id="rId4" Type="http://schemas.openxmlformats.org/officeDocument/2006/relationships/image" Target="../media/image70.png"/><Relationship Id="rId3" Type="http://schemas.openxmlformats.org/officeDocument/2006/relationships/tags" Target="../tags/tag91.xml"/><Relationship Id="rId2" Type="http://schemas.openxmlformats.org/officeDocument/2006/relationships/image" Target="../media/image69.png"/><Relationship Id="rId10" Type="http://schemas.openxmlformats.org/officeDocument/2006/relationships/notesSlide" Target="../notesSlides/notesSlide31.xml"/><Relationship Id="rId1" Type="http://schemas.openxmlformats.org/officeDocument/2006/relationships/tags" Target="../tags/tag9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3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96.xml"/><Relationship Id="rId4" Type="http://schemas.openxmlformats.org/officeDocument/2006/relationships/image" Target="../media/image74.png"/><Relationship Id="rId3" Type="http://schemas.openxmlformats.org/officeDocument/2006/relationships/tags" Target="../tags/tag95.xml"/><Relationship Id="rId2" Type="http://schemas.openxmlformats.org/officeDocument/2006/relationships/image" Target="../media/image73.png"/><Relationship Id="rId1" Type="http://schemas.openxmlformats.org/officeDocument/2006/relationships/image" Target="../media/image72.png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4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97.xml"/><Relationship Id="rId2" Type="http://schemas.openxmlformats.org/officeDocument/2006/relationships/image" Target="../media/image76.png"/><Relationship Id="rId1" Type="http://schemas.openxmlformats.org/officeDocument/2006/relationships/image" Target="../media/image75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5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100.xml"/><Relationship Id="rId5" Type="http://schemas.openxmlformats.org/officeDocument/2006/relationships/image" Target="../media/image79.png"/><Relationship Id="rId4" Type="http://schemas.openxmlformats.org/officeDocument/2006/relationships/tags" Target="../tags/tag99.xml"/><Relationship Id="rId3" Type="http://schemas.openxmlformats.org/officeDocument/2006/relationships/image" Target="../media/image78.png"/><Relationship Id="rId2" Type="http://schemas.openxmlformats.org/officeDocument/2006/relationships/tags" Target="../tags/tag98.xml"/><Relationship Id="rId1" Type="http://schemas.openxmlformats.org/officeDocument/2006/relationships/image" Target="../media/image77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tags" Target="../tags/tag105.xml"/><Relationship Id="rId8" Type="http://schemas.openxmlformats.org/officeDocument/2006/relationships/image" Target="../media/image82.png"/><Relationship Id="rId7" Type="http://schemas.openxmlformats.org/officeDocument/2006/relationships/tags" Target="../tags/tag104.xml"/><Relationship Id="rId6" Type="http://schemas.openxmlformats.org/officeDocument/2006/relationships/image" Target="../media/image15.png"/><Relationship Id="rId5" Type="http://schemas.openxmlformats.org/officeDocument/2006/relationships/tags" Target="../tags/tag103.xml"/><Relationship Id="rId4" Type="http://schemas.openxmlformats.org/officeDocument/2006/relationships/image" Target="../media/image81.png"/><Relationship Id="rId3" Type="http://schemas.openxmlformats.org/officeDocument/2006/relationships/tags" Target="../tags/tag102.xml"/><Relationship Id="rId23" Type="http://schemas.openxmlformats.org/officeDocument/2006/relationships/notesSlide" Target="../notesSlides/notesSlide37.xml"/><Relationship Id="rId22" Type="http://schemas.openxmlformats.org/officeDocument/2006/relationships/slideLayout" Target="../slideLayouts/slideLayout2.xml"/><Relationship Id="rId21" Type="http://schemas.openxmlformats.org/officeDocument/2006/relationships/tags" Target="../tags/tag111.xml"/><Relationship Id="rId20" Type="http://schemas.openxmlformats.org/officeDocument/2006/relationships/image" Target="../media/image88.png"/><Relationship Id="rId2" Type="http://schemas.openxmlformats.org/officeDocument/2006/relationships/image" Target="../media/image80.png"/><Relationship Id="rId19" Type="http://schemas.openxmlformats.org/officeDocument/2006/relationships/tags" Target="../tags/tag110.xml"/><Relationship Id="rId18" Type="http://schemas.openxmlformats.org/officeDocument/2006/relationships/image" Target="../media/image87.png"/><Relationship Id="rId17" Type="http://schemas.openxmlformats.org/officeDocument/2006/relationships/tags" Target="../tags/tag109.xml"/><Relationship Id="rId16" Type="http://schemas.openxmlformats.org/officeDocument/2006/relationships/image" Target="../media/image86.png"/><Relationship Id="rId15" Type="http://schemas.openxmlformats.org/officeDocument/2006/relationships/tags" Target="../tags/tag108.xml"/><Relationship Id="rId14" Type="http://schemas.openxmlformats.org/officeDocument/2006/relationships/image" Target="../media/image85.png"/><Relationship Id="rId13" Type="http://schemas.openxmlformats.org/officeDocument/2006/relationships/tags" Target="../tags/tag107.xml"/><Relationship Id="rId12" Type="http://schemas.openxmlformats.org/officeDocument/2006/relationships/image" Target="../media/image84.png"/><Relationship Id="rId11" Type="http://schemas.openxmlformats.org/officeDocument/2006/relationships/tags" Target="../tags/tag106.xml"/><Relationship Id="rId10" Type="http://schemas.openxmlformats.org/officeDocument/2006/relationships/image" Target="../media/image83.png"/><Relationship Id="rId1" Type="http://schemas.openxmlformats.org/officeDocument/2006/relationships/tags" Target="../tags/tag101.xml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image" Target="../media/image92.png"/><Relationship Id="rId8" Type="http://schemas.openxmlformats.org/officeDocument/2006/relationships/customXml" Target="../ink/ink2.xml"/><Relationship Id="rId7" Type="http://schemas.openxmlformats.org/officeDocument/2006/relationships/image" Target="../media/image91.png"/><Relationship Id="rId6" Type="http://schemas.openxmlformats.org/officeDocument/2006/relationships/customXml" Target="../ink/ink1.xml"/><Relationship Id="rId5" Type="http://schemas.openxmlformats.org/officeDocument/2006/relationships/image" Target="../media/image90.png"/><Relationship Id="rId4" Type="http://schemas.openxmlformats.org/officeDocument/2006/relationships/tags" Target="../tags/tag113.xml"/><Relationship Id="rId3" Type="http://schemas.openxmlformats.org/officeDocument/2006/relationships/image" Target="../media/image84.png"/><Relationship Id="rId2" Type="http://schemas.openxmlformats.org/officeDocument/2006/relationships/tags" Target="../tags/tag112.xml"/><Relationship Id="rId14" Type="http://schemas.openxmlformats.org/officeDocument/2006/relationships/notesSlide" Target="../notesSlides/notesSlide38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115.xml"/><Relationship Id="rId11" Type="http://schemas.openxmlformats.org/officeDocument/2006/relationships/image" Target="../media/image93.png"/><Relationship Id="rId10" Type="http://schemas.openxmlformats.org/officeDocument/2006/relationships/tags" Target="../tags/tag114.xml"/><Relationship Id="rId1" Type="http://schemas.openxmlformats.org/officeDocument/2006/relationships/image" Target="../media/image89.png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tags" Target="../tags/tag120.xml"/><Relationship Id="rId8" Type="http://schemas.openxmlformats.org/officeDocument/2006/relationships/image" Target="../media/image96.png"/><Relationship Id="rId7" Type="http://schemas.openxmlformats.org/officeDocument/2006/relationships/tags" Target="../tags/tag119.xml"/><Relationship Id="rId6" Type="http://schemas.openxmlformats.org/officeDocument/2006/relationships/image" Target="../media/image95.png"/><Relationship Id="rId5" Type="http://schemas.openxmlformats.org/officeDocument/2006/relationships/tags" Target="../tags/tag118.xml"/><Relationship Id="rId4" Type="http://schemas.openxmlformats.org/officeDocument/2006/relationships/image" Target="../media/image94.png"/><Relationship Id="rId3" Type="http://schemas.openxmlformats.org/officeDocument/2006/relationships/tags" Target="../tags/tag117.xml"/><Relationship Id="rId2" Type="http://schemas.openxmlformats.org/officeDocument/2006/relationships/image" Target="../media/image88.png"/><Relationship Id="rId13" Type="http://schemas.openxmlformats.org/officeDocument/2006/relationships/notesSlide" Target="../notesSlides/notesSlide39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121.xml"/><Relationship Id="rId10" Type="http://schemas.openxmlformats.org/officeDocument/2006/relationships/image" Target="../media/image97.png"/><Relationship Id="rId1" Type="http://schemas.openxmlformats.org/officeDocument/2006/relationships/tags" Target="../tags/tag116.xml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0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3.xml"/><Relationship Id="rId2" Type="http://schemas.openxmlformats.org/officeDocument/2006/relationships/image" Target="../media/image98.png"/><Relationship Id="rId1" Type="http://schemas.openxmlformats.org/officeDocument/2006/relationships/tags" Target="../tags/tag122.xml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1.png"/><Relationship Id="rId8" Type="http://schemas.openxmlformats.org/officeDocument/2006/relationships/tags" Target="../tags/tag127.xml"/><Relationship Id="rId7" Type="http://schemas.openxmlformats.org/officeDocument/2006/relationships/tags" Target="../tags/tag126.xml"/><Relationship Id="rId6" Type="http://schemas.openxmlformats.org/officeDocument/2006/relationships/image" Target="../media/image84.png"/><Relationship Id="rId5" Type="http://schemas.openxmlformats.org/officeDocument/2006/relationships/tags" Target="../tags/tag125.xml"/><Relationship Id="rId4" Type="http://schemas.openxmlformats.org/officeDocument/2006/relationships/image" Target="../media/image100.png"/><Relationship Id="rId3" Type="http://schemas.openxmlformats.org/officeDocument/2006/relationships/customXml" Target="../ink/ink3.xml"/><Relationship Id="rId2" Type="http://schemas.openxmlformats.org/officeDocument/2006/relationships/image" Target="../media/image99.png"/><Relationship Id="rId18" Type="http://schemas.openxmlformats.org/officeDocument/2006/relationships/notesSlide" Target="../notesSlides/notesSlide41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131.xml"/><Relationship Id="rId15" Type="http://schemas.openxmlformats.org/officeDocument/2006/relationships/image" Target="../media/image104.png"/><Relationship Id="rId14" Type="http://schemas.openxmlformats.org/officeDocument/2006/relationships/tags" Target="../tags/tag130.xml"/><Relationship Id="rId13" Type="http://schemas.openxmlformats.org/officeDocument/2006/relationships/image" Target="../media/image103.png"/><Relationship Id="rId12" Type="http://schemas.openxmlformats.org/officeDocument/2006/relationships/tags" Target="../tags/tag129.xml"/><Relationship Id="rId11" Type="http://schemas.openxmlformats.org/officeDocument/2006/relationships/image" Target="../media/image102.png"/><Relationship Id="rId10" Type="http://schemas.openxmlformats.org/officeDocument/2006/relationships/tags" Target="../tags/tag128.xml"/><Relationship Id="rId1" Type="http://schemas.openxmlformats.org/officeDocument/2006/relationships/tags" Target="../tags/tag124.xml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tags" Target="../tags/tag136.xml"/><Relationship Id="rId8" Type="http://schemas.openxmlformats.org/officeDocument/2006/relationships/image" Target="../media/image108.png"/><Relationship Id="rId7" Type="http://schemas.openxmlformats.org/officeDocument/2006/relationships/tags" Target="../tags/tag135.xml"/><Relationship Id="rId6" Type="http://schemas.openxmlformats.org/officeDocument/2006/relationships/image" Target="../media/image107.png"/><Relationship Id="rId5" Type="http://schemas.openxmlformats.org/officeDocument/2006/relationships/tags" Target="../tags/tag134.xml"/><Relationship Id="rId4" Type="http://schemas.openxmlformats.org/officeDocument/2006/relationships/image" Target="../media/image106.png"/><Relationship Id="rId3" Type="http://schemas.openxmlformats.org/officeDocument/2006/relationships/tags" Target="../tags/tag133.xml"/><Relationship Id="rId2" Type="http://schemas.openxmlformats.org/officeDocument/2006/relationships/image" Target="../media/image105.png"/><Relationship Id="rId11" Type="http://schemas.openxmlformats.org/officeDocument/2006/relationships/notesSlide" Target="../notesSlides/notesSlide42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132.xml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tags" Target="../tags/tag141.xml"/><Relationship Id="rId8" Type="http://schemas.openxmlformats.org/officeDocument/2006/relationships/image" Target="../media/image112.png"/><Relationship Id="rId7" Type="http://schemas.openxmlformats.org/officeDocument/2006/relationships/tags" Target="../tags/tag140.xml"/><Relationship Id="rId6" Type="http://schemas.openxmlformats.org/officeDocument/2006/relationships/image" Target="../media/image111.png"/><Relationship Id="rId5" Type="http://schemas.openxmlformats.org/officeDocument/2006/relationships/tags" Target="../tags/tag139.xml"/><Relationship Id="rId4" Type="http://schemas.openxmlformats.org/officeDocument/2006/relationships/image" Target="../media/image110.png"/><Relationship Id="rId3" Type="http://schemas.openxmlformats.org/officeDocument/2006/relationships/tags" Target="../tags/tag138.xml"/><Relationship Id="rId2" Type="http://schemas.openxmlformats.org/officeDocument/2006/relationships/image" Target="../media/image109.png"/><Relationship Id="rId13" Type="http://schemas.openxmlformats.org/officeDocument/2006/relationships/notesSlide" Target="../notesSlides/notesSlide43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142.xml"/><Relationship Id="rId10" Type="http://schemas.openxmlformats.org/officeDocument/2006/relationships/image" Target="../media/image113.png"/><Relationship Id="rId1" Type="http://schemas.openxmlformats.org/officeDocument/2006/relationships/tags" Target="../tags/tag137.xml"/></Relationships>
</file>

<file path=ppt/slides/_rels/slide4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45.xml"/><Relationship Id="rId4" Type="http://schemas.openxmlformats.org/officeDocument/2006/relationships/image" Target="../media/image112.png"/><Relationship Id="rId3" Type="http://schemas.openxmlformats.org/officeDocument/2006/relationships/tags" Target="../tags/tag144.xml"/><Relationship Id="rId2" Type="http://schemas.openxmlformats.org/officeDocument/2006/relationships/image" Target="../media/image114.png"/><Relationship Id="rId1" Type="http://schemas.openxmlformats.org/officeDocument/2006/relationships/tags" Target="../tags/tag143.xml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tags" Target="../tags/tag150.xml"/><Relationship Id="rId8" Type="http://schemas.openxmlformats.org/officeDocument/2006/relationships/image" Target="../media/image117.png"/><Relationship Id="rId7" Type="http://schemas.openxmlformats.org/officeDocument/2006/relationships/tags" Target="../tags/tag149.xml"/><Relationship Id="rId6" Type="http://schemas.openxmlformats.org/officeDocument/2006/relationships/image" Target="../media/image116.png"/><Relationship Id="rId5" Type="http://schemas.openxmlformats.org/officeDocument/2006/relationships/tags" Target="../tags/tag148.xml"/><Relationship Id="rId4" Type="http://schemas.openxmlformats.org/officeDocument/2006/relationships/image" Target="../media/image38.png"/><Relationship Id="rId3" Type="http://schemas.openxmlformats.org/officeDocument/2006/relationships/tags" Target="../tags/tag147.xml"/><Relationship Id="rId2" Type="http://schemas.openxmlformats.org/officeDocument/2006/relationships/image" Target="../media/image115.png"/><Relationship Id="rId17" Type="http://schemas.openxmlformats.org/officeDocument/2006/relationships/notesSlide" Target="../notesSlides/notesSlide45.xml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153.xml"/><Relationship Id="rId14" Type="http://schemas.openxmlformats.org/officeDocument/2006/relationships/image" Target="../media/image120.png"/><Relationship Id="rId13" Type="http://schemas.openxmlformats.org/officeDocument/2006/relationships/tags" Target="../tags/tag152.xml"/><Relationship Id="rId12" Type="http://schemas.openxmlformats.org/officeDocument/2006/relationships/image" Target="../media/image119.png"/><Relationship Id="rId11" Type="http://schemas.openxmlformats.org/officeDocument/2006/relationships/tags" Target="../tags/tag151.xml"/><Relationship Id="rId10" Type="http://schemas.openxmlformats.org/officeDocument/2006/relationships/image" Target="../media/image118.png"/><Relationship Id="rId1" Type="http://schemas.openxmlformats.org/officeDocument/2006/relationships/tags" Target="../tags/tag146.xml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tags" Target="../tags/tag158.xml"/><Relationship Id="rId8" Type="http://schemas.openxmlformats.org/officeDocument/2006/relationships/image" Target="../media/image117.png"/><Relationship Id="rId7" Type="http://schemas.openxmlformats.org/officeDocument/2006/relationships/tags" Target="../tags/tag157.xml"/><Relationship Id="rId6" Type="http://schemas.openxmlformats.org/officeDocument/2006/relationships/image" Target="../media/image123.png"/><Relationship Id="rId5" Type="http://schemas.openxmlformats.org/officeDocument/2006/relationships/tags" Target="../tags/tag156.xml"/><Relationship Id="rId4" Type="http://schemas.openxmlformats.org/officeDocument/2006/relationships/image" Target="../media/image122.png"/><Relationship Id="rId3" Type="http://schemas.openxmlformats.org/officeDocument/2006/relationships/tags" Target="../tags/tag155.xml"/><Relationship Id="rId2" Type="http://schemas.openxmlformats.org/officeDocument/2006/relationships/image" Target="../media/image121.png"/><Relationship Id="rId15" Type="http://schemas.openxmlformats.org/officeDocument/2006/relationships/notesSlide" Target="../notesSlides/notesSlide46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160.xml"/><Relationship Id="rId12" Type="http://schemas.openxmlformats.org/officeDocument/2006/relationships/image" Target="../media/image125.png"/><Relationship Id="rId11" Type="http://schemas.openxmlformats.org/officeDocument/2006/relationships/tags" Target="../tags/tag159.xml"/><Relationship Id="rId10" Type="http://schemas.openxmlformats.org/officeDocument/2006/relationships/image" Target="../media/image124.png"/><Relationship Id="rId1" Type="http://schemas.openxmlformats.org/officeDocument/2006/relationships/tags" Target="../tags/tag154.xml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164.xml"/><Relationship Id="rId7" Type="http://schemas.openxmlformats.org/officeDocument/2006/relationships/image" Target="../media/image128.png"/><Relationship Id="rId6" Type="http://schemas.openxmlformats.org/officeDocument/2006/relationships/tags" Target="../tags/tag163.xml"/><Relationship Id="rId5" Type="http://schemas.openxmlformats.org/officeDocument/2006/relationships/image" Target="../media/image127.png"/><Relationship Id="rId4" Type="http://schemas.openxmlformats.org/officeDocument/2006/relationships/image" Target="../media/image126.png"/><Relationship Id="rId3" Type="http://schemas.openxmlformats.org/officeDocument/2006/relationships/tags" Target="../tags/tag162.xml"/><Relationship Id="rId2" Type="http://schemas.openxmlformats.org/officeDocument/2006/relationships/image" Target="../media/image121.png"/><Relationship Id="rId10" Type="http://schemas.openxmlformats.org/officeDocument/2006/relationships/notesSlide" Target="../notesSlides/notesSlide47.xml"/><Relationship Id="rId1" Type="http://schemas.openxmlformats.org/officeDocument/2006/relationships/tags" Target="../tags/tag161.xml"/></Relationships>
</file>

<file path=ppt/slides/_rels/slide4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8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67.xml"/><Relationship Id="rId4" Type="http://schemas.openxmlformats.org/officeDocument/2006/relationships/image" Target="../media/image130.png"/><Relationship Id="rId3" Type="http://schemas.openxmlformats.org/officeDocument/2006/relationships/tags" Target="../tags/tag166.xml"/><Relationship Id="rId2" Type="http://schemas.openxmlformats.org/officeDocument/2006/relationships/image" Target="../media/image129.png"/><Relationship Id="rId1" Type="http://schemas.openxmlformats.org/officeDocument/2006/relationships/tags" Target="../tags/tag165.xml"/></Relationships>
</file>

<file path=ppt/slides/_rels/slide4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70.xml"/><Relationship Id="rId4" Type="http://schemas.openxmlformats.org/officeDocument/2006/relationships/image" Target="../media/image132.png"/><Relationship Id="rId3" Type="http://schemas.openxmlformats.org/officeDocument/2006/relationships/tags" Target="../tags/tag169.xml"/><Relationship Id="rId2" Type="http://schemas.openxmlformats.org/officeDocument/2006/relationships/image" Target="../media/image131.png"/><Relationship Id="rId1" Type="http://schemas.openxmlformats.org/officeDocument/2006/relationships/tags" Target="../tags/tag168.xml"/></Relationships>
</file>

<file path=ppt/slides/_rels/slide50.xml.rels><?xml version="1.0" encoding="UTF-8" standalone="yes"?>
<Relationships xmlns="http://schemas.openxmlformats.org/package/2006/relationships"><Relationship Id="rId9" Type="http://schemas.openxmlformats.org/officeDocument/2006/relationships/tags" Target="../tags/tag175.xml"/><Relationship Id="rId8" Type="http://schemas.openxmlformats.org/officeDocument/2006/relationships/image" Target="../media/image136.png"/><Relationship Id="rId7" Type="http://schemas.openxmlformats.org/officeDocument/2006/relationships/tags" Target="../tags/tag174.xml"/><Relationship Id="rId6" Type="http://schemas.openxmlformats.org/officeDocument/2006/relationships/image" Target="../media/image135.png"/><Relationship Id="rId5" Type="http://schemas.openxmlformats.org/officeDocument/2006/relationships/tags" Target="../tags/tag173.xml"/><Relationship Id="rId4" Type="http://schemas.openxmlformats.org/officeDocument/2006/relationships/image" Target="../media/image134.png"/><Relationship Id="rId3" Type="http://schemas.openxmlformats.org/officeDocument/2006/relationships/tags" Target="../tags/tag172.xml"/><Relationship Id="rId2" Type="http://schemas.openxmlformats.org/officeDocument/2006/relationships/image" Target="../media/image133.png"/><Relationship Id="rId11" Type="http://schemas.openxmlformats.org/officeDocument/2006/relationships/notesSlide" Target="../notesSlides/notesSlide50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17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6.xml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180.xml"/><Relationship Id="rId7" Type="http://schemas.openxmlformats.org/officeDocument/2006/relationships/image" Target="../media/image140.png"/><Relationship Id="rId6" Type="http://schemas.openxmlformats.org/officeDocument/2006/relationships/tags" Target="../tags/tag179.xml"/><Relationship Id="rId5" Type="http://schemas.openxmlformats.org/officeDocument/2006/relationships/image" Target="../media/image139.png"/><Relationship Id="rId4" Type="http://schemas.openxmlformats.org/officeDocument/2006/relationships/tags" Target="../tags/tag178.xml"/><Relationship Id="rId3" Type="http://schemas.openxmlformats.org/officeDocument/2006/relationships/image" Target="../media/image138.png"/><Relationship Id="rId2" Type="http://schemas.openxmlformats.org/officeDocument/2006/relationships/tags" Target="../tags/tag177.xml"/><Relationship Id="rId10" Type="http://schemas.openxmlformats.org/officeDocument/2006/relationships/notesSlide" Target="../notesSlides/notesSlide52.xml"/><Relationship Id="rId1" Type="http://schemas.openxmlformats.org/officeDocument/2006/relationships/image" Target="../media/image137.GIF"/></Relationships>
</file>

<file path=ppt/slides/_rels/slide5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3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184.xml"/><Relationship Id="rId6" Type="http://schemas.openxmlformats.org/officeDocument/2006/relationships/image" Target="../media/image143.png"/><Relationship Id="rId5" Type="http://schemas.openxmlformats.org/officeDocument/2006/relationships/tags" Target="../tags/tag183.xml"/><Relationship Id="rId4" Type="http://schemas.openxmlformats.org/officeDocument/2006/relationships/image" Target="../media/image142.png"/><Relationship Id="rId3" Type="http://schemas.openxmlformats.org/officeDocument/2006/relationships/tags" Target="../tags/tag182.xml"/><Relationship Id="rId2" Type="http://schemas.openxmlformats.org/officeDocument/2006/relationships/image" Target="../media/image141.png"/><Relationship Id="rId1" Type="http://schemas.openxmlformats.org/officeDocument/2006/relationships/tags" Target="../tags/tag181.xml"/></Relationships>
</file>

<file path=ppt/slides/_rels/slide54.xml.rels><?xml version="1.0" encoding="UTF-8" standalone="yes"?>
<Relationships xmlns="http://schemas.openxmlformats.org/package/2006/relationships"><Relationship Id="rId9" Type="http://schemas.openxmlformats.org/officeDocument/2006/relationships/tags" Target="../tags/tag189.xml"/><Relationship Id="rId8" Type="http://schemas.openxmlformats.org/officeDocument/2006/relationships/image" Target="../media/image147.png"/><Relationship Id="rId7" Type="http://schemas.openxmlformats.org/officeDocument/2006/relationships/tags" Target="../tags/tag188.xml"/><Relationship Id="rId6" Type="http://schemas.openxmlformats.org/officeDocument/2006/relationships/image" Target="../media/image146.png"/><Relationship Id="rId5" Type="http://schemas.openxmlformats.org/officeDocument/2006/relationships/tags" Target="../tags/tag187.xml"/><Relationship Id="rId4" Type="http://schemas.openxmlformats.org/officeDocument/2006/relationships/image" Target="../media/image145.png"/><Relationship Id="rId3" Type="http://schemas.openxmlformats.org/officeDocument/2006/relationships/tags" Target="../tags/tag186.xml"/><Relationship Id="rId2" Type="http://schemas.openxmlformats.org/officeDocument/2006/relationships/image" Target="../media/image144.png"/><Relationship Id="rId11" Type="http://schemas.openxmlformats.org/officeDocument/2006/relationships/notesSlide" Target="../notesSlides/notesSlide54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185.xml"/></Relationships>
</file>

<file path=ppt/slides/_rels/slide55.xml.rels><?xml version="1.0" encoding="UTF-8" standalone="yes"?>
<Relationships xmlns="http://schemas.openxmlformats.org/package/2006/relationships"><Relationship Id="rId9" Type="http://schemas.openxmlformats.org/officeDocument/2006/relationships/tags" Target="../tags/tag194.xml"/><Relationship Id="rId8" Type="http://schemas.openxmlformats.org/officeDocument/2006/relationships/image" Target="../media/image151.png"/><Relationship Id="rId7" Type="http://schemas.openxmlformats.org/officeDocument/2006/relationships/tags" Target="../tags/tag193.xml"/><Relationship Id="rId6" Type="http://schemas.openxmlformats.org/officeDocument/2006/relationships/image" Target="../media/image150.png"/><Relationship Id="rId5" Type="http://schemas.openxmlformats.org/officeDocument/2006/relationships/tags" Target="../tags/tag192.xml"/><Relationship Id="rId4" Type="http://schemas.openxmlformats.org/officeDocument/2006/relationships/image" Target="../media/image149.png"/><Relationship Id="rId3" Type="http://schemas.openxmlformats.org/officeDocument/2006/relationships/tags" Target="../tags/tag191.xml"/><Relationship Id="rId2" Type="http://schemas.openxmlformats.org/officeDocument/2006/relationships/image" Target="../media/image148.png"/><Relationship Id="rId15" Type="http://schemas.openxmlformats.org/officeDocument/2006/relationships/notesSlide" Target="../notesSlides/notesSlide55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196.xml"/><Relationship Id="rId12" Type="http://schemas.openxmlformats.org/officeDocument/2006/relationships/image" Target="../media/image153.png"/><Relationship Id="rId11" Type="http://schemas.openxmlformats.org/officeDocument/2006/relationships/tags" Target="../tags/tag195.xml"/><Relationship Id="rId10" Type="http://schemas.openxmlformats.org/officeDocument/2006/relationships/image" Target="../media/image152.png"/><Relationship Id="rId1" Type="http://schemas.openxmlformats.org/officeDocument/2006/relationships/tags" Target="../tags/tag190.xml"/></Relationships>
</file>

<file path=ppt/slides/_rels/slide5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8.png"/><Relationship Id="rId8" Type="http://schemas.openxmlformats.org/officeDocument/2006/relationships/tags" Target="../tags/tag200.xml"/><Relationship Id="rId7" Type="http://schemas.openxmlformats.org/officeDocument/2006/relationships/image" Target="../media/image157.png"/><Relationship Id="rId6" Type="http://schemas.openxmlformats.org/officeDocument/2006/relationships/tags" Target="../tags/tag199.xml"/><Relationship Id="rId5" Type="http://schemas.openxmlformats.org/officeDocument/2006/relationships/image" Target="../media/image156.png"/><Relationship Id="rId4" Type="http://schemas.openxmlformats.org/officeDocument/2006/relationships/tags" Target="../tags/tag198.xml"/><Relationship Id="rId3" Type="http://schemas.openxmlformats.org/officeDocument/2006/relationships/image" Target="../media/image155.png"/><Relationship Id="rId2" Type="http://schemas.openxmlformats.org/officeDocument/2006/relationships/image" Target="../media/image154.png"/><Relationship Id="rId14" Type="http://schemas.openxmlformats.org/officeDocument/2006/relationships/notesSlide" Target="../notesSlides/notesSlide56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202.xml"/><Relationship Id="rId11" Type="http://schemas.openxmlformats.org/officeDocument/2006/relationships/image" Target="../media/image159.png"/><Relationship Id="rId10" Type="http://schemas.openxmlformats.org/officeDocument/2006/relationships/tags" Target="../tags/tag201.xml"/><Relationship Id="rId1" Type="http://schemas.openxmlformats.org/officeDocument/2006/relationships/tags" Target="../tags/tag197.xml"/></Relationships>
</file>

<file path=ppt/slides/_rels/slide5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7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04.xml"/><Relationship Id="rId2" Type="http://schemas.openxmlformats.org/officeDocument/2006/relationships/image" Target="../media/image160.png"/><Relationship Id="rId1" Type="http://schemas.openxmlformats.org/officeDocument/2006/relationships/tags" Target="../tags/tag20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899592" y="764704"/>
            <a:ext cx="7344816" cy="2016224"/>
          </a:xfrm>
        </p:spPr>
        <p:txBody>
          <a:bodyPr anchor="ctr"/>
          <a:lstStyle/>
          <a:p>
            <a:pPr algn="ctr"/>
            <a:r>
              <a:rPr lang="en-US" altLang="zh-HK" sz="3200" b="1" cap="none" dirty="0">
                <a:latin typeface="Times New Roman" panose="02020503050405090304" pitchFamily="18" charset="0"/>
                <a:cs typeface="Times New Roman" panose="02020503050405090304" pitchFamily="18" charset="0"/>
              </a:rPr>
              <a:t>Mathematical Foundations </a:t>
            </a:r>
            <a:r>
              <a:rPr lang="en-US" altLang="zh-CN" sz="3200" b="1" cap="none" dirty="0">
                <a:latin typeface="Times New Roman" panose="02020503050405090304" pitchFamily="18" charset="0"/>
                <a:cs typeface="Times New Roman" panose="02020503050405090304" pitchFamily="18" charset="0"/>
              </a:rPr>
              <a:t>o</a:t>
            </a:r>
            <a:r>
              <a:rPr lang="en-US" altLang="zh-HK" sz="3200" b="1" cap="none" dirty="0">
                <a:latin typeface="Times New Roman" panose="02020503050405090304" pitchFamily="18" charset="0"/>
                <a:cs typeface="Times New Roman" panose="02020503050405090304" pitchFamily="18" charset="0"/>
              </a:rPr>
              <a:t>f Control Engineering</a:t>
            </a:r>
            <a:br>
              <a:rPr lang="en-US" altLang="zh-HK" sz="3200" b="1" cap="none" dirty="0">
                <a:latin typeface="Times New Roman" panose="02020503050405090304" pitchFamily="18" charset="0"/>
                <a:cs typeface="Times New Roman" panose="02020503050405090304" pitchFamily="18" charset="0"/>
              </a:rPr>
            </a:br>
            <a:r>
              <a:rPr lang="zh-CN" altLang="en-US" sz="3200" b="1" cap="none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503050405090304" pitchFamily="18" charset="0"/>
              </a:rPr>
              <a:t>控制工程数学基础</a:t>
            </a:r>
            <a:endParaRPr lang="zh-HK" altLang="en-US" sz="3200" b="1" cap="none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50305040509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971600" y="2996952"/>
            <a:ext cx="7200800" cy="2952328"/>
          </a:xfrm>
        </p:spPr>
        <p:txBody>
          <a:bodyPr>
            <a:normAutofit/>
          </a:bodyPr>
          <a:lstStyle/>
          <a:p>
            <a:pPr algn="ctr"/>
            <a:r>
              <a:rPr lang="en-US" altLang="zh-HK" dirty="0">
                <a:latin typeface="Times New Roman" panose="02020503050405090304" pitchFamily="18" charset="0"/>
                <a:cs typeface="Times New Roman" panose="02020503050405090304" pitchFamily="18" charset="0"/>
              </a:rPr>
              <a:t>Dr.</a:t>
            </a:r>
            <a:r>
              <a:rPr lang="en-US" altLang="zh-HK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Bohao ZHU (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朱博浩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endParaRPr lang="en-US" altLang="zh-HK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/>
            <a:r>
              <a:rPr lang="en-US" altLang="zh-HK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School of Automation and Intelligent Manufacturing</a:t>
            </a:r>
            <a:endParaRPr lang="en-US" altLang="zh-HK" sz="2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/>
            <a:r>
              <a:rPr lang="en-US" altLang="zh-HK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Southern University of Science and Technology</a:t>
            </a:r>
            <a:endParaRPr lang="en-US" altLang="zh-HK" sz="2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/>
            <a:r>
              <a:rPr lang="en-US" altLang="zh-HK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Lecture 1</a:t>
            </a:r>
            <a:endParaRPr lang="en-US" altLang="zh-HK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/>
            <a:endParaRPr lang="en-US" altLang="zh-HK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/>
            <a:r>
              <a:rPr lang="en-US" altLang="zh-HK" sz="2200" i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Coutesy of Dr.</a:t>
            </a:r>
            <a:r>
              <a:rPr lang="en-US" altLang="zh-HK" sz="2200" b="1" i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 </a:t>
            </a:r>
            <a:r>
              <a:rPr lang="en-US" sz="2200" i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Xiang XU</a:t>
            </a:r>
            <a:endParaRPr lang="en-US" sz="2200" b="1" i="1" dirty="0">
              <a:latin typeface="Times New Roman Bold Italic" panose="02020503050405090304" charset="0"/>
              <a:cs typeface="Times New Roman Bold Italic" panose="0202050305040509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879"/>
    </mc:Choice>
    <mc:Fallback>
      <p:transition spd="slow" advTm="1087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"/>
          <p:cNvSpPr txBox="1">
            <a:spLocks noChangeArrowheads="1"/>
          </p:cNvSpPr>
          <p:nvPr/>
        </p:nvSpPr>
        <p:spPr>
          <a:xfrm>
            <a:off x="381000" y="1600200"/>
            <a:ext cx="7863408" cy="11807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endParaRPr lang="en-US" altLang="en-US" dirty="0"/>
          </a:p>
        </p:txBody>
      </p:sp>
      <p:sp>
        <p:nvSpPr>
          <p:cNvPr id="20" name="標題 1"/>
          <p:cNvSpPr txBox="1"/>
          <p:nvPr/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Outline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pSp>
        <p:nvGrpSpPr>
          <p:cNvPr id="2" name="Group 41"/>
          <p:cNvGrpSpPr/>
          <p:nvPr/>
        </p:nvGrpSpPr>
        <p:grpSpPr bwMode="auto">
          <a:xfrm>
            <a:off x="1758842" y="1518233"/>
            <a:ext cx="5256584" cy="848385"/>
            <a:chOff x="1296" y="1824"/>
            <a:chExt cx="2976" cy="432"/>
          </a:xfrm>
        </p:grpSpPr>
        <p:sp>
          <p:nvSpPr>
            <p:cNvPr id="3" name="AutoShape 4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45AB7D"/>
              </a:solidFill>
              <a:round/>
            </a:ln>
            <a:effectLst>
              <a:outerShdw dist="99190" dir="2388334" algn="ctr" rotWithShape="0">
                <a:srgbClr val="DDDDDD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90204" pitchFamily="34" charset="0"/>
              </a:endParaRPr>
            </a:p>
          </p:txBody>
        </p:sp>
        <p:sp>
          <p:nvSpPr>
            <p:cNvPr id="4" name="AutoShape 4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45AB7D"/>
            </a:solidFill>
            <a:ln w="25400" algn="ctr">
              <a:solidFill>
                <a:srgbClr val="FFFFFF"/>
              </a:solidFill>
              <a:miter lim="800000"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90204" pitchFamily="34" charset="0"/>
              </a:endParaRPr>
            </a:p>
          </p:txBody>
        </p:sp>
        <p:sp>
          <p:nvSpPr>
            <p:cNvPr id="5" name="Text Box 44"/>
            <p:cNvSpPr txBox="1">
              <a:spLocks noChangeArrowheads="1"/>
            </p:cNvSpPr>
            <p:nvPr/>
          </p:nvSpPr>
          <p:spPr bwMode="gray">
            <a:xfrm>
              <a:off x="1851" y="1925"/>
              <a:ext cx="2160" cy="235"/>
            </a:xfrm>
            <a:prstGeom prst="rect">
              <a:avLst/>
            </a:prstGeom>
            <a:noFill/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17347D"/>
                  </a:solidFill>
                  <a:effectLst/>
                  <a:uLnTx/>
                  <a:uFillTx/>
                  <a:latin typeface="Times New Roman" panose="02020503050405090304" pitchFamily="18" charset="0"/>
                  <a:cs typeface="Times New Roman" panose="02020503050405090304" pitchFamily="18" charset="0"/>
                </a:rPr>
                <a:t>I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17347D"/>
                  </a:solidFill>
                  <a:effectLst/>
                  <a:uLnTx/>
                  <a:uFillTx/>
                  <a:latin typeface="Times New Roman" panose="02020503050405090304" pitchFamily="18" charset="0"/>
                  <a:cs typeface="Times New Roman" panose="02020503050405090304" pitchFamily="18" charset="0"/>
                </a:rPr>
                <a:t>ntroduction of SDM234</a:t>
              </a:r>
              <a:endPara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6" name="Text Box 45"/>
            <p:cNvSpPr txBox="1">
              <a:spLocks noChangeArrowheads="1"/>
            </p:cNvSpPr>
            <p:nvPr/>
          </p:nvSpPr>
          <p:spPr bwMode="gray">
            <a:xfrm>
              <a:off x="1393" y="1903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90204" pitchFamily="34" charset="0"/>
                </a:rPr>
                <a:t>1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 pitchFamily="34" charset="0"/>
              </a:endParaRPr>
            </a:p>
          </p:txBody>
        </p:sp>
      </p:grpSp>
      <p:grpSp>
        <p:nvGrpSpPr>
          <p:cNvPr id="12" name="Group 51"/>
          <p:cNvGrpSpPr/>
          <p:nvPr/>
        </p:nvGrpSpPr>
        <p:grpSpPr bwMode="auto">
          <a:xfrm>
            <a:off x="1758842" y="2595890"/>
            <a:ext cx="5301873" cy="786442"/>
            <a:chOff x="1296" y="1824"/>
            <a:chExt cx="2976" cy="432"/>
          </a:xfrm>
        </p:grpSpPr>
        <p:sp>
          <p:nvSpPr>
            <p:cNvPr id="13" name="AutoShape 5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9999FF"/>
              </a:solidFill>
              <a:round/>
            </a:ln>
            <a:effectLst>
              <a:outerShdw dist="99190" dir="2388334" algn="ctr" rotWithShape="0">
                <a:srgbClr val="DDDDDD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14" name="AutoShape 5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9999FF"/>
            </a:solidFill>
            <a:ln w="25400" algn="ctr">
              <a:solidFill>
                <a:srgbClr val="FFFFFF"/>
              </a:solidFill>
              <a:miter lim="800000"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15" name="Text Box 54"/>
            <p:cNvSpPr txBox="1">
              <a:spLocks noChangeArrowheads="1"/>
            </p:cNvSpPr>
            <p:nvPr/>
          </p:nvSpPr>
          <p:spPr bwMode="gray">
            <a:xfrm>
              <a:off x="1641" y="1898"/>
              <a:ext cx="2525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400" b="1" kern="0" dirty="0">
                  <a:solidFill>
                    <a:srgbClr val="17347D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Complex Numbers</a:t>
              </a:r>
              <a:endParaRPr lang="en-US" altLang="en-US" sz="2400" b="1" kern="0" dirty="0">
                <a:solidFill>
                  <a:srgbClr val="17347D"/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16" name="Text Box 55"/>
            <p:cNvSpPr txBox="1">
              <a:spLocks noChangeArrowheads="1"/>
            </p:cNvSpPr>
            <p:nvPr/>
          </p:nvSpPr>
          <p:spPr bwMode="gray">
            <a:xfrm>
              <a:off x="1409" y="1902"/>
              <a:ext cx="190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en-US" sz="2400" kern="0" dirty="0">
                  <a:solidFill>
                    <a:srgbClr val="FFFFFF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2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</p:grpSp>
      <p:grpSp>
        <p:nvGrpSpPr>
          <p:cNvPr id="17" name="Group 51"/>
          <p:cNvGrpSpPr/>
          <p:nvPr/>
        </p:nvGrpSpPr>
        <p:grpSpPr bwMode="auto">
          <a:xfrm>
            <a:off x="1758842" y="3664223"/>
            <a:ext cx="5301873" cy="786442"/>
            <a:chOff x="1296" y="1824"/>
            <a:chExt cx="2976" cy="432"/>
          </a:xfrm>
        </p:grpSpPr>
        <p:sp>
          <p:nvSpPr>
            <p:cNvPr id="18" name="AutoShape 5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FF0000"/>
              </a:solidFill>
              <a:round/>
            </a:ln>
            <a:effectLst>
              <a:outerShdw dist="99190" dir="2388334" algn="ctr" rotWithShape="0">
                <a:srgbClr val="DDDDDD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19" name="AutoShape 5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FF0000"/>
            </a:solidFill>
            <a:ln w="25400" algn="ctr">
              <a:solidFill>
                <a:srgbClr val="FFFFFF"/>
              </a:solidFill>
              <a:miter lim="800000"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21" name="Text Box 54"/>
            <p:cNvSpPr txBox="1">
              <a:spLocks noChangeArrowheads="1"/>
            </p:cNvSpPr>
            <p:nvPr/>
          </p:nvSpPr>
          <p:spPr bwMode="gray">
            <a:xfrm>
              <a:off x="1626" y="1902"/>
              <a:ext cx="2525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400" b="1" kern="0" dirty="0">
                  <a:solidFill>
                    <a:srgbClr val="17347D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Geometric Representation</a:t>
              </a:r>
              <a:endParaRPr lang="en-US" altLang="en-US" sz="2400" b="1" kern="0" dirty="0">
                <a:solidFill>
                  <a:srgbClr val="17347D"/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38" name="Text Box 55"/>
            <p:cNvSpPr txBox="1">
              <a:spLocks noChangeArrowheads="1"/>
            </p:cNvSpPr>
            <p:nvPr/>
          </p:nvSpPr>
          <p:spPr bwMode="gray">
            <a:xfrm>
              <a:off x="1409" y="1902"/>
              <a:ext cx="190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503050405090304" pitchFamily="18" charset="0"/>
                  <a:cs typeface="Times New Roman" panose="02020503050405090304" pitchFamily="18" charset="0"/>
                </a:rPr>
                <a:t>3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</p:grpSp>
      <p:grpSp>
        <p:nvGrpSpPr>
          <p:cNvPr id="39" name="Group 51"/>
          <p:cNvGrpSpPr/>
          <p:nvPr/>
        </p:nvGrpSpPr>
        <p:grpSpPr bwMode="auto">
          <a:xfrm>
            <a:off x="1758842" y="4732556"/>
            <a:ext cx="5301873" cy="786442"/>
            <a:chOff x="1296" y="1824"/>
            <a:chExt cx="2976" cy="432"/>
          </a:xfrm>
        </p:grpSpPr>
        <p:sp>
          <p:nvSpPr>
            <p:cNvPr id="40" name="AutoShape 5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FFC000"/>
              </a:solidFill>
              <a:round/>
            </a:ln>
            <a:effectLst>
              <a:outerShdw dist="99190" dir="2388334" algn="ctr" rotWithShape="0">
                <a:srgbClr val="DDDDDD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41" name="AutoShape 5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FFC000"/>
            </a:solidFill>
            <a:ln w="25400" algn="ctr">
              <a:solidFill>
                <a:srgbClr val="FFFFFF"/>
              </a:solidFill>
              <a:miter lim="800000"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42" name="Text Box 54"/>
            <p:cNvSpPr txBox="1">
              <a:spLocks noChangeArrowheads="1"/>
            </p:cNvSpPr>
            <p:nvPr/>
          </p:nvSpPr>
          <p:spPr bwMode="gray">
            <a:xfrm>
              <a:off x="1655" y="1924"/>
              <a:ext cx="2525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400" b="1" kern="0" dirty="0">
                  <a:solidFill>
                    <a:srgbClr val="17347D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Polar and Exponential Form</a:t>
              </a:r>
              <a:endParaRPr lang="en-US" altLang="en-US" sz="2400" b="1" kern="0" dirty="0">
                <a:solidFill>
                  <a:srgbClr val="17347D"/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43" name="Text Box 55"/>
            <p:cNvSpPr txBox="1">
              <a:spLocks noChangeArrowheads="1"/>
            </p:cNvSpPr>
            <p:nvPr/>
          </p:nvSpPr>
          <p:spPr bwMode="gray">
            <a:xfrm>
              <a:off x="1409" y="1902"/>
              <a:ext cx="190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en-US" sz="2400" kern="0" dirty="0">
                  <a:solidFill>
                    <a:srgbClr val="FFFFFF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4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594"/>
    </mc:Choice>
    <mc:Fallback>
      <p:transition spd="slow" advTm="3159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"/>
          <p:cNvSpPr txBox="1">
            <a:spLocks noChangeArrowheads="1"/>
          </p:cNvSpPr>
          <p:nvPr/>
        </p:nvSpPr>
        <p:spPr>
          <a:xfrm>
            <a:off x="381000" y="1600200"/>
            <a:ext cx="7863408" cy="11807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endParaRPr lang="en-US" altLang="en-US" dirty="0"/>
          </a:p>
        </p:txBody>
      </p:sp>
      <p:grpSp>
        <p:nvGrpSpPr>
          <p:cNvPr id="3" name="Group 41"/>
          <p:cNvGrpSpPr/>
          <p:nvPr/>
        </p:nvGrpSpPr>
        <p:grpSpPr bwMode="auto">
          <a:xfrm>
            <a:off x="1943708" y="3004807"/>
            <a:ext cx="5256584" cy="848385"/>
            <a:chOff x="1296" y="1824"/>
            <a:chExt cx="2976" cy="432"/>
          </a:xfrm>
        </p:grpSpPr>
        <p:sp>
          <p:nvSpPr>
            <p:cNvPr id="4" name="AutoShape 4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45AB7D"/>
              </a:solidFill>
              <a:round/>
            </a:ln>
            <a:effectLst>
              <a:outerShdw dist="99190" dir="2388334" algn="ctr" rotWithShape="0">
                <a:srgbClr val="DDDDDD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90204" pitchFamily="34" charset="0"/>
              </a:endParaRPr>
            </a:p>
          </p:txBody>
        </p:sp>
        <p:sp>
          <p:nvSpPr>
            <p:cNvPr id="5" name="AutoShape 4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45AB7D"/>
            </a:solidFill>
            <a:ln w="25400" algn="ctr">
              <a:solidFill>
                <a:srgbClr val="FFFFFF"/>
              </a:solidFill>
              <a:miter lim="800000"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90204" pitchFamily="34" charset="0"/>
              </a:endParaRPr>
            </a:p>
          </p:txBody>
        </p:sp>
        <p:sp>
          <p:nvSpPr>
            <p:cNvPr id="6" name="Text Box 44"/>
            <p:cNvSpPr txBox="1">
              <a:spLocks noChangeArrowheads="1"/>
            </p:cNvSpPr>
            <p:nvPr/>
          </p:nvSpPr>
          <p:spPr bwMode="gray">
            <a:xfrm>
              <a:off x="1851" y="1925"/>
              <a:ext cx="2160" cy="235"/>
            </a:xfrm>
            <a:prstGeom prst="rect">
              <a:avLst/>
            </a:prstGeom>
            <a:noFill/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17347D"/>
                  </a:solidFill>
                  <a:effectLst/>
                  <a:uLnTx/>
                  <a:uFillTx/>
                  <a:latin typeface="Times New Roman" panose="02020503050405090304" pitchFamily="18" charset="0"/>
                  <a:cs typeface="Times New Roman" panose="02020503050405090304" pitchFamily="18" charset="0"/>
                </a:rPr>
                <a:t>I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17347D"/>
                  </a:solidFill>
                  <a:effectLst/>
                  <a:uLnTx/>
                  <a:uFillTx/>
                  <a:latin typeface="Times New Roman" panose="02020503050405090304" pitchFamily="18" charset="0"/>
                  <a:cs typeface="Times New Roman" panose="02020503050405090304" pitchFamily="18" charset="0"/>
                </a:rPr>
                <a:t>ntroduction of SDM234</a:t>
              </a:r>
              <a:endPara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7" name="Text Box 45"/>
            <p:cNvSpPr txBox="1">
              <a:spLocks noChangeArrowheads="1"/>
            </p:cNvSpPr>
            <p:nvPr/>
          </p:nvSpPr>
          <p:spPr bwMode="gray">
            <a:xfrm>
              <a:off x="1393" y="1903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90204" pitchFamily="34" charset="0"/>
                </a:rPr>
                <a:t>1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639"/>
    </mc:Choice>
    <mc:Fallback>
      <p:transition spd="slow" advTm="5639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Self-Introduction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561662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Personal information: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9750" y="1844675"/>
            <a:ext cx="804291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Office: Room 506, Building 9, </a:t>
            </a:r>
            <a:r>
              <a:rPr lang="en-US" altLang="zh-CN" sz="2400" dirty="0" err="1">
                <a:cs typeface="Times New Roman" panose="02020503050405090304" pitchFamily="18" charset="0"/>
              </a:rPr>
              <a:t>Chuangyuan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Email: zhubh@sustech.edu.cn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Homepage: </a:t>
            </a:r>
            <a:r>
              <a:rPr lang="en-US" altLang="zh-CN" sz="2400" dirty="0">
                <a:cs typeface="Times New Roman" panose="02020503050405090304" pitchFamily="18" charset="0"/>
                <a:hlinkClick r:id="rId1" action="ppaction://hlinkfile"/>
              </a:rPr>
              <a:t>https://www.sustech.edu.cn/zh/faculties/bohaozhu.html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About SDM234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6995516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Prerequisite course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0309" y="1808893"/>
            <a:ext cx="7056784" cy="3723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Calculus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We will frequently use the knowledge on </a:t>
            </a:r>
            <a:r>
              <a:rPr lang="en-US" altLang="zh-CN" sz="20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trigonometricfunction</a:t>
            </a:r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series, differentiation </a:t>
            </a:r>
            <a:r>
              <a:rPr lang="en-US" altLang="zh-CN" sz="20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and integration, </a:t>
            </a:r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Taylor expansion, </a:t>
            </a:r>
            <a:r>
              <a:rPr lang="en-US" altLang="zh-CN" sz="2000" i="1" dirty="0" err="1">
                <a:latin typeface="Times New Roman Italic" panose="02020503050405090304" charset="0"/>
                <a:cs typeface="Times New Roman Italic" panose="02020503050405090304" charset="0"/>
              </a:rPr>
              <a:t>etc</a:t>
            </a:r>
            <a:endParaRPr lang="en-US" altLang="zh-CN" sz="2000" i="1" dirty="0">
              <a:latin typeface="Times New Roman Italic" panose="02020503050405090304" charset="0"/>
              <a:cs typeface="Times New Roman Italic" panose="02020503050405090304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endParaRPr lang="en-US" altLang="zh-CN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Linear Algebra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We will be using the concepts of eigenvectors and eigenvalues.</a:t>
            </a:r>
            <a:endParaRPr lang="en-US" altLang="zh-CN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endParaRPr lang="en-US" altLang="zh-CN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General Physics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GB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About SDM234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699551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Two parts of this course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0309" y="1808893"/>
            <a:ext cx="7056784" cy="2738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Functions of a complex variable and integral transforms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Complex numbers, complex functions, complex integration and complex series</a:t>
            </a:r>
            <a:endParaRPr lang="en-US" altLang="zh-CN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endParaRPr lang="en-US" altLang="zh-CN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Differential equations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Ordinary differential equations and partial differential equations </a:t>
            </a:r>
            <a:endParaRPr lang="en-GB" altLang="zh-CN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12788" y="4653136"/>
            <a:ext cx="699551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Textbook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90309" y="5081500"/>
            <a:ext cx="70567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Advanced Engineering Mathematics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10th edition, Erwin </a:t>
            </a:r>
            <a:r>
              <a:rPr lang="en-US" altLang="zh-CN" sz="24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Kreyszig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Herbert </a:t>
            </a:r>
            <a:r>
              <a:rPr lang="en-US" altLang="zh-CN" sz="24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Kreyszig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and Edward J. </a:t>
            </a:r>
            <a:r>
              <a:rPr lang="en-US" altLang="zh-CN" sz="24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Norminton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GB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About Engineering Mathematics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699551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Why 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study Engineering Mathematics?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0309" y="1808893"/>
            <a:ext cx="705678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GB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For </a:t>
            </a:r>
            <a:r>
              <a:rPr lang="en-GB" altLang="zh-CN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practical use</a:t>
            </a:r>
            <a:r>
              <a:rPr lang="en-GB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 it is a foundation for your future study </a:t>
            </a:r>
            <a:endParaRPr lang="en-GB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GB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After many years you may forget what we learn in this class(highly possible), </a:t>
            </a:r>
            <a:r>
              <a:rPr lang="en-GB" altLang="zh-CN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but at least you know where to find it </a:t>
            </a:r>
            <a:r>
              <a:rPr lang="en-GB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when it is needed! And you can pick it up quickly!</a:t>
            </a:r>
            <a:endParaRPr lang="en-GB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endParaRPr lang="en-GB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GB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For </a:t>
            </a:r>
            <a:r>
              <a:rPr lang="en-GB" altLang="zh-CN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interest</a:t>
            </a:r>
            <a:r>
              <a:rPr lang="en-GB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 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Mathematics exists solely for the </a:t>
            </a:r>
            <a:r>
              <a:rPr lang="en-US" altLang="zh-CN" sz="24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honour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of the human mind —— Carl Jacobi</a:t>
            </a:r>
            <a:endParaRPr lang="en-GB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GB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About Engineering Mathematics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699551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How 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to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study Engineering Mathematics?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0309" y="1808893"/>
            <a:ext cx="705678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Preview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the course materials for the coming week 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Attend class on time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Take your own notes, do not just rely on the course materials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Ask questions if you don't understand - don't be shy!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Consult with your classmates, instructor (me), or TA for help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GB" altLang="zh-CN" sz="24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Do homework, and if necessary, extra exercises</a:t>
            </a:r>
            <a:endParaRPr lang="en-GB" altLang="zh-CN" sz="24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Do NOT cheat!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Make summary after each chapter</a:t>
            </a:r>
            <a:endParaRPr lang="en-GB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About SDM234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23528" y="1197764"/>
            <a:ext cx="561662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cs typeface="Times New Roman" panose="02020503050405090304" pitchFamily="18" charset="0"/>
              </a:rPr>
              <a:t>Additional remarks on SDM234</a:t>
            </a:r>
            <a:endParaRPr lang="en-US" altLang="zh-CN" sz="2800" dirty="0"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83568" y="1773570"/>
            <a:ext cx="7056784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000" dirty="0">
                <a:cs typeface="Times New Roman" panose="02020503050405090304" pitchFamily="18" charset="0"/>
              </a:rPr>
              <a:t>This course will be taught in </a:t>
            </a:r>
            <a:r>
              <a:rPr lang="en-US" altLang="zh-CN" sz="2000" dirty="0">
                <a:solidFill>
                  <a:srgbClr val="FF0000"/>
                </a:solidFill>
                <a:cs typeface="Times New Roman" panose="02020503050405090304" pitchFamily="18" charset="0"/>
              </a:rPr>
              <a:t>both Chinese (major) and English (minor)</a:t>
            </a:r>
            <a:endParaRPr lang="en-US" altLang="zh-CN" sz="20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marL="800100" lvl="1" indent="-342900" algn="just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cs typeface="Times New Roman" panose="02020503050405090304" pitchFamily="18" charset="0"/>
              </a:rPr>
              <a:t>The slides will be mainly made in English, while the instructor will mainly speak Chinese at class</a:t>
            </a:r>
            <a:endParaRPr lang="en-US" altLang="zh-CN" sz="2000" dirty="0">
              <a:cs typeface="Times New Roman" panose="02020503050405090304" pitchFamily="18" charset="0"/>
            </a:endParaRPr>
          </a:p>
          <a:p>
            <a:pPr marL="800100" lvl="1" indent="-342900" algn="just">
              <a:buClr>
                <a:srgbClr val="C00000"/>
              </a:buClr>
              <a:buFont typeface="Wingdings" panose="05000000000000000000" pitchFamily="2" charset="2"/>
              <a:buChar char="Ø"/>
            </a:pPr>
            <a:endParaRPr lang="en-US" altLang="zh-CN" sz="2000" dirty="0">
              <a:cs typeface="Times New Roman" panose="02020503050405090304" pitchFamily="18" charset="0"/>
            </a:endParaRPr>
          </a:p>
          <a:p>
            <a:pPr marL="342900" indent="-342900" algn="just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000" dirty="0">
                <a:cs typeface="Times New Roman" panose="02020503050405090304" pitchFamily="18" charset="0"/>
              </a:rPr>
              <a:t>Students of Automation are </a:t>
            </a:r>
            <a:r>
              <a:rPr lang="en-US" altLang="zh-CN" sz="2000" dirty="0">
                <a:solidFill>
                  <a:srgbClr val="FF0000"/>
                </a:solidFill>
                <a:cs typeface="Times New Roman" panose="02020503050405090304" pitchFamily="18" charset="0"/>
              </a:rPr>
              <a:t>all</a:t>
            </a:r>
            <a:r>
              <a:rPr lang="en-US" altLang="zh-CN" sz="2000" dirty="0">
                <a:cs typeface="Times New Roman" panose="02020503050405090304" pitchFamily="18" charset="0"/>
              </a:rPr>
              <a:t> required to study this course</a:t>
            </a:r>
            <a:endParaRPr lang="en-US" altLang="zh-CN" sz="2000" dirty="0">
              <a:cs typeface="Times New Roman" panose="02020503050405090304" pitchFamily="18" charset="0"/>
            </a:endParaRPr>
          </a:p>
          <a:p>
            <a:pPr marL="342900" indent="-342900" algn="just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000" dirty="0">
              <a:cs typeface="Times New Roman" panose="02020503050405090304" pitchFamily="18" charset="0"/>
            </a:endParaRPr>
          </a:p>
          <a:p>
            <a:pPr marL="342900" indent="-342900" algn="just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000" dirty="0">
                <a:cs typeface="Times New Roman" panose="02020503050405090304" pitchFamily="18" charset="0"/>
              </a:rPr>
              <a:t>For any of your questions, please write “SDM234” in your email subject/title for our ease of recognition; otherwise, your emails may be “sunk” in our email flooding every day. </a:t>
            </a:r>
            <a:endParaRPr lang="en-US" altLang="zh-CN" sz="2000" dirty="0">
              <a:cs typeface="Times New Roman" panose="02020503050405090304" pitchFamily="18" charset="0"/>
            </a:endParaRPr>
          </a:p>
          <a:p>
            <a:pPr marL="342900" indent="-342900" algn="just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000" dirty="0">
              <a:cs typeface="Times New Roman" panose="02020503050405090304" pitchFamily="18" charset="0"/>
            </a:endParaRPr>
          </a:p>
          <a:p>
            <a:pPr marL="342900" indent="-342900" algn="just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000" dirty="0">
                <a:cs typeface="Times New Roman" panose="02020503050405090304" pitchFamily="18" charset="0"/>
              </a:rPr>
              <a:t>Please stay behind after class for any of your questions, as teachers would be engaged by other duties in office hours. Appointment with teachers/tutors could be made via email.</a:t>
            </a:r>
            <a:endParaRPr lang="en-US" altLang="zh-CN" sz="2000" dirty="0">
              <a:cs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About SDM234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5616624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Course assessment: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330628" y="2285742"/>
          <a:ext cx="6162120" cy="26068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88690"/>
                <a:gridCol w="2673430"/>
              </a:tblGrid>
              <a:tr h="43596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endParaRPr lang="zh-CN" sz="1600" b="0" kern="100" dirty="0">
                        <a:effectLst/>
                        <a:latin typeface="+mj-lt"/>
                        <a:ea typeface="PingFang SC Regular" panose="020B0400000000000000" charset="-122"/>
                        <a:cs typeface="+mj-lt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altLang="zh-CN" sz="1600" b="0" kern="100" dirty="0">
                          <a:solidFill>
                            <a:schemeClr val="lt1"/>
                          </a:solidFill>
                          <a:effectLst/>
                          <a:latin typeface="+mj-lt"/>
                          <a:ea typeface="PingFang SC Regular" panose="020B0400000000000000" charset="-122"/>
                          <a:cs typeface="+mj-lt"/>
                        </a:rPr>
                        <a:t>Percentage</a:t>
                      </a:r>
                      <a:endParaRPr lang="en-US" altLang="zh-CN" sz="1600" b="0" kern="100" dirty="0">
                        <a:solidFill>
                          <a:schemeClr val="lt1"/>
                        </a:solidFill>
                        <a:effectLst/>
                        <a:latin typeface="+mj-lt"/>
                        <a:ea typeface="PingFang SC Regular" panose="020B0400000000000000" charset="-122"/>
                        <a:cs typeface="+mj-lt"/>
                      </a:endParaRPr>
                    </a:p>
                  </a:txBody>
                  <a:tcPr marL="68580" marR="68580" marT="0" marB="0"/>
                </a:tc>
              </a:tr>
              <a:tr h="434177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600" b="0" kern="100" dirty="0">
                          <a:effectLst/>
                          <a:latin typeface="+mj-lt"/>
                          <a:ea typeface="PingFang SC Regular" panose="020B0400000000000000" charset="-122"/>
                          <a:cs typeface="+mj-lt"/>
                        </a:rPr>
                        <a:t>Assignments </a:t>
                      </a:r>
                      <a:endParaRPr lang="en-US" sz="1600" b="0" kern="100" dirty="0">
                        <a:effectLst/>
                        <a:latin typeface="+mj-lt"/>
                        <a:ea typeface="PingFang SC Regular" panose="020B0400000000000000" charset="-122"/>
                        <a:cs typeface="+mj-lt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600" b="0" kern="100" dirty="0">
                          <a:effectLst/>
                          <a:latin typeface="+mj-lt"/>
                          <a:ea typeface="PingFang SC Regular" panose="020B0400000000000000" charset="-122"/>
                          <a:cs typeface="+mj-lt"/>
                        </a:rPr>
                        <a:t>20</a:t>
                      </a:r>
                      <a:endParaRPr lang="en-US" sz="1600" b="0" kern="100" dirty="0">
                        <a:effectLst/>
                        <a:latin typeface="+mj-lt"/>
                        <a:ea typeface="PingFang SC Regular" panose="020B0400000000000000" charset="-122"/>
                        <a:cs typeface="+mj-lt"/>
                      </a:endParaRPr>
                    </a:p>
                  </a:txBody>
                  <a:tcPr marL="68580" marR="68580" marT="0" marB="0"/>
                </a:tc>
              </a:tr>
              <a:tr h="434177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600" b="0" kern="100" dirty="0">
                          <a:effectLst/>
                          <a:latin typeface="+mj-lt"/>
                          <a:ea typeface="PingFang SC Regular" panose="020B0400000000000000" charset="-122"/>
                          <a:cs typeface="+mj-lt"/>
                        </a:rPr>
                        <a:t>Mid-Term Test</a:t>
                      </a:r>
                      <a:endParaRPr lang="en-US" sz="1600" b="0" kern="100" dirty="0">
                        <a:effectLst/>
                        <a:latin typeface="+mj-lt"/>
                        <a:ea typeface="PingFang SC Regular" panose="020B0400000000000000" charset="-122"/>
                        <a:cs typeface="+mj-lt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600" b="0" kern="100" dirty="0">
                          <a:effectLst/>
                          <a:latin typeface="+mj-lt"/>
                          <a:ea typeface="PingFang SC Regular" panose="020B0400000000000000" charset="-122"/>
                          <a:cs typeface="+mj-lt"/>
                        </a:rPr>
                        <a:t>30</a:t>
                      </a:r>
                      <a:endParaRPr lang="en-US" sz="1600" b="0" kern="100" dirty="0">
                        <a:effectLst/>
                        <a:latin typeface="+mj-lt"/>
                        <a:ea typeface="PingFang SC Regular" panose="020B0400000000000000" charset="-122"/>
                        <a:cs typeface="+mj-lt"/>
                      </a:endParaRPr>
                    </a:p>
                  </a:txBody>
                  <a:tcPr marL="68580" marR="68580" marT="0" marB="0"/>
                </a:tc>
              </a:tr>
              <a:tr h="434177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600" b="0" kern="100" dirty="0">
                          <a:effectLst/>
                          <a:latin typeface="+mj-lt"/>
                          <a:ea typeface="PingFang SC Regular" panose="020B0400000000000000" charset="-122"/>
                          <a:cs typeface="+mj-lt"/>
                        </a:rPr>
                        <a:t>Final Exam</a:t>
                      </a:r>
                      <a:endParaRPr lang="en-US" sz="1600" b="0" kern="100" dirty="0">
                        <a:effectLst/>
                        <a:latin typeface="+mj-lt"/>
                        <a:ea typeface="PingFang SC Regular" panose="020B0400000000000000" charset="-122"/>
                        <a:cs typeface="+mj-lt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600" b="0" kern="100" dirty="0">
                          <a:effectLst/>
                          <a:latin typeface="+mj-lt"/>
                          <a:ea typeface="PingFang SC Regular" panose="020B0400000000000000" charset="-122"/>
                          <a:cs typeface="+mj-lt"/>
                        </a:rPr>
                        <a:t>50</a:t>
                      </a:r>
                      <a:endParaRPr lang="en-US" sz="1600" b="0" kern="100" dirty="0">
                        <a:effectLst/>
                        <a:latin typeface="+mj-lt"/>
                        <a:ea typeface="PingFang SC Regular" panose="020B0400000000000000" charset="-122"/>
                        <a:cs typeface="+mj-lt"/>
                      </a:endParaRPr>
                    </a:p>
                  </a:txBody>
                  <a:tcPr marL="68580" marR="68580" marT="0" marB="0"/>
                </a:tc>
              </a:tr>
              <a:tr h="434177"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600" b="0" kern="100" dirty="0">
                          <a:solidFill>
                            <a:srgbClr val="C00000"/>
                          </a:solidFill>
                          <a:effectLst/>
                          <a:latin typeface="+mj-lt"/>
                          <a:ea typeface="PingFang SC Regular" panose="020B0400000000000000" charset="-122"/>
                          <a:cs typeface="+mj-lt"/>
                        </a:rPr>
                        <a:t>Attendence</a:t>
                      </a:r>
                      <a:endParaRPr lang="en-US" altLang="zh-CN" sz="1600" b="0" kern="100" dirty="0">
                        <a:solidFill>
                          <a:srgbClr val="C00000"/>
                        </a:solidFill>
                        <a:effectLst/>
                        <a:latin typeface="+mj-lt"/>
                        <a:ea typeface="PingFang SC Regular" panose="020B0400000000000000" charset="-122"/>
                        <a:cs typeface="+mj-lt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altLang="en-US" sz="1600" b="0" kern="100" dirty="0">
                          <a:solidFill>
                            <a:srgbClr val="C00000"/>
                          </a:solidFill>
                          <a:effectLst/>
                          <a:latin typeface="+mj-lt"/>
                          <a:ea typeface="PingFang SC Regular" panose="020B0400000000000000" charset="-122"/>
                          <a:cs typeface="+mj-lt"/>
                        </a:rPr>
                        <a:t>5</a:t>
                      </a:r>
                      <a:endParaRPr lang="en-US" altLang="en-US" sz="1600" b="0" kern="100" dirty="0">
                        <a:solidFill>
                          <a:srgbClr val="C00000"/>
                        </a:solidFill>
                        <a:effectLst/>
                        <a:latin typeface="+mj-lt"/>
                        <a:ea typeface="PingFang SC Regular" panose="020B0400000000000000" charset="-122"/>
                        <a:cs typeface="+mj-lt"/>
                      </a:endParaRPr>
                    </a:p>
                  </a:txBody>
                  <a:tcPr marL="68580" marR="68580" marT="0" marB="0"/>
                </a:tc>
              </a:tr>
              <a:tr h="434177"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600" b="0" kern="100" dirty="0">
                          <a:solidFill>
                            <a:srgbClr val="C00000"/>
                          </a:solidFill>
                          <a:effectLst/>
                          <a:latin typeface="+mj-lt"/>
                          <a:ea typeface="PingFang SC Regular" panose="020B0400000000000000" charset="-122"/>
                          <a:cs typeface="+mj-lt"/>
                        </a:rPr>
                        <a:t>Bonus Problems</a:t>
                      </a:r>
                      <a:endParaRPr lang="en-US" altLang="zh-CN" sz="1600" b="0" kern="100" dirty="0">
                        <a:solidFill>
                          <a:srgbClr val="C00000"/>
                        </a:solidFill>
                        <a:effectLst/>
                        <a:latin typeface="+mj-lt"/>
                        <a:ea typeface="PingFang SC Regular" panose="020B0400000000000000" charset="-122"/>
                        <a:cs typeface="+mj-lt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altLang="en-US" sz="1600" b="0" kern="100" dirty="0">
                          <a:solidFill>
                            <a:srgbClr val="C00000"/>
                          </a:solidFill>
                          <a:effectLst/>
                          <a:latin typeface="+mj-lt"/>
                          <a:ea typeface="PingFang SC Regular" panose="020B0400000000000000" charset="-122"/>
                          <a:cs typeface="+mj-lt"/>
                        </a:rPr>
                        <a:t>20</a:t>
                      </a:r>
                      <a:endParaRPr lang="en-US" altLang="en-US" sz="1600" b="0" kern="100" dirty="0">
                        <a:solidFill>
                          <a:srgbClr val="C00000"/>
                        </a:solidFill>
                        <a:effectLst/>
                        <a:latin typeface="+mj-lt"/>
                        <a:ea typeface="PingFang SC Regular" panose="020B0400000000000000" charset="-122"/>
                        <a:cs typeface="+mj-lt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Bonus Problem 1-1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3055" y="1270000"/>
            <a:ext cx="6953885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cs typeface="Times New Roman" panose="02020503050405090304" pitchFamily="18" charset="0"/>
                <a:sym typeface="+mn-ea"/>
              </a:rPr>
              <a:t>Problem Description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539750" y="1844675"/>
                <a:ext cx="8229600" cy="3793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Clr>
                    <a:srgbClr val="C00000"/>
                  </a:buClr>
                  <a:buFont typeface="Wingdings" panose="05000000000000000000" pitchFamily="2" charset="2"/>
                  <a:buChar char="n"/>
                </a:pPr>
                <a:r>
                  <a:rPr lang="en-US" altLang="zh-CN" sz="2400" dirty="0">
                    <a:cs typeface="Times New Roman" panose="02020503050405090304" pitchFamily="18" charset="0"/>
                  </a:rPr>
                  <a:t>Given matrices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𝐴</m:t>
                    </m:r>
                    <m:r>
                      <a:rPr lang="en-US" altLang="zh-CN" sz="2400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ℂ</m:t>
                        </m:r>
                      </m:e>
                      <m:sup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𝑛</m:t>
                        </m:r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×</m:t>
                        </m:r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sz="2400" dirty="0">
                    <a:cs typeface="Times New Roman" panose="0202050305040509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𝐵</m:t>
                    </m:r>
                    <m:r>
                      <a:rPr lang="en-US" altLang="zh-CN" sz="2400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ℂ</m:t>
                        </m:r>
                      </m:e>
                      <m:sup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𝑛</m:t>
                        </m:r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×</m:t>
                        </m:r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altLang="zh-CN" sz="2400" dirty="0">
                    <a:cs typeface="Times New Roman" panose="02020503050405090304" pitchFamily="18" charset="0"/>
                  </a:rPr>
                  <a:t>, a Hermitian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Λ</m:t>
                    </m:r>
                    <m:r>
                      <a:rPr lang="en-US" altLang="zh-CN" sz="2400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𝛨</m:t>
                        </m:r>
                      </m:e>
                      <m:sup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(</m:t>
                        </m:r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𝑛</m:t>
                        </m:r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+</m:t>
                        </m:r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𝑚</m:t>
                        </m:r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altLang="zh-CN" sz="2400" dirty="0">
                    <a:cs typeface="Times New Roman" panose="02020503050405090304" pitchFamily="18" charset="0"/>
                  </a:rPr>
                  <a:t>.</a:t>
                </a:r>
                <a:r>
                  <a:rPr lang="en-US" altLang="zh-CN" sz="2400" dirty="0">
                    <a:cs typeface="Times New Roman" panose="02020503050405090304" pitchFamily="18" charset="0"/>
                  </a:rPr>
                  <a:t> Prove the equivalence of the following two conditions:</a:t>
                </a:r>
                <a:endParaRPr lang="en-US" altLang="zh-CN" sz="2400" dirty="0">
                  <a:cs typeface="Times New Roman" panose="02020503050405090304" pitchFamily="18" charset="0"/>
                </a:endParaRPr>
              </a:p>
              <a:p>
                <a:pPr lvl="1" indent="0">
                  <a:buClr>
                    <a:srgbClr val="C00000"/>
                  </a:buClr>
                  <a:buFont typeface="Wingdings" panose="05000000000000000000" pitchFamily="2" charset="2"/>
                  <a:buNone/>
                </a:pPr>
                <a:r>
                  <a:rPr lang="en-US" altLang="zh-CN" sz="2400" dirty="0">
                    <a:cs typeface="Times New Roman" panose="02020503050405090304" pitchFamily="18" charset="0"/>
                    <a:sym typeface="+mn-ea"/>
                  </a:rPr>
                  <a:t>(1)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i="1" dirty="0">
                                <a:latin typeface="DejaVu Math TeX Gyre" panose="02000503000000000000" charset="0"/>
                                <a:cs typeface="DejaVu Math TeX Gyre" panose="02000503000000000000" charset="0"/>
                                <a:sym typeface="+mn-ea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400" i="1" dirty="0">
                                    <a:latin typeface="DejaVu Math TeX Gyre" panose="02000503000000000000" charset="0"/>
                                    <a:cs typeface="DejaVu Math TeX Gyre" panose="02000503000000000000" charset="0"/>
                                    <a:sym typeface="+mn-ea"/>
                                  </a:rPr>
                                </m:ctrlPr>
                              </m:mPr>
                              <m:mr>
                                <m:e>
                                  <m:sSup>
                                    <m:sSupPr>
                                      <m:ctrlPr>
                                        <a:rPr lang="en-US" altLang="zh-CN" sz="2400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  <a:sym typeface="+mn-ea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  <a:sym typeface="+mn-ea"/>
                                        </a:rPr>
                                        <m:t>(</m:t>
                                      </m:r>
                                      <m:r>
                                        <a:rPr lang="en-US" altLang="zh-CN" sz="2400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  <a:sym typeface="+mn-ea"/>
                                        </a:rPr>
                                        <m:t>𝑖</m:t>
                                      </m:r>
                                      <m:r>
                                        <a:rPr lang="en-US" altLang="zh-CN" sz="2400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  <a:sym typeface="+mn-ea"/>
                                        </a:rPr>
                                        <m:t>𝜔</m:t>
                                      </m:r>
                                      <m:r>
                                        <a:rPr lang="en-US" altLang="zh-CN" sz="2400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  <a:sym typeface="+mn-ea"/>
                                        </a:rPr>
                                        <m:t>𝐼</m:t>
                                      </m:r>
                                      <m:r>
                                        <a:rPr lang="en-US" altLang="zh-CN" sz="2400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  <a:sym typeface="+mn-ea"/>
                                        </a:rPr>
                                        <m:t>−</m:t>
                                      </m:r>
                                      <m:r>
                                        <a:rPr lang="en-US" altLang="zh-CN" sz="2400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  <a:sym typeface="+mn-ea"/>
                                        </a:rPr>
                                        <m:t>𝐴</m:t>
                                      </m:r>
                                      <m:r>
                                        <a:rPr lang="en-US" altLang="zh-CN" sz="2400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  <a:sym typeface="+mn-ea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altLang="zh-CN" sz="2400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  <a:sym typeface="+mn-ea"/>
                                        </a:rPr>
                                        <m:t>−</m:t>
                                      </m:r>
                                      <m:r>
                                        <a:rPr lang="en-US" altLang="zh-CN" sz="2400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  <a:sym typeface="+mn-ea"/>
                                        </a:rPr>
                                        <m:t>1</m:t>
                                      </m:r>
                                    </m:sup>
                                  </m:sSup>
                                  <m: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  <m:t>𝐵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  <m:t>𝐼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  <m:t>∗</m:t>
                        </m:r>
                      </m:sup>
                    </m:sSup>
                    <m:r>
                      <m:rPr>
                        <m:sty m:val="p"/>
                      </m:rPr>
                      <a:rPr lang="en-US" altLang="zh-CN" sz="2400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Λ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 dirty="0">
                                <a:latin typeface="DejaVu Math TeX Gyre" panose="02000503000000000000" charset="0"/>
                                <a:cs typeface="DejaVu Math TeX Gyre" panose="02000503000000000000" charset="0"/>
                                <a:sym typeface="+mn-ea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  <m:t>(</m:t>
                                  </m:r>
                                  <m: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  <m:t>𝑖</m:t>
                                  </m:r>
                                  <m: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  <m:t>𝜔</m:t>
                                  </m:r>
                                  <m: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  <m:t>𝐼</m:t>
                                  </m:r>
                                  <m: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  <m:t>−</m:t>
                                  </m:r>
                                  <m: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  <m:t>𝐴</m:t>
                                  </m:r>
                                  <m: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  <m:t>−</m:t>
                                  </m:r>
                                  <m: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altLang="zh-CN" sz="2400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  <a:sym typeface="+mn-ea"/>
                                </a:rPr>
                                <m:t>𝐵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  <a:sym typeface="+mn-ea"/>
                                </a:rPr>
                                <m:t>𝐼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2400" i="1" dirty="0">
                        <a:latin typeface="DejaVu Math TeX Gyre" panose="02000503000000000000" charset="0"/>
                        <a:cs typeface="DejaVu Math TeX Gyre" panose="02000503000000000000" charset="0"/>
                        <a:sym typeface="+mn-ea"/>
                      </a:rPr>
                      <m:t>&lt;</m:t>
                    </m:r>
                    <m:r>
                      <a:rPr lang="en-US" altLang="zh-CN" sz="2400" i="1" dirty="0">
                        <a:latin typeface="DejaVu Math TeX Gyre" panose="02000503000000000000" charset="0"/>
                        <a:cs typeface="DejaVu Math TeX Gyre" panose="02000503000000000000" charset="0"/>
                        <a:sym typeface="+mn-ea"/>
                      </a:rPr>
                      <m:t>0</m:t>
                    </m:r>
                  </m:oMath>
                </a14:m>
                <a:r>
                  <a:rPr lang="en-US" altLang="zh-CN" sz="2400" dirty="0">
                    <a:cs typeface="Times New Roman" panose="02020503050405090304" pitchFamily="18" charset="0"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DejaVu Math TeX Gyre" panose="02000503000000000000" charset="0"/>
                        <a:cs typeface="DejaVu Math TeX Gyre" panose="02000503000000000000" charset="0"/>
                        <a:sym typeface="+mn-ea"/>
                      </a:rPr>
                      <m:t>𝜔</m:t>
                    </m:r>
                    <m:r>
                      <a:rPr lang="en-US" altLang="zh-CN" sz="2400" i="1" dirty="0">
                        <a:latin typeface="DejaVu Math TeX Gyre" panose="02000503000000000000" charset="0"/>
                        <a:cs typeface="DejaVu Math TeX Gyre" panose="02000503000000000000" charset="0"/>
                        <a:sym typeface="+mn-ea"/>
                      </a:rPr>
                      <m:t>∈</m:t>
                    </m:r>
                    <m:r>
                      <a:rPr lang="en-US" altLang="zh-CN" sz="2400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ℝ</m:t>
                    </m:r>
                  </m:oMath>
                </a14:m>
                <a:r>
                  <a:rPr lang="en-US" altLang="zh-CN" sz="2400" dirty="0">
                    <a:cs typeface="Times New Roman" panose="02020503050405090304" pitchFamily="18" charset="0"/>
                  </a:rPr>
                  <a:t>.</a:t>
                </a:r>
                <a:endParaRPr lang="en-US" altLang="zh-CN" sz="2400" dirty="0">
                  <a:cs typeface="Times New Roman" panose="02020503050405090304" pitchFamily="18" charset="0"/>
                </a:endParaRPr>
              </a:p>
              <a:p>
                <a:pPr lvl="1" indent="0">
                  <a:buClr>
                    <a:srgbClr val="C00000"/>
                  </a:buClr>
                  <a:buFont typeface="Wingdings" panose="05000000000000000000" pitchFamily="2" charset="2"/>
                  <a:buNone/>
                </a:pPr>
                <a:r>
                  <a:rPr lang="en-US" altLang="zh-CN" sz="2400" dirty="0">
                    <a:cs typeface="Times New Roman" panose="02020503050405090304" pitchFamily="18" charset="0"/>
                    <a:sym typeface="+mn-ea"/>
                  </a:rPr>
                  <a:t>(2) There exist Hermitian matrices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𝑃</m:t>
                    </m:r>
                    <m:r>
                      <a:rPr lang="en-US" altLang="zh-CN" sz="2400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𝛨</m:t>
                        </m:r>
                      </m:e>
                      <m:sup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sz="2400" dirty="0">
                    <a:cs typeface="Times New Roman" panose="02020503050405090304" pitchFamily="18" charset="0"/>
                    <a:sym typeface="+mn-ea"/>
                  </a:rPr>
                  <a:t>, such that</a:t>
                </a:r>
                <a:r>
                  <a:rPr lang="en-US" altLang="zh-CN" sz="2400" dirty="0">
                    <a:cs typeface="Times New Roman" panose="02020503050405090304" pitchFamily="18" charset="0"/>
                    <a:sym typeface="+mn-ea"/>
                  </a:rPr>
                  <a:t>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i="1" dirty="0">
                                <a:latin typeface="DejaVu Math TeX Gyre" panose="02000503000000000000" charset="0"/>
                                <a:cs typeface="DejaVu Math TeX Gyre" panose="02000503000000000000" charset="0"/>
                                <a:sym typeface="+mn-ea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400" i="1" dirty="0">
                                    <a:latin typeface="DejaVu Math TeX Gyre" panose="02000503000000000000" charset="0"/>
                                    <a:cs typeface="DejaVu Math TeX Gyre" panose="02000503000000000000" charset="0"/>
                                    <a:sym typeface="+mn-ea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  <m:t>𝐴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DejaVu Math TeX Gyre" panose="02000503000000000000" charset="0"/>
                                    </a:rPr>
                                    <m:t>𝐵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400" i="1">
                                      <a:latin typeface="DejaVu Math TeX Gyre" panose="02000503000000000000" charset="0"/>
                                    </a:rPr>
                                    <m:t>𝐼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DejaVu Math TeX Gyre" panose="02000503000000000000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  <m:t>∗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 dirty="0">
                                <a:latin typeface="DejaVu Math TeX Gyre" panose="02000503000000000000" charset="0"/>
                                <a:cs typeface="DejaVu Math TeX Gyre" panose="02000503000000000000" charset="0"/>
                                <a:sym typeface="+mn-ea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400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  <a:sym typeface="+mn-ea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400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  <a:sym typeface="+mn-ea"/>
                                </a:rPr>
                                <m:t>𝑃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DejaVu Math TeX Gyre" panose="02000503000000000000" charset="0"/>
                                </a:rPr>
                                <m:t>𝑃</m:t>
                              </m:r>
                            </m:e>
                            <m:e>
                              <m:r>
                                <a:rPr lang="en-US" sz="2400" i="1">
                                  <a:latin typeface="DejaVu Math TeX Gyre" panose="02000503000000000000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 dirty="0">
                                <a:latin typeface="DejaVu Math TeX Gyre" panose="02000503000000000000" charset="0"/>
                                <a:cs typeface="DejaVu Math TeX Gyre" panose="02000503000000000000" charset="0"/>
                                <a:sym typeface="+mn-ea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400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  <a:sym typeface="+mn-ea"/>
                                </a:rPr>
                                <m:t>𝐴</m:t>
                              </m:r>
                            </m:e>
                            <m:e>
                              <m:r>
                                <a:rPr lang="en-US" sz="2400" i="1">
                                  <a:latin typeface="DejaVu Math TeX Gyre" panose="02000503000000000000" charset="0"/>
                                </a:rPr>
                                <m:t>𝐵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DejaVu Math TeX Gyre" panose="02000503000000000000" charset="0"/>
                                </a:rPr>
                                <m:t>𝐼</m:t>
                              </m:r>
                            </m:e>
                            <m:e>
                              <m:r>
                                <a:rPr lang="en-US" sz="2400" i="1">
                                  <a:latin typeface="DejaVu Math TeX Gyre" panose="02000503000000000000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400" dirty="0">
                    <a:cs typeface="Times New Roman" panose="02020503050405090304" pitchFamily="18" charset="0"/>
                  </a:rPr>
                  <a:t>+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Λ</m:t>
                    </m:r>
                    <m:r>
                      <a:rPr lang="en-US" altLang="zh-CN" sz="2400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&lt;</m:t>
                    </m:r>
                    <m:r>
                      <a:rPr lang="en-US" altLang="zh-CN" sz="2400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0</m:t>
                    </m:r>
                  </m:oMath>
                </a14:m>
                <a:r>
                  <a:rPr lang="en-US" altLang="zh-CN" sz="2400" dirty="0">
                    <a:cs typeface="Times New Roman" panose="02020503050405090304" pitchFamily="18" charset="0"/>
                  </a:rPr>
                  <a:t>.</a:t>
                </a:r>
                <a:endParaRPr lang="en-US" altLang="zh-CN" sz="2400" dirty="0">
                  <a:cs typeface="Times New Roman" panose="02020503050405090304" pitchFamily="18" charset="0"/>
                  <a:sym typeface="+mn-ea"/>
                </a:endParaRPr>
              </a:p>
              <a:p>
                <a:pPr lvl="1" indent="0">
                  <a:buClr>
                    <a:srgbClr val="C00000"/>
                  </a:buClr>
                  <a:buFont typeface="Wingdings" panose="05000000000000000000" pitchFamily="2" charset="2"/>
                  <a:buNone/>
                </a:pPr>
                <a:r>
                  <a:rPr lang="en-US" altLang="zh-CN" sz="2400" dirty="0">
                    <a:cs typeface="Times New Roman" panose="02020503050405090304" pitchFamily="18" charset="0"/>
                    <a:sym typeface="+mn-ea"/>
                  </a:rPr>
                  <a:t>(</a:t>
                </a:r>
                <a:r>
                  <a:rPr lang="en-US" altLang="zh-CN" sz="2400" dirty="0">
                    <a:solidFill>
                      <a:srgbClr val="C00000"/>
                    </a:solidFill>
                    <a:cs typeface="Times New Roman" panose="02020503050405090304" pitchFamily="18" charset="0"/>
                    <a:sym typeface="+mn-ea"/>
                  </a:rPr>
                  <a:t>1 Marks</a:t>
                </a:r>
                <a:r>
                  <a:rPr lang="en-US" altLang="zh-CN" sz="2400" dirty="0">
                    <a:cs typeface="Times New Roman" panose="02020503050405090304" pitchFamily="18" charset="0"/>
                    <a:sym typeface="+mn-ea"/>
                  </a:rPr>
                  <a:t>)</a:t>
                </a:r>
                <a:endParaRPr lang="en-US" altLang="zh-CN" sz="2400" dirty="0">
                  <a:cs typeface="Times New Roman" panose="02020503050405090304" pitchFamily="18" charset="0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1844675"/>
                <a:ext cx="8229600" cy="379349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Bonus Problem 1-2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3055" y="1270000"/>
            <a:ext cx="6953885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cs typeface="Times New Roman" panose="02020503050405090304" pitchFamily="18" charset="0"/>
                <a:sym typeface="+mn-ea"/>
              </a:rPr>
              <a:t>Problem Description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539750" y="1844675"/>
                <a:ext cx="8229600" cy="46291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Clr>
                    <a:srgbClr val="C00000"/>
                  </a:buClr>
                  <a:buFont typeface="Wingdings" panose="05000000000000000000" pitchFamily="2" charset="2"/>
                  <a:buChar char="n"/>
                </a:pPr>
                <a:r>
                  <a:rPr lang="en-US" altLang="zh-CN" sz="2400" dirty="0">
                    <a:cs typeface="Times New Roman" panose="02020503050405090304" pitchFamily="18" charset="0"/>
                  </a:rPr>
                  <a:t>Given matrices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𝐴</m:t>
                    </m:r>
                    <m:r>
                      <a:rPr lang="en-US" altLang="zh-CN" sz="2400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ℂ</m:t>
                        </m:r>
                      </m:e>
                      <m:sup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𝑛</m:t>
                        </m:r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×</m:t>
                        </m:r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sz="2400" dirty="0">
                    <a:cs typeface="Times New Roman" panose="0202050305040509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𝐵</m:t>
                    </m:r>
                    <m:r>
                      <a:rPr lang="en-US" altLang="zh-CN" sz="2400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ℂ</m:t>
                        </m:r>
                      </m:e>
                      <m:sup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𝑛</m:t>
                        </m:r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×</m:t>
                        </m:r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altLang="zh-CN" sz="2400" dirty="0">
                    <a:cs typeface="Times New Roman" panose="02020503050405090304" pitchFamily="18" charset="0"/>
                  </a:rPr>
                  <a:t>, a Hermitian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Λ</m:t>
                    </m:r>
                    <m:r>
                      <a:rPr lang="en-US" altLang="zh-CN" sz="2400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𝛨</m:t>
                        </m:r>
                      </m:e>
                      <m:sup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(</m:t>
                        </m:r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𝑛</m:t>
                        </m:r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+</m:t>
                        </m:r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𝑚</m:t>
                        </m:r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altLang="zh-CN" sz="2400" dirty="0">
                    <a:cs typeface="Times New Roman" panose="02020503050405090304" pitchFamily="18" charset="0"/>
                  </a:rPr>
                  <a:t>.</a:t>
                </a:r>
                <a:r>
                  <a:rPr lang="en-US" altLang="zh-CN" sz="2400" dirty="0">
                    <a:cs typeface="Times New Roman" panose="02020503050405090304" pitchFamily="18" charset="0"/>
                  </a:rPr>
                  <a:t> Prove the equivalence of the following two conditions:</a:t>
                </a:r>
                <a:endParaRPr lang="en-US" altLang="zh-CN" sz="2400" dirty="0">
                  <a:cs typeface="Times New Roman" panose="02020503050405090304" pitchFamily="18" charset="0"/>
                </a:endParaRPr>
              </a:p>
              <a:p>
                <a:pPr lvl="1" indent="0">
                  <a:buClr>
                    <a:srgbClr val="C00000"/>
                  </a:buClr>
                  <a:buFont typeface="Wingdings" panose="05000000000000000000" pitchFamily="2" charset="2"/>
                  <a:buNone/>
                </a:pPr>
                <a:r>
                  <a:rPr lang="en-US" altLang="zh-CN" sz="2400" dirty="0">
                    <a:cs typeface="Times New Roman" panose="02020503050405090304" pitchFamily="18" charset="0"/>
                    <a:sym typeface="+mn-ea"/>
                  </a:rPr>
                  <a:t>(1)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i="1" dirty="0">
                                <a:latin typeface="DejaVu Math TeX Gyre" panose="02000503000000000000" charset="0"/>
                                <a:cs typeface="DejaVu Math TeX Gyre" panose="02000503000000000000" charset="0"/>
                                <a:sym typeface="+mn-ea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400" i="1" dirty="0">
                                    <a:latin typeface="DejaVu Math TeX Gyre" panose="02000503000000000000" charset="0"/>
                                    <a:cs typeface="DejaVu Math TeX Gyre" panose="02000503000000000000" charset="0"/>
                                    <a:sym typeface="+mn-ea"/>
                                  </a:rPr>
                                </m:ctrlPr>
                              </m:mPr>
                              <m:mr>
                                <m:e>
                                  <m:sSup>
                                    <m:sSupPr>
                                      <m:ctrlPr>
                                        <a:rPr lang="en-US" altLang="zh-CN" sz="2400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  <a:sym typeface="+mn-ea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  <a:sym typeface="+mn-ea"/>
                                        </a:rPr>
                                        <m:t>(</m:t>
                                      </m:r>
                                      <m:r>
                                        <a:rPr lang="en-US" altLang="zh-CN" sz="2400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  <a:sym typeface="+mn-ea"/>
                                        </a:rPr>
                                        <m:t>𝑖</m:t>
                                      </m:r>
                                      <m:r>
                                        <a:rPr lang="en-US" altLang="zh-CN" sz="2400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  <a:sym typeface="+mn-ea"/>
                                        </a:rPr>
                                        <m:t>𝜔</m:t>
                                      </m:r>
                                      <m:r>
                                        <a:rPr lang="en-US" altLang="zh-CN" sz="2400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  <a:sym typeface="+mn-ea"/>
                                        </a:rPr>
                                        <m:t>𝐼</m:t>
                                      </m:r>
                                      <m:r>
                                        <a:rPr lang="en-US" altLang="zh-CN" sz="2400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  <a:sym typeface="+mn-ea"/>
                                        </a:rPr>
                                        <m:t>−</m:t>
                                      </m:r>
                                      <m:r>
                                        <a:rPr lang="en-US" altLang="zh-CN" sz="2400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  <a:sym typeface="+mn-ea"/>
                                        </a:rPr>
                                        <m:t>𝐴</m:t>
                                      </m:r>
                                      <m:r>
                                        <a:rPr lang="en-US" altLang="zh-CN" sz="2400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  <a:sym typeface="+mn-ea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altLang="zh-CN" sz="2400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  <a:sym typeface="+mn-ea"/>
                                        </a:rPr>
                                        <m:t>−</m:t>
                                      </m:r>
                                      <m:r>
                                        <a:rPr lang="en-US" altLang="zh-CN" sz="2400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  <a:sym typeface="+mn-ea"/>
                                        </a:rPr>
                                        <m:t>1</m:t>
                                      </m:r>
                                    </m:sup>
                                  </m:sSup>
                                  <m: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  <m:t>𝐵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  <m:t>𝐼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  <m:t>∗</m:t>
                        </m:r>
                      </m:sup>
                    </m:sSup>
                    <m:r>
                      <m:rPr>
                        <m:sty m:val="p"/>
                      </m:rPr>
                      <a:rPr lang="en-US" altLang="zh-CN" sz="2400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Λ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 dirty="0">
                                <a:latin typeface="DejaVu Math TeX Gyre" panose="02000503000000000000" charset="0"/>
                                <a:cs typeface="DejaVu Math TeX Gyre" panose="02000503000000000000" charset="0"/>
                                <a:sym typeface="+mn-ea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  <m:t>(</m:t>
                                  </m:r>
                                  <m: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  <m:t>𝑖</m:t>
                                  </m:r>
                                  <m: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  <m:t>𝜔</m:t>
                                  </m:r>
                                  <m: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  <m:t>𝐼</m:t>
                                  </m:r>
                                  <m: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  <m:t>−</m:t>
                                  </m:r>
                                  <m: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  <m:t>𝐴</m:t>
                                  </m:r>
                                  <m: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  <m:t>−</m:t>
                                  </m:r>
                                  <m: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altLang="zh-CN" sz="2400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  <a:sym typeface="+mn-ea"/>
                                </a:rPr>
                                <m:t>𝐵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  <a:sym typeface="+mn-ea"/>
                                </a:rPr>
                                <m:t>𝐼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2400" i="1" dirty="0">
                        <a:latin typeface="DejaVu Math TeX Gyre" panose="02000503000000000000" charset="0"/>
                        <a:cs typeface="DejaVu Math TeX Gyre" panose="02000503000000000000" charset="0"/>
                        <a:sym typeface="+mn-ea"/>
                      </a:rPr>
                      <m:t>&lt;</m:t>
                    </m:r>
                    <m:r>
                      <a:rPr lang="en-US" altLang="zh-CN" sz="2400" i="1" dirty="0">
                        <a:latin typeface="DejaVu Math TeX Gyre" panose="02000503000000000000" charset="0"/>
                        <a:cs typeface="DejaVu Math TeX Gyre" panose="02000503000000000000" charset="0"/>
                        <a:sym typeface="+mn-ea"/>
                      </a:rPr>
                      <m:t>0</m:t>
                    </m:r>
                  </m:oMath>
                </a14:m>
                <a:r>
                  <a:rPr lang="en-US" altLang="zh-CN" sz="2400" dirty="0">
                    <a:cs typeface="Times New Roman" panose="02020503050405090304" pitchFamily="18" charset="0"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DejaVu Math TeX Gyre" panose="02000503000000000000" charset="0"/>
                        <a:cs typeface="DejaVu Math TeX Gyre" panose="02000503000000000000" charset="0"/>
                        <a:sym typeface="+mn-ea"/>
                      </a:rPr>
                      <m:t>𝜔</m:t>
                    </m:r>
                    <m:r>
                      <a:rPr lang="en-US" altLang="zh-CN" sz="2400" i="1" dirty="0">
                        <a:latin typeface="DejaVu Math TeX Gyre" panose="02000503000000000000" charset="0"/>
                        <a:cs typeface="DejaVu Math TeX Gyre" panose="02000503000000000000" charset="0"/>
                        <a:sym typeface="+mn-ea"/>
                      </a:rPr>
                      <m:t>∈[</m:t>
                    </m:r>
                    <m:sSub>
                      <m:sSubPr>
                        <m:ctrlP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  <m:t>𝜔</m:t>
                        </m:r>
                      </m:e>
                      <m:sub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  <m:t>1</m:t>
                        </m:r>
                      </m:sub>
                    </m:sSub>
                    <m:r>
                      <a:rPr lang="en-US" altLang="zh-CN" sz="2400" i="1" dirty="0">
                        <a:latin typeface="DejaVu Math TeX Gyre" panose="02000503000000000000" charset="0"/>
                        <a:cs typeface="DejaVu Math TeX Gyre" panose="02000503000000000000" charset="0"/>
                        <a:sym typeface="+mn-ea"/>
                      </a:rPr>
                      <m:t>,</m:t>
                    </m:r>
                    <m:sSub>
                      <m:sSubPr>
                        <m:ctrlP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  <m:t>𝜔</m:t>
                        </m:r>
                      </m:e>
                      <m:sub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  <m:t>2</m:t>
                        </m:r>
                      </m:sub>
                    </m:sSub>
                    <m:r>
                      <a:rPr lang="en-US" altLang="zh-CN" sz="2400" i="1" dirty="0">
                        <a:latin typeface="DejaVu Math TeX Gyre" panose="02000503000000000000" charset="0"/>
                        <a:cs typeface="DejaVu Math TeX Gyre" panose="02000503000000000000" charset="0"/>
                        <a:sym typeface="+mn-ea"/>
                      </a:rPr>
                      <m:t>]</m:t>
                    </m:r>
                  </m:oMath>
                </a14:m>
                <a:r>
                  <a:rPr lang="en-US" altLang="zh-CN" sz="2400" dirty="0">
                    <a:cs typeface="Times New Roman" panose="02020503050405090304" pitchFamily="18" charset="0"/>
                  </a:rPr>
                  <a:t>.</a:t>
                </a:r>
                <a:endParaRPr lang="en-US" altLang="zh-CN" sz="2400" dirty="0">
                  <a:cs typeface="Times New Roman" panose="02020503050405090304" pitchFamily="18" charset="0"/>
                </a:endParaRPr>
              </a:p>
              <a:p>
                <a:pPr lvl="1" indent="0">
                  <a:buClr>
                    <a:srgbClr val="C00000"/>
                  </a:buClr>
                  <a:buFont typeface="Wingdings" panose="05000000000000000000" pitchFamily="2" charset="2"/>
                  <a:buNone/>
                </a:pPr>
                <a:r>
                  <a:rPr lang="en-US" altLang="zh-CN" sz="2400" dirty="0">
                    <a:cs typeface="Times New Roman" panose="02020503050405090304" pitchFamily="18" charset="0"/>
                    <a:sym typeface="+mn-ea"/>
                  </a:rPr>
                  <a:t>(2) </a:t>
                </a:r>
                <a:r>
                  <a:rPr lang="en-US" altLang="zh-CN" sz="2400" dirty="0">
                    <a:cs typeface="Times New Roman" panose="02020503050405090304" pitchFamily="18" charset="0"/>
                    <a:sym typeface="+mn-ea"/>
                  </a:rPr>
                  <a:t>There exist Hermitian matrices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𝑃</m:t>
                    </m:r>
                    <m:r>
                      <a:rPr lang="en-US" altLang="zh-CN" sz="2400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,</m:t>
                    </m:r>
                    <m:r>
                      <a:rPr lang="en-US" altLang="zh-CN" sz="2400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𝑄</m:t>
                    </m:r>
                    <m:r>
                      <a:rPr lang="en-US" altLang="zh-CN" sz="2400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𝛨</m:t>
                        </m:r>
                      </m:e>
                      <m:sup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𝑛</m:t>
                        </m:r>
                      </m:sup>
                    </m:sSup>
                    <m:r>
                      <a:rPr lang="en-US" altLang="zh-CN" sz="2400" dirty="0">
                        <a:latin typeface="DejaVu Math TeX Gyre" panose="02000503000000000000" charset="0"/>
                        <a:cs typeface="Times New Roman" panose="02020503050405090304" pitchFamily="18" charset="0"/>
                        <a:sym typeface="+mn-ea"/>
                      </a:rPr>
                      <m:t>,</m:t>
                    </m:r>
                    <m:r>
                      <a:rPr lang="en-US" altLang="zh-CN" sz="2400" dirty="0">
                        <a:latin typeface="DejaVu Math TeX Gyre" panose="02000503000000000000" charset="0"/>
                        <a:cs typeface="Times New Roman" panose="02020503050405090304" pitchFamily="18" charset="0"/>
                        <a:sym typeface="+mn-ea"/>
                      </a:rPr>
                      <m:t> </m:t>
                    </m:r>
                    <m:r>
                      <a:rPr lang="en-US" altLang="zh-CN" sz="2400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𝑄</m:t>
                    </m:r>
                    <m:r>
                      <a:rPr lang="en-US" altLang="zh-CN" sz="2400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≥</m:t>
                    </m:r>
                    <m:r>
                      <a:rPr lang="en-US" altLang="zh-CN" sz="2400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0</m:t>
                    </m:r>
                    <m:r>
                      <a:rPr lang="en-US" altLang="zh-CN" sz="2400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,</m:t>
                    </m:r>
                    <m:r>
                      <a:rPr lang="en-US" altLang="zh-CN" sz="2400" dirty="0">
                        <a:latin typeface="DejaVu Math TeX Gyre" panose="02000503000000000000" charset="0"/>
                        <a:cs typeface="Times New Roman" panose="02020503050405090304" pitchFamily="18" charset="0"/>
                        <a:sym typeface="+mn-ea"/>
                      </a:rPr>
                      <m:t> </m:t>
                    </m:r>
                    <m:r>
                      <a:rPr lang="en-US" altLang="zh-CN" sz="2400" dirty="0">
                        <a:latin typeface="DejaVu Math TeX Gyre" panose="02000503000000000000" charset="0"/>
                        <a:cs typeface="Times New Roman" panose="02020503050405090304" pitchFamily="18" charset="0"/>
                        <a:sym typeface="+mn-ea"/>
                      </a:rPr>
                      <m:t> </m:t>
                    </m:r>
                    <m:r>
                      <a:rPr lang="en-US" altLang="zh-CN" sz="2400" dirty="0">
                        <a:latin typeface="DejaVu Math TeX Gyre" panose="02000503000000000000" charset="0"/>
                        <a:cs typeface="Times New Roman" panose="02020503050405090304" pitchFamily="18" charset="0"/>
                        <a:sym typeface="+mn-ea"/>
                      </a:rPr>
                      <m:t>𝑠𝑢𝑐ℎ</m:t>
                    </m:r>
                    <m:r>
                      <a:rPr lang="en-US" altLang="zh-CN" sz="2400" dirty="0">
                        <a:latin typeface="DejaVu Math TeX Gyre" panose="02000503000000000000" charset="0"/>
                        <a:cs typeface="Times New Roman" panose="02020503050405090304" pitchFamily="18" charset="0"/>
                        <a:sym typeface="+mn-ea"/>
                      </a:rPr>
                      <m:t> </m:t>
                    </m:r>
                    <m:r>
                      <a:rPr lang="en-US" altLang="zh-CN" sz="2400" dirty="0">
                        <a:latin typeface="DejaVu Math TeX Gyre" panose="02000503000000000000" charset="0"/>
                        <a:cs typeface="Times New Roman" panose="02020503050405090304" pitchFamily="18" charset="0"/>
                        <a:sym typeface="+mn-ea"/>
                      </a:rPr>
                      <m:t>𝑡ℎ𝑎𝑡</m:t>
                    </m:r>
                  </m:oMath>
                </a14:m>
                <a:r>
                  <a:rPr lang="en-US" altLang="zh-CN" sz="2400" dirty="0">
                    <a:cs typeface="Times New Roman" panose="02020503050405090304" pitchFamily="18" charset="0"/>
                    <a:sym typeface="+mn-ea"/>
                  </a:rPr>
                  <a:t>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i="1" dirty="0">
                                <a:latin typeface="DejaVu Math TeX Gyre" panose="02000503000000000000" charset="0"/>
                                <a:cs typeface="DejaVu Math TeX Gyre" panose="02000503000000000000" charset="0"/>
                                <a:sym typeface="+mn-ea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400" i="1" dirty="0">
                                    <a:latin typeface="DejaVu Math TeX Gyre" panose="02000503000000000000" charset="0"/>
                                    <a:cs typeface="DejaVu Math TeX Gyre" panose="02000503000000000000" charset="0"/>
                                    <a:sym typeface="+mn-ea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  <m:t>𝐴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DejaVu Math TeX Gyre" panose="02000503000000000000" charset="0"/>
                                    </a:rPr>
                                    <m:t>𝐵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400" i="1">
                                      <a:latin typeface="DejaVu Math TeX Gyre" panose="02000503000000000000" charset="0"/>
                                    </a:rPr>
                                    <m:t>𝐼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DejaVu Math TeX Gyre" panose="02000503000000000000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  <m:t>∗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 dirty="0">
                                <a:latin typeface="DejaVu Math TeX Gyre" panose="02000503000000000000" charset="0"/>
                                <a:cs typeface="DejaVu Math TeX Gyre" panose="02000503000000000000" charset="0"/>
                                <a:sym typeface="+mn-ea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400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  <a:sym typeface="+mn-ea"/>
                                </a:rPr>
                                <m:t>−</m:t>
                              </m:r>
                              <m:r>
                                <a:rPr lang="en-US" altLang="zh-CN" sz="2400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  <a:sym typeface="+mn-ea"/>
                                </a:rPr>
                                <m:t>𝑄</m:t>
                              </m:r>
                            </m:e>
                            <m:e>
                              <m:r>
                                <a:rPr lang="en-US" altLang="zh-CN" sz="2400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  <a:sym typeface="+mn-ea"/>
                                </a:rPr>
                                <m:t>𝑃</m:t>
                              </m:r>
                              <m:r>
                                <a:rPr lang="en-US" altLang="zh-CN" sz="2400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  <a:sym typeface="+mn-ea"/>
                                </a:rPr>
                                <m:t>+</m:t>
                              </m:r>
                              <m:r>
                                <a:rPr lang="en-US" altLang="zh-CN" sz="2400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  <a:sym typeface="+mn-ea"/>
                                </a:rPr>
                                <m:t>𝑖</m:t>
                              </m:r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altLang="zh-CN" sz="2400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  <a:sym typeface="+mn-ea"/>
                                </a:rPr>
                                <m:t>𝑄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DejaVu Math TeX Gyre" panose="02000503000000000000" charset="0"/>
                                </a:rPr>
                                <m:t>𝑃</m:t>
                              </m:r>
                              <m:r>
                                <a:rPr lang="en-US" sz="2400" i="1">
                                  <a:latin typeface="DejaVu Math TeX Gyre" panose="02000503000000000000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DejaVu Math TeX Gyre" panose="02000503000000000000" charset="0"/>
                                </a:rPr>
                                <m:t>𝑖</m:t>
                              </m:r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altLang="zh-CN" sz="2400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  <a:sym typeface="+mn-ea"/>
                                </a:rPr>
                                <m:t>𝑄</m:t>
                              </m:r>
                            </m:e>
                            <m:e>
                              <m:r>
                                <a:rPr lang="en-US" sz="2400" i="1">
                                  <a:latin typeface="DejaVu Math TeX Gyre" panose="02000503000000000000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  <a:sym typeface="+mn-ea"/>
                                </a:rPr>
                                <m:t>𝑄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 dirty="0">
                                <a:latin typeface="DejaVu Math TeX Gyre" panose="02000503000000000000" charset="0"/>
                                <a:cs typeface="DejaVu Math TeX Gyre" panose="02000503000000000000" charset="0"/>
                                <a:sym typeface="+mn-ea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400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  <a:sym typeface="+mn-ea"/>
                                </a:rPr>
                                <m:t>𝐴</m:t>
                              </m:r>
                            </m:e>
                            <m:e>
                              <m:r>
                                <a:rPr lang="en-US" sz="2400" i="1">
                                  <a:latin typeface="DejaVu Math TeX Gyre" panose="02000503000000000000" charset="0"/>
                                </a:rPr>
                                <m:t>𝐵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DejaVu Math TeX Gyre" panose="02000503000000000000" charset="0"/>
                                </a:rPr>
                                <m:t>𝐼</m:t>
                              </m:r>
                            </m:e>
                            <m:e>
                              <m:r>
                                <a:rPr lang="en-US" sz="2400" i="1">
                                  <a:latin typeface="DejaVu Math TeX Gyre" panose="02000503000000000000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400" dirty="0">
                    <a:cs typeface="Times New Roman" panose="02020503050405090304" pitchFamily="18" charset="0"/>
                    <a:sym typeface="+mn-ea"/>
                  </a:rPr>
                  <a:t>+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Λ</m:t>
                    </m:r>
                    <m:r>
                      <a:rPr lang="en-US" altLang="zh-CN" sz="2400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&lt;</m:t>
                    </m:r>
                    <m:r>
                      <a:rPr lang="en-US" altLang="zh-CN" sz="2400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0</m:t>
                    </m:r>
                  </m:oMath>
                </a14:m>
                <a:r>
                  <a:rPr lang="zh-CN" altLang="en-US" sz="2400" dirty="0">
                    <a:latin typeface="DejaVu Math TeX Gyre" panose="02000503000000000000" charset="0"/>
                    <a:cs typeface="DejaVu Math TeX Gyre" panose="02000503000000000000" charset="0"/>
                  </a:rPr>
                  <a:t>，</a:t>
                </a:r>
                <a:endParaRPr lang="zh-CN" altLang="en-US" sz="2400" dirty="0">
                  <a:latin typeface="DejaVu Math TeX Gyre" panose="02000503000000000000" charset="0"/>
                  <a:cs typeface="DejaVu Math TeX Gyre" panose="02000503000000000000" charset="0"/>
                </a:endParaRPr>
              </a:p>
              <a:p>
                <a:pPr lvl="1" indent="0">
                  <a:buClr>
                    <a:srgbClr val="C00000"/>
                  </a:buClr>
                  <a:buFont typeface="Wingdings" panose="05000000000000000000" pitchFamily="2" charset="2"/>
                  <a:buNone/>
                </a:pPr>
                <a:r>
                  <a:rPr lang="en-US" altLang="zh-CN" sz="2400" dirty="0">
                    <a:latin typeface="+mj-lt"/>
                    <a:cs typeface="+mj-lt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  <m:t>𝜔</m:t>
                        </m:r>
                      </m:e>
                      <m:sub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+mj-lt"/>
                    <a:cs typeface="+mj-lt"/>
                  </a:rPr>
                  <a:t>=(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  <m:t>𝜔</m:t>
                        </m:r>
                      </m:e>
                      <m:sub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+mj-lt"/>
                    <a:cs typeface="+mj-lt"/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  <m:t>𝜔</m:t>
                        </m:r>
                      </m:e>
                      <m:sub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+mj-lt"/>
                    <a:cs typeface="+mj-lt"/>
                  </a:rPr>
                  <a:t>)/2</a:t>
                </a:r>
                <a:r>
                  <a:rPr lang="en-US" altLang="zh-CN" sz="2400" dirty="0">
                    <a:latin typeface="+mj-lt"/>
                    <a:cs typeface="+mj-lt"/>
                  </a:rPr>
                  <a:t>.</a:t>
                </a:r>
                <a:endParaRPr lang="en-US" altLang="zh-CN" sz="2400" dirty="0">
                  <a:cs typeface="Times New Roman" panose="02020503050405090304" pitchFamily="18" charset="0"/>
                  <a:sym typeface="+mn-ea"/>
                </a:endParaRPr>
              </a:p>
              <a:p>
                <a:pPr lvl="1" indent="0">
                  <a:buClr>
                    <a:srgbClr val="C00000"/>
                  </a:buClr>
                  <a:buFont typeface="Wingdings" panose="05000000000000000000" pitchFamily="2" charset="2"/>
                  <a:buNone/>
                </a:pPr>
                <a:r>
                  <a:rPr lang="en-US" altLang="zh-CN" sz="2400" dirty="0">
                    <a:cs typeface="Times New Roman" panose="02020503050405090304" pitchFamily="18" charset="0"/>
                    <a:sym typeface="+mn-ea"/>
                  </a:rPr>
                  <a:t>(</a:t>
                </a:r>
                <a:r>
                  <a:rPr lang="en-US" altLang="zh-CN" sz="2400" dirty="0">
                    <a:solidFill>
                      <a:srgbClr val="C00000"/>
                    </a:solidFill>
                    <a:cs typeface="Times New Roman" panose="02020503050405090304" pitchFamily="18" charset="0"/>
                    <a:sym typeface="+mn-ea"/>
                  </a:rPr>
                  <a:t>2 Marks</a:t>
                </a:r>
                <a:r>
                  <a:rPr lang="en-US" altLang="zh-CN" sz="2400" dirty="0">
                    <a:cs typeface="Times New Roman" panose="02020503050405090304" pitchFamily="18" charset="0"/>
                    <a:sym typeface="+mn-ea"/>
                  </a:rPr>
                  <a:t>)</a:t>
                </a:r>
                <a:endParaRPr lang="en-US" altLang="zh-CN" sz="2400" dirty="0">
                  <a:cs typeface="Times New Roman" panose="02020503050405090304" pitchFamily="18" charset="0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1844675"/>
                <a:ext cx="8229600" cy="462915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Bonus Problem 1-3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3055" y="1270000"/>
            <a:ext cx="6953885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cs typeface="Times New Roman" panose="02020503050405090304" pitchFamily="18" charset="0"/>
                <a:sym typeface="+mn-ea"/>
              </a:rPr>
              <a:t>Problem Description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539750" y="1844675"/>
                <a:ext cx="8229600" cy="4163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Clr>
                    <a:srgbClr val="C00000"/>
                  </a:buClr>
                  <a:buFont typeface="Wingdings" panose="05000000000000000000" pitchFamily="2" charset="2"/>
                  <a:buChar char="n"/>
                </a:pPr>
                <a:r>
                  <a:rPr lang="en-US" altLang="zh-CN" sz="2400" dirty="0">
                    <a:cs typeface="Times New Roman" panose="02020503050405090304" pitchFamily="18" charset="0"/>
                  </a:rPr>
                  <a:t>Given matrices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𝐴</m:t>
                    </m:r>
                    <m:r>
                      <a:rPr lang="en-US" altLang="zh-CN" sz="2400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ℂ</m:t>
                        </m:r>
                      </m:e>
                      <m:sup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𝑛</m:t>
                        </m:r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×</m:t>
                        </m:r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sz="2400" dirty="0">
                    <a:cs typeface="Times New Roman" panose="0202050305040509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𝐵</m:t>
                    </m:r>
                    <m:r>
                      <a:rPr lang="en-US" altLang="zh-CN" sz="2400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ℂ</m:t>
                        </m:r>
                      </m:e>
                      <m:sup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𝑛</m:t>
                        </m:r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×</m:t>
                        </m:r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altLang="zh-CN" sz="2400" dirty="0">
                    <a:cs typeface="Times New Roman" panose="02020503050405090304" pitchFamily="18" charset="0"/>
                  </a:rPr>
                  <a:t>, a Hermitian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Λ</m:t>
                    </m:r>
                    <m:r>
                      <a:rPr lang="en-US" altLang="zh-CN" sz="2400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𝛨</m:t>
                        </m:r>
                      </m:e>
                      <m:sup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(</m:t>
                        </m:r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𝑛</m:t>
                        </m:r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+</m:t>
                        </m:r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𝑚</m:t>
                        </m:r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altLang="zh-CN" sz="2400" dirty="0">
                    <a:cs typeface="Times New Roman" panose="02020503050405090304" pitchFamily="18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𝐴</m:t>
                    </m:r>
                  </m:oMath>
                </a14:m>
                <a:r>
                  <a:rPr lang="en-US" altLang="zh-CN" sz="2400" dirty="0">
                    <a:cs typeface="Times New Roman" panose="02020503050405090304" pitchFamily="18" charset="0"/>
                  </a:rPr>
                  <a:t> is a Metzler matrix and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𝐵</m:t>
                    </m:r>
                  </m:oMath>
                </a14:m>
                <a:r>
                  <a:rPr lang="en-US" altLang="zh-CN" sz="2400" dirty="0">
                    <a:cs typeface="Times New Roman" panose="02020503050405090304" pitchFamily="18" charset="0"/>
                  </a:rPr>
                  <a:t> is a nonnegative matrix.</a:t>
                </a:r>
                <a:r>
                  <a:rPr lang="en-US" altLang="zh-CN" sz="2400" dirty="0">
                    <a:cs typeface="Times New Roman" panose="02020503050405090304" pitchFamily="18" charset="0"/>
                  </a:rPr>
                  <a:t> Prove the equivalence of the following two conditions:</a:t>
                </a:r>
                <a:endParaRPr lang="en-US" altLang="zh-CN" sz="2400" dirty="0">
                  <a:cs typeface="Times New Roman" panose="02020503050405090304" pitchFamily="18" charset="0"/>
                </a:endParaRPr>
              </a:p>
              <a:p>
                <a:pPr lvl="1" indent="0">
                  <a:buClr>
                    <a:srgbClr val="C00000"/>
                  </a:buClr>
                  <a:buFont typeface="Wingdings" panose="05000000000000000000" pitchFamily="2" charset="2"/>
                  <a:buNone/>
                </a:pPr>
                <a:r>
                  <a:rPr lang="en-US" altLang="zh-CN" sz="2400" dirty="0">
                    <a:cs typeface="Times New Roman" panose="02020503050405090304" pitchFamily="18" charset="0"/>
                    <a:sym typeface="+mn-ea"/>
                  </a:rPr>
                  <a:t>(1)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i="1" dirty="0">
                                <a:latin typeface="DejaVu Math TeX Gyre" panose="02000503000000000000" charset="0"/>
                                <a:cs typeface="DejaVu Math TeX Gyre" panose="02000503000000000000" charset="0"/>
                                <a:sym typeface="+mn-ea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400" i="1" dirty="0">
                                    <a:latin typeface="DejaVu Math TeX Gyre" panose="02000503000000000000" charset="0"/>
                                    <a:cs typeface="DejaVu Math TeX Gyre" panose="02000503000000000000" charset="0"/>
                                    <a:sym typeface="+mn-ea"/>
                                  </a:rPr>
                                </m:ctrlPr>
                              </m:mPr>
                              <m:mr>
                                <m:e>
                                  <m:sSup>
                                    <m:sSupPr>
                                      <m:ctrlPr>
                                        <a:rPr lang="en-US" altLang="zh-CN" sz="2400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  <a:sym typeface="+mn-ea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  <a:sym typeface="+mn-ea"/>
                                        </a:rPr>
                                        <m:t>(</m:t>
                                      </m:r>
                                      <m:r>
                                        <a:rPr lang="en-US" altLang="zh-CN" sz="2400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  <a:sym typeface="+mn-ea"/>
                                        </a:rPr>
                                        <m:t>𝑖</m:t>
                                      </m:r>
                                      <m:r>
                                        <a:rPr lang="en-US" altLang="zh-CN" sz="2400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  <a:sym typeface="+mn-ea"/>
                                        </a:rPr>
                                        <m:t>𝜔</m:t>
                                      </m:r>
                                      <m:r>
                                        <a:rPr lang="en-US" altLang="zh-CN" sz="2400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  <a:sym typeface="+mn-ea"/>
                                        </a:rPr>
                                        <m:t>𝐼</m:t>
                                      </m:r>
                                      <m:r>
                                        <a:rPr lang="en-US" altLang="zh-CN" sz="2400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  <a:sym typeface="+mn-ea"/>
                                        </a:rPr>
                                        <m:t>−</m:t>
                                      </m:r>
                                      <m:r>
                                        <a:rPr lang="en-US" altLang="zh-CN" sz="2400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  <a:sym typeface="+mn-ea"/>
                                        </a:rPr>
                                        <m:t>𝐴</m:t>
                                      </m:r>
                                      <m:r>
                                        <a:rPr lang="en-US" altLang="zh-CN" sz="2400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  <a:sym typeface="+mn-ea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altLang="zh-CN" sz="2400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  <a:sym typeface="+mn-ea"/>
                                        </a:rPr>
                                        <m:t>−</m:t>
                                      </m:r>
                                      <m:r>
                                        <a:rPr lang="en-US" altLang="zh-CN" sz="2400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  <a:sym typeface="+mn-ea"/>
                                        </a:rPr>
                                        <m:t>1</m:t>
                                      </m:r>
                                    </m:sup>
                                  </m:sSup>
                                  <m: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  <m:t>𝐵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  <m:t>𝐼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  <m:t>∗</m:t>
                        </m:r>
                      </m:sup>
                    </m:sSup>
                    <m:r>
                      <m:rPr>
                        <m:sty m:val="p"/>
                      </m:rPr>
                      <a:rPr lang="en-US" altLang="zh-CN" sz="2400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Λ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 dirty="0">
                                <a:latin typeface="DejaVu Math TeX Gyre" panose="02000503000000000000" charset="0"/>
                                <a:cs typeface="DejaVu Math TeX Gyre" panose="02000503000000000000" charset="0"/>
                                <a:sym typeface="+mn-ea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  <m:t>(</m:t>
                                  </m:r>
                                  <m: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  <m:t>𝑖</m:t>
                                  </m:r>
                                  <m: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  <m:t>𝜔</m:t>
                                  </m:r>
                                  <m: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  <m:t>𝐼</m:t>
                                  </m:r>
                                  <m: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  <m:t>−</m:t>
                                  </m:r>
                                  <m: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  <m:t>𝐴</m:t>
                                  </m:r>
                                  <m: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  <m:t>−</m:t>
                                  </m:r>
                                  <m: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altLang="zh-CN" sz="2400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  <a:sym typeface="+mn-ea"/>
                                </a:rPr>
                                <m:t>𝐵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  <a:sym typeface="+mn-ea"/>
                                </a:rPr>
                                <m:t>𝐼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2400" i="1" dirty="0">
                        <a:latin typeface="DejaVu Math TeX Gyre" panose="02000503000000000000" charset="0"/>
                        <a:cs typeface="DejaVu Math TeX Gyre" panose="02000503000000000000" charset="0"/>
                        <a:sym typeface="+mn-ea"/>
                      </a:rPr>
                      <m:t>&lt;</m:t>
                    </m:r>
                    <m:r>
                      <a:rPr lang="en-US" altLang="zh-CN" sz="2400" i="1" dirty="0">
                        <a:latin typeface="DejaVu Math TeX Gyre" panose="02000503000000000000" charset="0"/>
                        <a:cs typeface="DejaVu Math TeX Gyre" panose="02000503000000000000" charset="0"/>
                        <a:sym typeface="+mn-ea"/>
                      </a:rPr>
                      <m:t>0</m:t>
                    </m:r>
                  </m:oMath>
                </a14:m>
                <a:r>
                  <a:rPr lang="en-US" altLang="zh-CN" sz="2400" dirty="0">
                    <a:cs typeface="Times New Roman" panose="02020503050405090304" pitchFamily="18" charset="0"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DejaVu Math TeX Gyre" panose="02000503000000000000" charset="0"/>
                        <a:cs typeface="DejaVu Math TeX Gyre" panose="02000503000000000000" charset="0"/>
                        <a:sym typeface="+mn-ea"/>
                      </a:rPr>
                      <m:t>𝜔</m:t>
                    </m:r>
                    <m:r>
                      <a:rPr lang="en-US" altLang="zh-CN" sz="2400" i="1" dirty="0">
                        <a:latin typeface="DejaVu Math TeX Gyre" panose="02000503000000000000" charset="0"/>
                        <a:cs typeface="DejaVu Math TeX Gyre" panose="02000503000000000000" charset="0"/>
                        <a:sym typeface="+mn-ea"/>
                      </a:rPr>
                      <m:t>∈</m:t>
                    </m:r>
                    <m:r>
                      <a:rPr lang="en-US" altLang="zh-CN" sz="2400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ℝ</m:t>
                    </m:r>
                  </m:oMath>
                </a14:m>
                <a:r>
                  <a:rPr lang="en-US" altLang="zh-CN" sz="2400" dirty="0">
                    <a:cs typeface="Times New Roman" panose="02020503050405090304" pitchFamily="18" charset="0"/>
                  </a:rPr>
                  <a:t>.</a:t>
                </a:r>
                <a:endParaRPr lang="en-US" altLang="zh-CN" sz="2400" dirty="0">
                  <a:cs typeface="Times New Roman" panose="02020503050405090304" pitchFamily="18" charset="0"/>
                </a:endParaRPr>
              </a:p>
              <a:p>
                <a:pPr lvl="1" indent="0">
                  <a:buClr>
                    <a:srgbClr val="C00000"/>
                  </a:buClr>
                  <a:buFont typeface="Wingdings" panose="05000000000000000000" pitchFamily="2" charset="2"/>
                  <a:buNone/>
                </a:pPr>
                <a:r>
                  <a:rPr lang="en-US" altLang="zh-CN" sz="2400" dirty="0">
                    <a:cs typeface="Times New Roman" panose="02020503050405090304" pitchFamily="18" charset="0"/>
                    <a:sym typeface="+mn-ea"/>
                  </a:rPr>
                  <a:t>(2) There exist a diagonal Hermitian matrices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𝑃</m:t>
                    </m:r>
                    <m:r>
                      <a:rPr lang="en-US" altLang="zh-CN" sz="2400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𝛨</m:t>
                        </m:r>
                      </m:e>
                      <m:sup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sz="2400" dirty="0">
                    <a:cs typeface="Times New Roman" panose="02020503050405090304" pitchFamily="18" charset="0"/>
                    <a:sym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𝑃</m:t>
                    </m:r>
                    <m:r>
                      <a:rPr lang="en-US" altLang="zh-CN" sz="2400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&gt;</m:t>
                    </m:r>
                    <m:r>
                      <a:rPr lang="en-US" altLang="zh-CN" sz="2400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0</m:t>
                    </m:r>
                  </m:oMath>
                </a14:m>
                <a:r>
                  <a:rPr lang="en-US" altLang="zh-CN" sz="2400" dirty="0">
                    <a:cs typeface="Times New Roman" panose="02020503050405090304" pitchFamily="18" charset="0"/>
                    <a:sym typeface="+mn-ea"/>
                  </a:rPr>
                  <a:t>, </a:t>
                </a:r>
                <a:r>
                  <a:rPr lang="en-US" altLang="zh-CN" sz="2400" dirty="0">
                    <a:cs typeface="Times New Roman" panose="02020503050405090304" pitchFamily="18" charset="0"/>
                    <a:sym typeface="+mn-ea"/>
                  </a:rPr>
                  <a:t>such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i="1" dirty="0">
                                <a:latin typeface="DejaVu Math TeX Gyre" panose="02000503000000000000" charset="0"/>
                                <a:cs typeface="DejaVu Math TeX Gyre" panose="02000503000000000000" charset="0"/>
                                <a:sym typeface="+mn-ea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400" i="1" dirty="0">
                                    <a:latin typeface="DejaVu Math TeX Gyre" panose="02000503000000000000" charset="0"/>
                                    <a:cs typeface="DejaVu Math TeX Gyre" panose="02000503000000000000" charset="0"/>
                                    <a:sym typeface="+mn-ea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  <m:t>𝐴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DejaVu Math TeX Gyre" panose="02000503000000000000" charset="0"/>
                                    </a:rPr>
                                    <m:t>𝐵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400" i="1">
                                      <a:latin typeface="DejaVu Math TeX Gyre" panose="02000503000000000000" charset="0"/>
                                    </a:rPr>
                                    <m:t>𝐼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DejaVu Math TeX Gyre" panose="02000503000000000000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  <m:t>∗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 dirty="0">
                                <a:latin typeface="DejaVu Math TeX Gyre" panose="02000503000000000000" charset="0"/>
                                <a:cs typeface="DejaVu Math TeX Gyre" panose="02000503000000000000" charset="0"/>
                                <a:sym typeface="+mn-ea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400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  <a:sym typeface="+mn-ea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400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  <a:sym typeface="+mn-ea"/>
                                </a:rPr>
                                <m:t>𝑃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DejaVu Math TeX Gyre" panose="02000503000000000000" charset="0"/>
                                </a:rPr>
                                <m:t>𝑃</m:t>
                              </m:r>
                            </m:e>
                            <m:e>
                              <m:r>
                                <a:rPr lang="en-US" sz="2400" i="1">
                                  <a:latin typeface="DejaVu Math TeX Gyre" panose="02000503000000000000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 dirty="0">
                                <a:latin typeface="DejaVu Math TeX Gyre" panose="02000503000000000000" charset="0"/>
                                <a:cs typeface="DejaVu Math TeX Gyre" panose="02000503000000000000" charset="0"/>
                                <a:sym typeface="+mn-ea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400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  <a:sym typeface="+mn-ea"/>
                                </a:rPr>
                                <m:t>𝐴</m:t>
                              </m:r>
                            </m:e>
                            <m:e>
                              <m:r>
                                <a:rPr lang="en-US" sz="2400" i="1">
                                  <a:latin typeface="DejaVu Math TeX Gyre" panose="02000503000000000000" charset="0"/>
                                </a:rPr>
                                <m:t>𝐵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DejaVu Math TeX Gyre" panose="02000503000000000000" charset="0"/>
                                </a:rPr>
                                <m:t>𝐼</m:t>
                              </m:r>
                            </m:e>
                            <m:e>
                              <m:r>
                                <a:rPr lang="en-US" sz="2400" i="1">
                                  <a:latin typeface="DejaVu Math TeX Gyre" panose="02000503000000000000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2400" dirty="0">
                        <a:latin typeface="DejaVu Math TeX Gyre" panose="02000503000000000000" charset="0"/>
                        <a:cs typeface="Times New Roman" panose="02020503050405090304" pitchFamily="18" charset="0"/>
                        <a:sym typeface="+mn-ea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400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Λ</m:t>
                    </m:r>
                    <m:r>
                      <m:rPr>
                        <m:sty m:val="p"/>
                      </m:rPr>
                      <a:rPr lang="en-US" altLang="zh-CN" sz="2400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Λ</m:t>
                    </m:r>
                    <m:r>
                      <a:rPr lang="en-US" altLang="zh-CN" sz="2400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&lt;</m:t>
                    </m:r>
                    <m:r>
                      <a:rPr lang="en-US" altLang="zh-CN" sz="2400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0</m:t>
                    </m:r>
                  </m:oMath>
                </a14:m>
                <a:r>
                  <a:rPr lang="en-US" altLang="zh-CN" sz="2400" dirty="0">
                    <a:cs typeface="Times New Roman" panose="02020503050405090304" pitchFamily="18" charset="0"/>
                  </a:rPr>
                  <a:t>.</a:t>
                </a:r>
                <a:endParaRPr lang="en-US" altLang="zh-CN" sz="2400" dirty="0">
                  <a:cs typeface="Times New Roman" panose="02020503050405090304" pitchFamily="18" charset="0"/>
                  <a:sym typeface="+mn-ea"/>
                </a:endParaRPr>
              </a:p>
              <a:p>
                <a:pPr lvl="1" indent="0">
                  <a:buClr>
                    <a:srgbClr val="C00000"/>
                  </a:buClr>
                  <a:buFont typeface="Wingdings" panose="05000000000000000000" pitchFamily="2" charset="2"/>
                  <a:buNone/>
                </a:pPr>
                <a:r>
                  <a:rPr lang="en-US" altLang="zh-CN" sz="2400" dirty="0">
                    <a:cs typeface="Times New Roman" panose="02020503050405090304" pitchFamily="18" charset="0"/>
                    <a:sym typeface="+mn-ea"/>
                  </a:rPr>
                  <a:t>(</a:t>
                </a:r>
                <a:r>
                  <a:rPr lang="en-US" altLang="zh-CN" sz="2400" dirty="0">
                    <a:solidFill>
                      <a:srgbClr val="C00000"/>
                    </a:solidFill>
                    <a:cs typeface="Times New Roman" panose="02020503050405090304" pitchFamily="18" charset="0"/>
                    <a:sym typeface="+mn-ea"/>
                  </a:rPr>
                  <a:t>2 Marks</a:t>
                </a:r>
                <a:r>
                  <a:rPr lang="en-US" altLang="zh-CN" sz="2400" dirty="0">
                    <a:cs typeface="Times New Roman" panose="02020503050405090304" pitchFamily="18" charset="0"/>
                    <a:sym typeface="+mn-ea"/>
                  </a:rPr>
                  <a:t>)</a:t>
                </a:r>
                <a:endParaRPr lang="en-US" altLang="zh-CN" sz="2400" dirty="0">
                  <a:cs typeface="Times New Roman" panose="02020503050405090304" pitchFamily="18" charset="0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1844675"/>
                <a:ext cx="8229600" cy="416306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Bonus Problem 1-4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3055" y="1270000"/>
            <a:ext cx="6953885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cs typeface="Times New Roman" panose="02020503050405090304" pitchFamily="18" charset="0"/>
                <a:sym typeface="+mn-ea"/>
              </a:rPr>
              <a:t>Problem Description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539750" y="1844675"/>
                <a:ext cx="8229600" cy="34169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Clr>
                    <a:srgbClr val="C00000"/>
                  </a:buClr>
                  <a:buFont typeface="Wingdings" panose="05000000000000000000" charset="0"/>
                  <a:buChar char=""/>
                </a:pPr>
                <a:r>
                  <a:rPr lang="en-US" altLang="zh-CN" sz="2400" dirty="0">
                    <a:cs typeface="Times New Roman" panose="02020503050405090304" pitchFamily="18" charset="0"/>
                    <a:sym typeface="+mn-ea"/>
                  </a:rPr>
                  <a:t>For Bonus Problem 1-2, when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𝐴</m:t>
                    </m:r>
                  </m:oMath>
                </a14:m>
                <a:r>
                  <a:rPr lang="en-US" altLang="zh-CN" sz="2400" dirty="0">
                    <a:cs typeface="Times New Roman" panose="02020503050405090304" pitchFamily="18" charset="0"/>
                    <a:sym typeface="+mn-ea"/>
                  </a:rPr>
                  <a:t> is a Metzler matrix and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𝐵</m:t>
                    </m:r>
                  </m:oMath>
                </a14:m>
                <a:r>
                  <a:rPr lang="en-US" altLang="zh-CN" sz="2400" dirty="0">
                    <a:cs typeface="Times New Roman" panose="02020503050405090304" pitchFamily="18" charset="0"/>
                    <a:sym typeface="+mn-ea"/>
                  </a:rPr>
                  <a:t> is a nonnegative matrix, please figure out if there is any special structure of the matrices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𝑃</m:t>
                    </m:r>
                    <m:r>
                      <a:rPr lang="en-US" altLang="zh-CN" sz="2400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,</m:t>
                    </m:r>
                    <m:r>
                      <a:rPr lang="en-US" altLang="zh-CN" sz="2400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𝑄</m:t>
                    </m:r>
                  </m:oMath>
                </a14:m>
                <a:r>
                  <a:rPr lang="en-US" altLang="zh-CN" sz="2400" dirty="0">
                    <a:cs typeface="Times New Roman" panose="02020503050405090304" pitchFamily="18" charset="0"/>
                  </a:rPr>
                  <a:t> without introducing conservativeness to the equality  </a:t>
                </a:r>
                <a:endParaRPr lang="en-US" altLang="zh-CN" sz="2400" dirty="0">
                  <a:cs typeface="Times New Roman" panose="02020503050405090304" pitchFamily="18" charset="0"/>
                </a:endParaRPr>
              </a:p>
              <a:p>
                <a:pPr lvl="1" indent="0">
                  <a:buClr>
                    <a:srgbClr val="C00000"/>
                  </a:buClr>
                  <a:buFont typeface="Wingdings" panose="05000000000000000000" pitchFamily="2" charset="2"/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i="1" dirty="0">
                                <a:latin typeface="DejaVu Math TeX Gyre" panose="02000503000000000000" charset="0"/>
                                <a:cs typeface="DejaVu Math TeX Gyre" panose="02000503000000000000" charset="0"/>
                                <a:sym typeface="+mn-ea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400" i="1" dirty="0">
                                    <a:latin typeface="DejaVu Math TeX Gyre" panose="02000503000000000000" charset="0"/>
                                    <a:cs typeface="DejaVu Math TeX Gyre" panose="02000503000000000000" charset="0"/>
                                    <a:sym typeface="+mn-ea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  <m:t>𝐴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DejaVu Math TeX Gyre" panose="02000503000000000000" charset="0"/>
                                    </a:rPr>
                                    <m:t>𝐵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400" i="1">
                                      <a:latin typeface="DejaVu Math TeX Gyre" panose="02000503000000000000" charset="0"/>
                                    </a:rPr>
                                    <m:t>𝐼</m:t>
                                  </m:r>
                                </m:e>
                                <m:e>
                                  <m:r>
                                    <a:rPr lang="en-US" sz="2400" i="1">
                                      <a:latin typeface="DejaVu Math TeX Gyre" panose="02000503000000000000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  <m:t>∗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 dirty="0">
                                <a:latin typeface="DejaVu Math TeX Gyre" panose="02000503000000000000" charset="0"/>
                                <a:cs typeface="DejaVu Math TeX Gyre" panose="02000503000000000000" charset="0"/>
                                <a:sym typeface="+mn-ea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400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  <a:sym typeface="+mn-ea"/>
                                </a:rPr>
                                <m:t>−</m:t>
                              </m:r>
                              <m:r>
                                <a:rPr lang="en-US" altLang="zh-CN" sz="2400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  <a:sym typeface="+mn-ea"/>
                                </a:rPr>
                                <m:t>𝑄</m:t>
                              </m:r>
                            </m:e>
                            <m:e>
                              <m:r>
                                <a:rPr lang="en-US" altLang="zh-CN" sz="2400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  <a:sym typeface="+mn-ea"/>
                                </a:rPr>
                                <m:t>𝑃</m:t>
                              </m:r>
                              <m:r>
                                <a:rPr lang="en-US" altLang="zh-CN" sz="2400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  <a:sym typeface="+mn-ea"/>
                                </a:rPr>
                                <m:t>+</m:t>
                              </m:r>
                              <m:r>
                                <a:rPr lang="en-US" altLang="zh-CN" sz="2400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  <a:sym typeface="+mn-ea"/>
                                </a:rPr>
                                <m:t>𝑖</m:t>
                              </m:r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altLang="zh-CN" sz="2400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  <a:sym typeface="+mn-ea"/>
                                </a:rPr>
                                <m:t>𝑄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DejaVu Math TeX Gyre" panose="02000503000000000000" charset="0"/>
                                </a:rPr>
                                <m:t>𝑃</m:t>
                              </m:r>
                              <m:r>
                                <a:rPr lang="en-US" sz="2400" i="1">
                                  <a:latin typeface="DejaVu Math TeX Gyre" panose="02000503000000000000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DejaVu Math TeX Gyre" panose="02000503000000000000" charset="0"/>
                                </a:rPr>
                                <m:t>𝑖</m:t>
                              </m:r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altLang="zh-CN" sz="2400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  <a:sym typeface="+mn-ea"/>
                                </a:rPr>
                                <m:t>𝑄</m:t>
                              </m:r>
                            </m:e>
                            <m:e>
                              <m:r>
                                <a:rPr lang="en-US" sz="2400" i="1">
                                  <a:latin typeface="DejaVu Math TeX Gyre" panose="02000503000000000000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  <a:sym typeface="+mn-ea"/>
                                </a:rPr>
                                <m:t>𝑄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 dirty="0">
                                <a:latin typeface="DejaVu Math TeX Gyre" panose="02000503000000000000" charset="0"/>
                                <a:cs typeface="DejaVu Math TeX Gyre" panose="02000503000000000000" charset="0"/>
                                <a:sym typeface="+mn-ea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400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  <a:sym typeface="+mn-ea"/>
                                </a:rPr>
                                <m:t>𝐴</m:t>
                              </m:r>
                            </m:e>
                            <m:e>
                              <m:r>
                                <a:rPr lang="en-US" sz="2400" i="1">
                                  <a:latin typeface="DejaVu Math TeX Gyre" panose="02000503000000000000" charset="0"/>
                                </a:rPr>
                                <m:t>𝐵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DejaVu Math TeX Gyre" panose="02000503000000000000" charset="0"/>
                                </a:rPr>
                                <m:t>𝐼</m:t>
                              </m:r>
                            </m:e>
                            <m:e>
                              <m:r>
                                <a:rPr lang="en-US" sz="2400" i="1">
                                  <a:latin typeface="DejaVu Math TeX Gyre" panose="02000503000000000000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400" dirty="0">
                    <a:cs typeface="Times New Roman" panose="02020503050405090304" pitchFamily="18" charset="0"/>
                    <a:sym typeface="+mn-ea"/>
                  </a:rPr>
                  <a:t>+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Λ</m:t>
                    </m:r>
                    <m:r>
                      <a:rPr lang="en-US" altLang="zh-CN" sz="2400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&lt;</m:t>
                    </m:r>
                    <m:r>
                      <a:rPr lang="en-US" altLang="zh-CN" sz="2400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0</m:t>
                    </m:r>
                  </m:oMath>
                </a14:m>
                <a:r>
                  <a:rPr lang="en-US" altLang="zh-CN" sz="2400" dirty="0">
                    <a:cs typeface="Times New Roman" panose="02020503050405090304" pitchFamily="18" charset="0"/>
                    <a:sym typeface="+mn-ea"/>
                  </a:rPr>
                  <a:t>,</a:t>
                </a:r>
                <a:endParaRPr lang="en-US" altLang="zh-CN" sz="2400" dirty="0">
                  <a:cs typeface="Times New Roman" panose="02020503050405090304" pitchFamily="18" charset="0"/>
                  <a:sym typeface="+mn-ea"/>
                </a:endParaRPr>
              </a:p>
              <a:p>
                <a:pPr lvl="1" indent="0">
                  <a:buClr>
                    <a:srgbClr val="C00000"/>
                  </a:buClr>
                  <a:buFont typeface="Wingdings" panose="05000000000000000000" pitchFamily="2" charset="2"/>
                  <a:buNone/>
                </a:pPr>
                <a:r>
                  <a:rPr lang="en-US" altLang="zh-CN" sz="2400" dirty="0">
                    <a:cs typeface="Times New Roman" panose="02020503050405090304" pitchFamily="18" charset="0"/>
                    <a:sym typeface="+mn-ea"/>
                  </a:rPr>
                  <a:t>in condition (2) of Bonus Problem 1-2,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  <m:t>𝜔</m:t>
                        </m:r>
                      </m:e>
                      <m:sub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  <m:t>𝑐</m:t>
                        </m:r>
                      </m:sub>
                    </m:sSub>
                    <m:r>
                      <a:rPr lang="en-US" altLang="zh-CN" sz="2400" i="1" dirty="0">
                        <a:latin typeface="DejaVu Math TeX Gyre" panose="02000503000000000000" charset="0"/>
                        <a:cs typeface="DejaVu Math TeX Gyre" panose="02000503000000000000" charset="0"/>
                        <a:sym typeface="+mn-ea"/>
                      </a:rPr>
                      <m:t>=(</m:t>
                    </m:r>
                    <m:sSub>
                      <m:sSubPr>
                        <m:ctrlP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  <m:t>𝜔</m:t>
                        </m:r>
                      </m:e>
                      <m:sub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  <m:t>1</m:t>
                        </m:r>
                      </m:sub>
                    </m:sSub>
                    <m:r>
                      <a:rPr lang="en-US" altLang="zh-CN" sz="2400" dirty="0">
                        <a:latin typeface="+mj-lt"/>
                        <a:cs typeface="+mj-lt"/>
                        <a:sym typeface="+mn-ea"/>
                      </a:rPr>
                      <m:t>+</m:t>
                    </m:r>
                    <m:sSub>
                      <m:sSubPr>
                        <m:ctrlP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  <m:t>𝜔</m:t>
                        </m:r>
                      </m:e>
                      <m:sub>
                        <m:r>
                          <a:rPr lang="en-US" altLang="zh-CN" sz="2400" i="1" dirty="0">
                            <a:latin typeface="DejaVu Math TeX Gyre" panose="02000503000000000000" charset="0"/>
                            <a:cs typeface="DejaVu Math TeX Gyre" panose="02000503000000000000" charset="0"/>
                            <a:sym typeface="+mn-ea"/>
                          </a:rPr>
                          <m:t>2</m:t>
                        </m:r>
                      </m:sub>
                    </m:sSub>
                    <m:r>
                      <a:rPr lang="en-US" altLang="zh-CN" sz="2400" i="1" dirty="0">
                        <a:latin typeface="DejaVu Math TeX Gyre" panose="02000503000000000000" charset="0"/>
                        <a:cs typeface="DejaVu Math TeX Gyre" panose="02000503000000000000" charset="0"/>
                        <a:sym typeface="+mn-ea"/>
                      </a:rPr>
                      <m:t>)/</m:t>
                    </m:r>
                    <m:r>
                      <a:rPr lang="en-US" altLang="zh-CN" sz="2400" i="1" dirty="0">
                        <a:latin typeface="DejaVu Math TeX Gyre" panose="02000503000000000000" charset="0"/>
                        <a:cs typeface="DejaVu Math TeX Gyre" panose="02000503000000000000" charset="0"/>
                        <a:sym typeface="+mn-ea"/>
                      </a:rPr>
                      <m:t>2</m:t>
                    </m:r>
                  </m:oMath>
                </a14:m>
                <a:r>
                  <a:rPr lang="en-US" altLang="zh-CN" sz="2400" dirty="0">
                    <a:cs typeface="Times New Roman" panose="02020503050405090304" pitchFamily="18" charset="0"/>
                    <a:sym typeface="+mn-ea"/>
                  </a:rPr>
                  <a:t>.</a:t>
                </a:r>
                <a:endParaRPr lang="en-US" altLang="zh-CN" sz="2400" dirty="0">
                  <a:cs typeface="Times New Roman" panose="02020503050405090304" pitchFamily="18" charset="0"/>
                  <a:sym typeface="+mn-ea"/>
                </a:endParaRPr>
              </a:p>
              <a:p>
                <a:pPr lvl="1" indent="0">
                  <a:buClr>
                    <a:srgbClr val="C00000"/>
                  </a:buClr>
                  <a:buFont typeface="Wingdings" panose="05000000000000000000" pitchFamily="2" charset="2"/>
                  <a:buNone/>
                </a:pPr>
                <a:r>
                  <a:rPr lang="en-US" altLang="zh-CN" sz="2400" dirty="0">
                    <a:cs typeface="Times New Roman" panose="02020503050405090304" pitchFamily="18" charset="0"/>
                    <a:sym typeface="+mn-ea"/>
                  </a:rPr>
                  <a:t>(</a:t>
                </a:r>
                <a:r>
                  <a:rPr lang="en-US" altLang="zh-CN" sz="2400" dirty="0">
                    <a:solidFill>
                      <a:srgbClr val="C00000"/>
                    </a:solidFill>
                    <a:cs typeface="Times New Roman" panose="02020503050405090304" pitchFamily="18" charset="0"/>
                    <a:sym typeface="+mn-ea"/>
                  </a:rPr>
                  <a:t>5 Marks</a:t>
                </a:r>
                <a:r>
                  <a:rPr lang="en-US" altLang="zh-CN" sz="2400" dirty="0">
                    <a:cs typeface="Times New Roman" panose="02020503050405090304" pitchFamily="18" charset="0"/>
                    <a:sym typeface="+mn-ea"/>
                  </a:rPr>
                  <a:t>)</a:t>
                </a:r>
                <a:endParaRPr lang="en-US" altLang="zh-CN" sz="2400" dirty="0">
                  <a:cs typeface="Times New Roman" panose="02020503050405090304" pitchFamily="18" charset="0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1844675"/>
                <a:ext cx="8229600" cy="341693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Bonus Problem 1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3055" y="1270000"/>
            <a:ext cx="6953885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cs typeface="Times New Roman" panose="02020503050405090304" pitchFamily="18" charset="0"/>
                <a:sym typeface="+mn-ea"/>
              </a:rPr>
              <a:t>Problem Description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9750" y="1844675"/>
            <a:ext cx="804291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There are </a:t>
            </a:r>
            <a:r>
              <a:rPr lang="en-US" altLang="zh-CN" sz="2400" b="1" dirty="0">
                <a:latin typeface="Times New Roman Bold" panose="02020503050405090304" charset="0"/>
                <a:cs typeface="Times New Roman Bold" panose="02020503050405090304" charset="0"/>
              </a:rPr>
              <a:t>two</a:t>
            </a:r>
            <a:r>
              <a:rPr lang="en-US" altLang="zh-CN" sz="2400" dirty="0">
                <a:cs typeface="Times New Roman" panose="02020503050405090304" pitchFamily="18" charset="0"/>
              </a:rPr>
              <a:t> bonus problems in total for this course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Bonus points will be awarded to the </a:t>
            </a:r>
            <a:r>
              <a:rPr lang="en-US" altLang="zh-CN" sz="2400" b="1" dirty="0">
                <a:latin typeface="Times New Roman Bold" panose="02020503050405090304" charset="0"/>
                <a:cs typeface="Times New Roman Bold" panose="02020503050405090304" charset="0"/>
              </a:rPr>
              <a:t>first eight students</a:t>
            </a:r>
            <a:r>
              <a:rPr lang="en-US" altLang="zh-CN" sz="2400" dirty="0">
                <a:cs typeface="Times New Roman" panose="02020503050405090304" pitchFamily="18" charset="0"/>
              </a:rPr>
              <a:t>  who solve them.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You may work individually or in pairs (</a:t>
            </a:r>
            <a:r>
              <a:rPr lang="en-US" altLang="zh-CN" sz="2400" b="1" dirty="0">
                <a:latin typeface="Times New Roman Bold" panose="02020503050405090304" charset="0"/>
                <a:cs typeface="Times New Roman Bold" panose="02020503050405090304" charset="0"/>
              </a:rPr>
              <a:t>at most two students</a:t>
            </a:r>
            <a:r>
              <a:rPr lang="en-US" altLang="zh-CN" sz="2400" dirty="0">
                <a:cs typeface="Times New Roman" panose="02020503050405090304" pitchFamily="18" charset="0"/>
              </a:rPr>
              <a:t> </a:t>
            </a:r>
            <a:r>
              <a:rPr lang="en-US" altLang="zh-CN" sz="2400" b="1" dirty="0">
                <a:latin typeface="Times New Roman Bold" panose="02020503050405090304" charset="0"/>
                <a:cs typeface="Times New Roman Bold" panose="02020503050405090304" charset="0"/>
              </a:rPr>
              <a:t>per team</a:t>
            </a:r>
            <a:r>
              <a:rPr lang="en-US" altLang="zh-CN" sz="2400" dirty="0">
                <a:cs typeface="Times New Roman" panose="02020503050405090304" pitchFamily="18" charset="0"/>
              </a:rPr>
              <a:t>).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In addition to submitting your solutions, you must attend a </a:t>
            </a:r>
            <a:r>
              <a:rPr lang="en-US" altLang="zh-CN" sz="2400" b="1" dirty="0">
                <a:latin typeface="Times New Roman Bold" panose="02020503050405090304" charset="0"/>
                <a:cs typeface="Times New Roman Bold" panose="02020503050405090304" charset="0"/>
              </a:rPr>
              <a:t>brief interview to explain your methodology</a:t>
            </a:r>
            <a:r>
              <a:rPr lang="en-US" altLang="zh-CN" sz="2400" dirty="0">
                <a:cs typeface="Times New Roman" panose="02020503050405090304" pitchFamily="18" charset="0"/>
              </a:rPr>
              <a:t>.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Wechat Course Group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6315" y="1412875"/>
            <a:ext cx="4323080" cy="479171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"/>
          <p:cNvSpPr txBox="1">
            <a:spLocks noChangeArrowheads="1"/>
          </p:cNvSpPr>
          <p:nvPr/>
        </p:nvSpPr>
        <p:spPr>
          <a:xfrm>
            <a:off x="381000" y="1600200"/>
            <a:ext cx="7863408" cy="11807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endParaRPr lang="en-US" altLang="en-US" dirty="0"/>
          </a:p>
        </p:txBody>
      </p:sp>
      <p:grpSp>
        <p:nvGrpSpPr>
          <p:cNvPr id="2" name="Group 51"/>
          <p:cNvGrpSpPr/>
          <p:nvPr/>
        </p:nvGrpSpPr>
        <p:grpSpPr bwMode="auto">
          <a:xfrm>
            <a:off x="1921063" y="3035779"/>
            <a:ext cx="5301873" cy="786442"/>
            <a:chOff x="1296" y="1824"/>
            <a:chExt cx="2976" cy="432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9999FF"/>
              </a:solidFill>
              <a:round/>
            </a:ln>
            <a:effectLst>
              <a:outerShdw dist="99190" dir="2388334" algn="ctr" rotWithShape="0">
                <a:srgbClr val="DDDDDD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4" name="AutoShape 5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9999FF"/>
            </a:solidFill>
            <a:ln w="25400" algn="ctr">
              <a:solidFill>
                <a:srgbClr val="FFFFFF"/>
              </a:solidFill>
              <a:miter lim="800000"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5" name="Text Box 54"/>
            <p:cNvSpPr txBox="1">
              <a:spLocks noChangeArrowheads="1"/>
            </p:cNvSpPr>
            <p:nvPr/>
          </p:nvSpPr>
          <p:spPr bwMode="gray">
            <a:xfrm>
              <a:off x="1641" y="1898"/>
              <a:ext cx="2525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400" b="1" kern="0" dirty="0">
                  <a:solidFill>
                    <a:srgbClr val="17347D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Complex Numbers</a:t>
              </a:r>
              <a:endParaRPr lang="en-US" altLang="en-US" sz="2400" b="1" kern="0" dirty="0">
                <a:solidFill>
                  <a:srgbClr val="17347D"/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6" name="Text Box 55"/>
            <p:cNvSpPr txBox="1">
              <a:spLocks noChangeArrowheads="1"/>
            </p:cNvSpPr>
            <p:nvPr/>
          </p:nvSpPr>
          <p:spPr bwMode="gray">
            <a:xfrm>
              <a:off x="1409" y="1902"/>
              <a:ext cx="190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en-US" sz="2400" kern="0" dirty="0">
                  <a:solidFill>
                    <a:srgbClr val="FFFFFF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2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089"/>
    </mc:Choice>
    <mc:Fallback>
      <p:transition spd="slow" advTm="16089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Basic Concepts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340768"/>
            <a:ext cx="561662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Why introduce complex numbers </a:t>
            </a:r>
            <a:r>
              <a:rPr lang="en-US" altLang="zh-CN" sz="2800" dirty="0">
                <a:cs typeface="Times New Roman" panose="02020503050405090304" pitchFamily="18" charset="0"/>
              </a:rPr>
              <a:t> </a:t>
            </a:r>
            <a:endParaRPr lang="en-US" altLang="zh-CN" sz="2800" dirty="0"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72828" y="1916574"/>
            <a:ext cx="7056784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No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real</a:t>
            </a:r>
            <a:r>
              <a:rPr lang="en-US" altLang="zh-CN" sz="2400" dirty="0">
                <a:cs typeface="Times New Roman" panose="02020503050405090304" pitchFamily="18" charset="0"/>
              </a:rPr>
              <a:t> solution for equations such as </a:t>
            </a: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                                  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To get a complete number field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To simplify the problem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5" name="图片 4" descr="\documentclass{article}&#10;\usepackage{amsmath}&#10;\pagestyle{empty}&#10;\begin{document}&#10;&#10;$x^2+1=0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012" y="2484428"/>
            <a:ext cx="1369771" cy="276149"/>
          </a:xfrm>
          <a:prstGeom prst="rect">
            <a:avLst/>
          </a:prstGeom>
        </p:spPr>
      </p:pic>
      <p:pic>
        <p:nvPicPr>
          <p:cNvPr id="8" name="图片 7" descr="\documentclass{article}&#10;\usepackage{amsmath}&#10;\pagestyle{empty}&#10;\begin{document}&#10;&#10;$x^2-10x+40=0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012" y="2924944"/>
            <a:ext cx="2368296" cy="276149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Notations and Operations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5223" y="1270284"/>
            <a:ext cx="561662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Basic definition</a:t>
            </a:r>
            <a:endParaRPr lang="en-US" altLang="zh-CN" sz="2800" dirty="0">
              <a:cs typeface="Times New Roman" panose="0202050305040509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11560" y="1844824"/>
            <a:ext cx="7056784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Imaginary number(</a:t>
            </a:r>
            <a:r>
              <a:rPr lang="zh-CN" altLang="en-US" sz="2400" dirty="0">
                <a:cs typeface="Times New Roman" panose="02020503050405090304" pitchFamily="18" charset="0"/>
              </a:rPr>
              <a:t>虚数</a:t>
            </a:r>
            <a:r>
              <a:rPr lang="en-US" altLang="zh-CN" sz="2400" dirty="0">
                <a:cs typeface="Times New Roman" panose="02020503050405090304" pitchFamily="18" charset="0"/>
              </a:rPr>
              <a:t>)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Complex numbers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cs typeface="Times New Roman" panose="02020503050405090304" pitchFamily="18" charset="0"/>
              </a:rPr>
              <a:t>   is called the real part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cs typeface="Times New Roman" panose="02020503050405090304" pitchFamily="18" charset="0"/>
              </a:rPr>
              <a:t>   is called the imaginary part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cs typeface="Times New Roman" panose="02020503050405090304" pitchFamily="18" charset="0"/>
              </a:rPr>
              <a:t>It is called a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pure imaginary </a:t>
            </a:r>
            <a:r>
              <a:rPr lang="en-US" altLang="zh-CN" sz="2400" dirty="0">
                <a:cs typeface="Times New Roman" panose="02020503050405090304" pitchFamily="18" charset="0"/>
              </a:rPr>
              <a:t>if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17" name="图片 16" descr="\documentclass{article}&#10;\usepackage{amsmath}&#10;\pagestyle{empty}&#10;\begin{document}&#10;&#10;$i=\sqrt{-1}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1122" y="2478694"/>
            <a:ext cx="1144829" cy="305410"/>
          </a:xfrm>
          <a:prstGeom prst="rect">
            <a:avLst/>
          </a:prstGeom>
        </p:spPr>
      </p:pic>
      <p:pic>
        <p:nvPicPr>
          <p:cNvPr id="25" name="图片 24" descr="\documentclass{article}&#10;\usepackage{amsmath}&#10;\pagestyle{empty}&#10;\begin{document}&#10;&#10;$z=x+{i}y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1121" y="3552986"/>
            <a:ext cx="1345997" cy="263347"/>
          </a:xfrm>
          <a:prstGeom prst="rect">
            <a:avLst/>
          </a:prstGeom>
        </p:spPr>
      </p:pic>
      <p:pic>
        <p:nvPicPr>
          <p:cNvPr id="18" name="图片 17" descr="\documentclass{article}&#10;\usepackage{amsmath}&#10;\pagestyle{empty}&#10;\begin{document}&#10;&#10;$x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230" y="4231109"/>
            <a:ext cx="151790" cy="135331"/>
          </a:xfrm>
          <a:prstGeom prst="rect">
            <a:avLst/>
          </a:prstGeom>
        </p:spPr>
      </p:pic>
      <p:pic>
        <p:nvPicPr>
          <p:cNvPr id="21" name="图片 20" descr="\documentclass{article}&#10;\usepackage{amsmath}&#10;\pagestyle{empty}&#10;\begin{document}&#10;&#10;$y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374" y="4581128"/>
            <a:ext cx="142646" cy="195681"/>
          </a:xfrm>
          <a:prstGeom prst="rect">
            <a:avLst/>
          </a:prstGeom>
        </p:spPr>
      </p:pic>
      <p:sp>
        <p:nvSpPr>
          <p:cNvPr id="23" name="箭头: 右 22"/>
          <p:cNvSpPr/>
          <p:nvPr/>
        </p:nvSpPr>
        <p:spPr>
          <a:xfrm>
            <a:off x="6012160" y="4611302"/>
            <a:ext cx="792088" cy="1353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箭头: 右 21"/>
          <p:cNvSpPr/>
          <p:nvPr/>
        </p:nvSpPr>
        <p:spPr>
          <a:xfrm>
            <a:off x="5292080" y="4230933"/>
            <a:ext cx="1512168" cy="1353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7" name="图片 26" descr="\documentclass{article}&#10;\usepackage{amsmath}&#10;\pagestyle{empty}&#10;\begin{document}&#10;&#10;&#10;$x={\rm Re}~z$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8264" y="4197689"/>
            <a:ext cx="976884" cy="178308"/>
          </a:xfrm>
          <a:prstGeom prst="rect">
            <a:avLst/>
          </a:prstGeom>
        </p:spPr>
      </p:pic>
      <p:pic>
        <p:nvPicPr>
          <p:cNvPr id="30" name="图片 29" descr="\documentclass{article}&#10;\usepackage{amsmath}&#10;\pagestyle{empty}&#10;\begin{document}&#10;&#10;&#10;$y={\rm Im}~z$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9801" y="4593311"/>
            <a:ext cx="969264" cy="225552"/>
          </a:xfrm>
          <a:prstGeom prst="rect">
            <a:avLst/>
          </a:prstGeom>
        </p:spPr>
      </p:pic>
      <p:pic>
        <p:nvPicPr>
          <p:cNvPr id="4" name="图片 3" descr="\documentclass{article}&#10;\usepackage{amsmath}&#10;\pagestyle{empty}&#10;\begin{document}&#10;&#10;$x=0$&#10;&#10;&#10;\end{document}" title="IguanaTex Bitmap Display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7906" y="4895043"/>
            <a:ext cx="709574" cy="206654"/>
          </a:xfrm>
          <a:prstGeom prst="rect">
            <a:avLst/>
          </a:prstGeom>
        </p:spPr>
      </p:pic>
      <p:sp>
        <p:nvSpPr>
          <p:cNvPr id="5" name="箭头: 右 4"/>
          <p:cNvSpPr/>
          <p:nvPr/>
        </p:nvSpPr>
        <p:spPr>
          <a:xfrm>
            <a:off x="4139952" y="2563733"/>
            <a:ext cx="792088" cy="1353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图片 19" descr="\documentclass{article}&#10;\usepackage{amsmath}&#10;\pagestyle{empty}&#10;\begin{document}&#10;&#10;${i}^2=-1$&#10;&#10;&#10;\end{document}" title="IguanaTex Bitmap Display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4858" y="2478695"/>
            <a:ext cx="1002183" cy="252375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2" grpId="0" animBg="1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5223" y="1270284"/>
            <a:ext cx="561662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cs typeface="Times New Roman" panose="02020503050405090304" pitchFamily="18" charset="0"/>
              </a:rPr>
              <a:t>True or false?</a:t>
            </a:r>
            <a:endParaRPr lang="en-US" altLang="zh-CN" sz="28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 altLang="zh-CN" sz="2800" dirty="0">
              <a:cs typeface="Times New Roman" panose="0202050305040509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11560" y="1844824"/>
            <a:ext cx="705678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The real and imaginary parts of 15 + 9i are 15 and 9?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The imaginary part of a complex number is a pure imaginary number?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Real numbers are a subset of complex numbers?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  is the only square root of        ? 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9" name="图片 8" descr="\documentclass{article}&#10;\usepackage{amsmath}&#10;\pagestyle{empty}&#10;\begin{document}&#10;&#10;&#10;$-1$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588" y="4533026"/>
            <a:ext cx="340157" cy="201168"/>
          </a:xfrm>
          <a:prstGeom prst="rect">
            <a:avLst/>
          </a:prstGeom>
        </p:spPr>
      </p:pic>
      <p:pic>
        <p:nvPicPr>
          <p:cNvPr id="4" name="图片 3" descr="\documentclass{article}&#10;\usepackage{amsmath}&#10;\pagestyle{empty}&#10;\begin{document}&#10;&#10;&#10;$i$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4533026"/>
            <a:ext cx="82296" cy="202997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Notations and Operations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5223" y="1270284"/>
            <a:ext cx="561662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cs typeface="Times New Roman" panose="02020503050405090304" pitchFamily="18" charset="0"/>
              </a:rPr>
              <a:t>For any two complex numbers</a:t>
            </a:r>
            <a:endParaRPr lang="en-US" altLang="zh-CN" sz="28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 altLang="zh-CN" sz="2800" dirty="0">
              <a:cs typeface="Times New Roman" panose="0202050305040509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11560" y="2420888"/>
            <a:ext cx="70567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Addition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Multiplication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37" name="图片 36" descr="\documentclass{article}&#10;\usepackage{amsmath}&#10;\pagestyle{empty}&#10;\begin{document}&#10;&#10;$z_1+z_2=(x_1+x_2)+i(y_1+y_2)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2996952"/>
            <a:ext cx="4167836" cy="305410"/>
          </a:xfrm>
          <a:prstGeom prst="rect">
            <a:avLst/>
          </a:prstGeom>
        </p:spPr>
      </p:pic>
      <p:pic>
        <p:nvPicPr>
          <p:cNvPr id="49" name="图片 48" descr="\documentclass{article}&#10;\usepackage{amsmath}&#10;\pagestyle{empty}&#10;\begin{document}&#10;&#10;\begin{align}&#10;z_1z_2=&amp;(x_1+iy_1)(x_2+iy_2)\nonumber\\&#10;=&amp;x_1x_2-y_1y_2+i(x_1y_2+y_1x_2)\nonumber&#10;\end{align}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2260" y="4300260"/>
            <a:ext cx="4663444" cy="760779"/>
          </a:xfrm>
          <a:prstGeom prst="rect">
            <a:avLst/>
          </a:prstGeom>
        </p:spPr>
      </p:pic>
      <p:pic>
        <p:nvPicPr>
          <p:cNvPr id="41" name="图片 40" descr="\documentclass{article}&#10;\usepackage{amsmath}&#10;\pagestyle{empty}&#10;\begin{document}&#10;&#10;$z_1=x_1+iy_1 ~\text{and}~z_2=x_2+iy_2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1972677"/>
            <a:ext cx="4155034" cy="27432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Notations and Operations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5223" y="1270284"/>
            <a:ext cx="561662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cs typeface="Times New Roman" panose="02020503050405090304" pitchFamily="18" charset="0"/>
              </a:rPr>
              <a:t>For any two complex numbers</a:t>
            </a:r>
            <a:endParaRPr lang="en-US" altLang="zh-CN" sz="28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 altLang="zh-CN" sz="2800" dirty="0">
              <a:cs typeface="Times New Roman" panose="0202050305040509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11560" y="2420888"/>
            <a:ext cx="70567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Subtraction: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Inverse operation </a:t>
            </a:r>
            <a:r>
              <a:rPr lang="en-US" altLang="zh-CN" sz="2400" dirty="0">
                <a:cs typeface="Times New Roman" panose="02020503050405090304" pitchFamily="18" charset="0"/>
              </a:rPr>
              <a:t>of addition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Division: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Inverse operation </a:t>
            </a:r>
            <a:r>
              <a:rPr lang="en-US" altLang="zh-CN" sz="2400" dirty="0">
                <a:cs typeface="Times New Roman" panose="02020503050405090304" pitchFamily="18" charset="0"/>
              </a:rPr>
              <a:t>of multiplication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4" name="图片 3" descr="\documentclass{article}&#10;\usepackage{amsmath}&#10;\pagestyle{empty}&#10;\begin{document}&#10;&#10;$z_1-z_2=(x_1-x_2)+i(y_1-y_2)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2996952"/>
            <a:ext cx="4167836" cy="305410"/>
          </a:xfrm>
          <a:prstGeom prst="rect">
            <a:avLst/>
          </a:prstGeom>
        </p:spPr>
      </p:pic>
      <p:pic>
        <p:nvPicPr>
          <p:cNvPr id="8" name="图片 7" descr="\documentclass{article}&#10;\usepackage{amsmath}&#10;\pagestyle{empty}&#10;\begin{document}&#10;&#10;\begin{align}&#10;\frac{z_1}{z_2}=&amp;\frac{x_1+iy_1}{x_2+iy_2}=\frac{(x_1+iy_1)(x_2-iy_2)}{(x_2+iy_2)(x_2-iy_2)}\nonumber\\&#10;=&amp;\frac{x_1x_2+y_1y_2}{x_2^2+y_2^2}+i\frac{x_2y_1-y_2x_1}{x_2^2+y_2^2}&#10;\end{align}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4077131"/>
            <a:ext cx="7622446" cy="1510585"/>
          </a:xfrm>
          <a:prstGeom prst="rect">
            <a:avLst/>
          </a:prstGeom>
        </p:spPr>
      </p:pic>
      <p:pic>
        <p:nvPicPr>
          <p:cNvPr id="41" name="图片 40" descr="\documentclass{article}&#10;\usepackage{amsmath}&#10;\pagestyle{empty}&#10;\begin{document}&#10;&#10;$z_1=x_1+iy_1 ~\text{and}~z_2=x_2+iy_2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1972677"/>
            <a:ext cx="4155034" cy="27432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5222" y="1270284"/>
            <a:ext cx="772316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cs typeface="Times New Roman" panose="02020503050405090304" pitchFamily="18" charset="0"/>
              </a:rPr>
              <a:t>For                      and                     , calculate their addition, multiplication, subtraction and division </a:t>
            </a:r>
            <a:endParaRPr lang="en-US" altLang="zh-CN" sz="28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 altLang="zh-CN" sz="2800" dirty="0">
              <a:cs typeface="Times New Roman" panose="02020503050405090304" pitchFamily="18" charset="0"/>
            </a:endParaRPr>
          </a:p>
        </p:txBody>
      </p:sp>
      <p:pic>
        <p:nvPicPr>
          <p:cNvPr id="5" name="图片 4" descr="\documentclass{article}&#10;\usepackage{amsmath}&#10;\pagestyle{empty}&#10;\begin{document}&#10;&#10;$z_1=8+3i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1412776"/>
            <a:ext cx="1672742" cy="288036"/>
          </a:xfrm>
          <a:prstGeom prst="rect">
            <a:avLst/>
          </a:prstGeom>
        </p:spPr>
      </p:pic>
      <p:pic>
        <p:nvPicPr>
          <p:cNvPr id="9" name="图片 8" descr="\documentclass{article}&#10;\usepackage{amsmath}&#10;\pagestyle{empty}&#10;\begin{document}&#10;&#10;$z_2=9-2i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20" y="1392021"/>
            <a:ext cx="1672742" cy="288036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83568" y="2348880"/>
            <a:ext cx="705678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Addition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Multiplication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Subtraction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Division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17" name="图片 16" descr="\documentclass{article}&#10;\usepackage{amsmath}&#10;\pagestyle{empty}&#10;\begin{document}&#10;&#10;$z_1+z_2=17+i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816" y="2797771"/>
            <a:ext cx="2083003" cy="252374"/>
          </a:xfrm>
          <a:prstGeom prst="rect">
            <a:avLst/>
          </a:prstGeom>
        </p:spPr>
      </p:pic>
      <p:pic>
        <p:nvPicPr>
          <p:cNvPr id="22" name="图片 21" descr="\documentclass{article}&#10;\usepackage{amsmath}&#10;\pagestyle{empty}&#10;\begin{document}&#10;&#10;$z_1z_2=78+11i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816" y="3592781"/>
            <a:ext cx="2015337" cy="252374"/>
          </a:xfrm>
          <a:prstGeom prst="rect">
            <a:avLst/>
          </a:prstGeom>
        </p:spPr>
      </p:pic>
      <p:pic>
        <p:nvPicPr>
          <p:cNvPr id="24" name="图片 23" descr="\documentclass{article}&#10;\usepackage{amsmath}&#10;\pagestyle{empty}&#10;\begin{document}&#10;&#10;$z_1-z_2=-1+5i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816" y="4314629"/>
            <a:ext cx="2318918" cy="246888"/>
          </a:xfrm>
          <a:prstGeom prst="rect">
            <a:avLst/>
          </a:prstGeom>
        </p:spPr>
      </p:pic>
      <p:pic>
        <p:nvPicPr>
          <p:cNvPr id="4" name="图片 3" descr="\documentclass{article}&#10;\usepackage{amsmath}&#10;\pagestyle{empty}&#10;\begin{document}&#10;&#10;$\frac{z_1}{z_2}=\frac{66}{85}+\frac{43}{85}i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816" y="5105826"/>
            <a:ext cx="1766620" cy="398678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Complex Conjugate Numbers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3055" y="1415415"/>
            <a:ext cx="8220075" cy="1383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cs typeface="Times New Roman" panose="02020503050405090304" pitchFamily="18" charset="0"/>
              </a:rPr>
              <a:t>The complex conjugate of                    is defined by </a:t>
            </a:r>
            <a:endParaRPr lang="en-US" altLang="zh-CN" sz="28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 altLang="zh-CN" sz="28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 altLang="zh-CN" sz="2800" dirty="0">
              <a:cs typeface="Times New Roman" panose="02020503050405090304" pitchFamily="18" charset="0"/>
            </a:endParaRPr>
          </a:p>
        </p:txBody>
      </p:sp>
      <p:pic>
        <p:nvPicPr>
          <p:cNvPr id="3" name="图片 2" descr="\documentclass{article}&#10;\usepackage{amsmath}&#10;\pagestyle{empty}&#10;\begin{document}&#10;&#10;$z=x+iy 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2666" y="1556792"/>
            <a:ext cx="1570330" cy="307238"/>
          </a:xfrm>
          <a:prstGeom prst="rect">
            <a:avLst/>
          </a:prstGeom>
        </p:spPr>
      </p:pic>
      <p:pic>
        <p:nvPicPr>
          <p:cNvPr id="7" name="图片 6" descr="\documentclass{article}&#10;\usepackage{amsmath}&#10;\pagestyle{empty}&#10;\begin{document}&#10;&#10;$\bar{z}=x-iy 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856" y="2420888"/>
            <a:ext cx="1570330" cy="307238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45976" y="2948623"/>
            <a:ext cx="7056784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Notation: Both    and      can represent complex conjugate of  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</p:txBody>
      </p:sp>
      <p:pic>
        <p:nvPicPr>
          <p:cNvPr id="22" name="图片 21" descr="\documentclass{article}&#10;\usepackage{amsmath}&#10;\pagestyle{empty}&#10;\begin{document}&#10;&#10;$\bar{z}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824" y="3106981"/>
            <a:ext cx="137160" cy="179222"/>
          </a:xfrm>
          <a:prstGeom prst="rect">
            <a:avLst/>
          </a:prstGeom>
        </p:spPr>
      </p:pic>
      <p:pic>
        <p:nvPicPr>
          <p:cNvPr id="24" name="图片 23" descr="\documentclass{article}&#10;\usepackage{amsmath}&#10;\pagestyle{empty}&#10;\begin{document}&#10;&#10;${z}^*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9912" y="3074672"/>
            <a:ext cx="248717" cy="210312"/>
          </a:xfrm>
          <a:prstGeom prst="rect">
            <a:avLst/>
          </a:prstGeom>
        </p:spPr>
      </p:pic>
      <p:pic>
        <p:nvPicPr>
          <p:cNvPr id="20" name="图片 19" descr="\documentclass{article}&#10;\usepackage{amsmath}&#10;\pagestyle{empty}&#10;\begin{document}&#10;&#10;&#10;$z$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92" y="3494079"/>
            <a:ext cx="129845" cy="135331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Complex Conjugate Numbers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415561"/>
            <a:ext cx="772316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cs typeface="Times New Roman" panose="02020503050405090304" pitchFamily="18" charset="0"/>
              </a:rPr>
              <a:t>Properties of complex conjugate</a:t>
            </a:r>
            <a:endParaRPr lang="en-US" altLang="zh-CN" sz="2800" dirty="0">
              <a:cs typeface="Times New Roman" panose="0202050305040509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45976" y="2084058"/>
            <a:ext cx="705678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 </a:t>
            </a: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  </a:t>
            </a: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 </a:t>
            </a: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  </a:t>
            </a: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                                     </a:t>
            </a: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</p:txBody>
      </p:sp>
      <p:pic>
        <p:nvPicPr>
          <p:cNvPr id="17" name="图片 16" descr="\documentclass{article}&#10;\usepackage{amsmath}&#10;\pagestyle{empty}&#10;\begin{document}&#10;&#10;$\bar{z}z=[{\rm Re}~z]^2+[{\rm Im}~z]^2=x^2+y^2 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39" y="2585581"/>
            <a:ext cx="4268419" cy="327355"/>
          </a:xfrm>
          <a:prstGeom prst="rect">
            <a:avLst/>
          </a:prstGeom>
        </p:spPr>
      </p:pic>
      <p:pic>
        <p:nvPicPr>
          <p:cNvPr id="30" name="图片 29" descr="\documentclass{article}&#10;\usepackage{amsmath}&#10;\pagestyle{empty}&#10;\begin{document}&#10;&#10;$\overline{z_1+ z_2}=\bar{z}_1+\bar{z}_2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1" y="3294860"/>
            <a:ext cx="2227479" cy="272491"/>
          </a:xfrm>
          <a:prstGeom prst="rect">
            <a:avLst/>
          </a:prstGeom>
        </p:spPr>
      </p:pic>
      <p:pic>
        <p:nvPicPr>
          <p:cNvPr id="35" name="图片 34" descr="\documentclass{article}&#10;\usepackage{amsmath}&#10;\pagestyle{empty}&#10;\begin{document}&#10;&#10;$\overline{z_1- z_2}=\bar{z}_1-\bar{z}_2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1" y="3670380"/>
            <a:ext cx="2227479" cy="272491"/>
          </a:xfrm>
          <a:prstGeom prst="rect">
            <a:avLst/>
          </a:prstGeom>
        </p:spPr>
      </p:pic>
      <p:pic>
        <p:nvPicPr>
          <p:cNvPr id="37" name="图片 36" descr="\documentclass{article}&#10;\usepackage{amsmath}&#10;\pagestyle{empty}&#10;\begin{document}&#10;&#10;$\overline{z_1\cdot z_2}=\bar{z}_1\cdot\bar{z}_2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39" y="4069168"/>
            <a:ext cx="1923898" cy="230429"/>
          </a:xfrm>
          <a:prstGeom prst="rect">
            <a:avLst/>
          </a:prstGeom>
        </p:spPr>
      </p:pic>
      <p:pic>
        <p:nvPicPr>
          <p:cNvPr id="63" name="图片 62" descr="\documentclass{article}&#10;\usepackage{amsmath}&#10;\pagestyle{empty}&#10;\begin{document}&#10;&#10;$\overline{\frac{z_1}{ z_2}}=\frac{\bar{z}_1}{\bar{z}_2}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1" y="4468359"/>
            <a:ext cx="983895" cy="400507"/>
          </a:xfrm>
          <a:prstGeom prst="rect">
            <a:avLst/>
          </a:prstGeom>
        </p:spPr>
      </p:pic>
      <p:sp>
        <p:nvSpPr>
          <p:cNvPr id="40" name="文本框 39"/>
          <p:cNvSpPr txBox="1"/>
          <p:nvPr/>
        </p:nvSpPr>
        <p:spPr>
          <a:xfrm>
            <a:off x="5148064" y="3889223"/>
            <a:ext cx="2088232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+mj-lt"/>
                <a:ea typeface="楷体" panose="02010609060101010101" pitchFamily="49" charset="-122"/>
              </a:rPr>
              <a:t>How to prove?</a:t>
            </a:r>
            <a:endParaRPr lang="zh-CN" altLang="en-US" sz="2400" dirty="0">
              <a:solidFill>
                <a:srgbClr val="FF0000"/>
              </a:solidFill>
              <a:latin typeface="+mj-lt"/>
              <a:ea typeface="楷体" panose="02010609060101010101" pitchFamily="49" charset="-122"/>
            </a:endParaRPr>
          </a:p>
        </p:txBody>
      </p:sp>
      <p:sp>
        <p:nvSpPr>
          <p:cNvPr id="41" name="箭头: 右 40"/>
          <p:cNvSpPr/>
          <p:nvPr/>
        </p:nvSpPr>
        <p:spPr>
          <a:xfrm>
            <a:off x="4067944" y="3996323"/>
            <a:ext cx="792088" cy="2880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4" name="图片 53" descr="\documentclass{article}&#10;\usepackage{amsmath}&#10;\pagestyle{empty}&#10;\begin{document}&#10;&#10;$\frac{z+\bar{z}}{2}={\rm Re}~z=x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715" y="5087362"/>
            <a:ext cx="2057400" cy="356615"/>
          </a:xfrm>
          <a:prstGeom prst="rect">
            <a:avLst/>
          </a:prstGeom>
        </p:spPr>
      </p:pic>
      <p:pic>
        <p:nvPicPr>
          <p:cNvPr id="57" name="图片 56" descr="\documentclass{article}&#10;\usepackage{amsmath}&#10;\pagestyle{empty}&#10;\begin{document}&#10;&#10;$\frac{z-\bar{z}}{2i}={\rm Im}~z=y$&#10;&#10;&#10;\end{document}" title="IguanaTex Bitmap Display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39" y="5605310"/>
            <a:ext cx="2053742" cy="352957"/>
          </a:xfrm>
          <a:prstGeom prst="rect">
            <a:avLst/>
          </a:prstGeom>
        </p:spPr>
      </p:pic>
      <p:pic>
        <p:nvPicPr>
          <p:cNvPr id="60" name="图片 59" descr="\documentclass{article}&#10;\usepackage{amsmath}&#10;\pagestyle{empty}&#10;\begin{document}&#10;&#10;$\bar{\bar{z}}=z $&#10;&#10;&#10;\end{document}" title="IguanaTex Bitmap Display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219" y="2181447"/>
            <a:ext cx="689458" cy="221285"/>
          </a:xfrm>
          <a:prstGeom prst="rect">
            <a:avLst/>
          </a:prstGeom>
        </p:spPr>
      </p:pic>
      <p:sp>
        <p:nvSpPr>
          <p:cNvPr id="61" name="文本框 60"/>
          <p:cNvSpPr txBox="1"/>
          <p:nvPr/>
        </p:nvSpPr>
        <p:spPr>
          <a:xfrm>
            <a:off x="4651847" y="5005145"/>
            <a:ext cx="3168352" cy="120032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The complex conjugate permits us to </a:t>
            </a:r>
            <a:r>
              <a:rPr lang="en-US" altLang="zh-CN" sz="2400" dirty="0">
                <a:solidFill>
                  <a:srgbClr val="FF0000"/>
                </a:solidFill>
              </a:rPr>
              <a:t>switch from complex to real</a:t>
            </a:r>
            <a:endParaRPr lang="zh-CN" altLang="en-US" sz="3200" dirty="0">
              <a:solidFill>
                <a:srgbClr val="FF0000"/>
              </a:solidFill>
              <a:latin typeface="+mj-lt"/>
              <a:ea typeface="楷体" panose="02010609060101010101" pitchFamily="49" charset="-122"/>
            </a:endParaRPr>
          </a:p>
        </p:txBody>
      </p:sp>
    </p:spTree>
    <p:custDataLst>
      <p:tags r:id="rId1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bldLvl="0" animBg="1"/>
      <p:bldP spid="41" grpId="0" bldLvl="0" animBg="1"/>
      <p:bldP spid="61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5222" y="1270284"/>
            <a:ext cx="772316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cs typeface="Times New Roman" panose="02020503050405090304" pitchFamily="18" charset="0"/>
              </a:rPr>
              <a:t>For                      and                        , calculate      and  </a:t>
            </a:r>
            <a:endParaRPr lang="en-US" altLang="zh-CN" sz="2800" dirty="0">
              <a:cs typeface="Times New Roman" panose="02020503050405090304" pitchFamily="18" charset="0"/>
            </a:endParaRPr>
          </a:p>
        </p:txBody>
      </p:sp>
      <p:pic>
        <p:nvPicPr>
          <p:cNvPr id="4" name="图片 3" descr="\documentclass{article}&#10;\usepackage{amsmath}&#10;\pagestyle{empty}&#10;\begin{document}&#10;&#10;$z_1=5-5i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1412776"/>
            <a:ext cx="1672742" cy="288036"/>
          </a:xfrm>
          <a:prstGeom prst="rect">
            <a:avLst/>
          </a:prstGeom>
        </p:spPr>
      </p:pic>
      <p:pic>
        <p:nvPicPr>
          <p:cNvPr id="7" name="图片 6" descr="\documentclass{article}&#10;\usepackage{amsmath}&#10;\pagestyle{empty}&#10;\begin{document}&#10;&#10;$z_2=-3+4i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20" y="1392021"/>
            <a:ext cx="1947976" cy="290170"/>
          </a:xfrm>
          <a:prstGeom prst="rect">
            <a:avLst/>
          </a:prstGeom>
        </p:spPr>
      </p:pic>
      <p:pic>
        <p:nvPicPr>
          <p:cNvPr id="20" name="图片 19" descr="\documentclass{article}&#10;\usepackage{amsmath}&#10;\pagestyle{empty}&#10;\begin{document}&#10;&#10;&#10;$\frac{ {z}_1}{ {z}_2}$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1350901"/>
            <a:ext cx="275234" cy="411785"/>
          </a:xfrm>
          <a:prstGeom prst="rect">
            <a:avLst/>
          </a:prstGeom>
        </p:spPr>
      </p:pic>
      <p:pic>
        <p:nvPicPr>
          <p:cNvPr id="18" name="图片 17" descr="\documentclass{article}&#10;\usepackage{amsmath}&#10;\pagestyle{empty}&#10;\begin{document}&#10;&#10;&#10;$\frac{\bar{z}_1}{\bar{z}_2}$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1779951"/>
            <a:ext cx="275234" cy="450190"/>
          </a:xfrm>
          <a:prstGeom prst="rect">
            <a:avLst/>
          </a:prstGeom>
        </p:spPr>
      </p:pic>
      <p:pic>
        <p:nvPicPr>
          <p:cNvPr id="15" name="图片 14" descr="\documentclass{article}&#10;\usepackage{amsmath}&#10;\pagestyle{empty}&#10;\begin{document}&#10;&#10;\begin{align}&#10;(1)~~~~~~\frac{z_1}{z_2} &amp; =\frac{5-5 i}{-3+4 i}=\frac{(5-5 i)(-3-4 i)}{(-3+4 i)(-3-4 i)} \nonumber\\&#10;&amp; =\frac{-35-5 i}{25}=-\frac{7}{5}-\frac{1}{5} i\nonumber&#10;\end{align}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5" y="2485299"/>
            <a:ext cx="5753405" cy="1459382"/>
          </a:xfrm>
          <a:prstGeom prst="rect">
            <a:avLst/>
          </a:prstGeom>
        </p:spPr>
      </p:pic>
      <p:pic>
        <p:nvPicPr>
          <p:cNvPr id="17" name="图片 16" descr="\documentclass{article}&#10;\usepackage{amsmath}&#10;\pagestyle{empty}&#10;\begin{document}&#10;&#10;&#10;$(2)~~~~~~\frac{\bar{z}_1}{\bar{z}_2}=\overline{\left(\frac{z_1}{z_2}\right)}=-\frac{7}{5}+\frac{1}{5} i$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5" y="4581128"/>
            <a:ext cx="3836822" cy="596189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5222" y="1270284"/>
            <a:ext cx="772316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cs typeface="Times New Roman" panose="02020503050405090304" pitchFamily="18" charset="0"/>
              </a:rPr>
              <a:t>Prove that</a:t>
            </a:r>
            <a:endParaRPr lang="en-US" altLang="zh-CN" sz="28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800" dirty="0">
                <a:cs typeface="Times New Roman" panose="02020503050405090304" pitchFamily="18" charset="0"/>
              </a:rPr>
              <a:t> </a:t>
            </a:r>
            <a:endParaRPr lang="en-US" altLang="zh-CN" sz="2800" dirty="0">
              <a:cs typeface="Times New Roman" panose="02020503050405090304" pitchFamily="18" charset="0"/>
            </a:endParaRPr>
          </a:p>
        </p:txBody>
      </p:sp>
      <p:pic>
        <p:nvPicPr>
          <p:cNvPr id="10" name="图片 9" descr="\documentclass{article}&#10;\usepackage{amsmath}&#10;\pagestyle{empty}&#10;\begin{document}&#10;&#10;$\bar{z_1}z_2+z_1\bar{z_2}=2{\rm Re}(z_1\bar{z_2})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2974" y="1387274"/>
            <a:ext cx="3667656" cy="356311"/>
          </a:xfrm>
          <a:prstGeom prst="rect">
            <a:avLst/>
          </a:prstGeom>
        </p:spPr>
      </p:pic>
      <p:pic>
        <p:nvPicPr>
          <p:cNvPr id="19" name="图片 18" descr="\documentclass{article}&#10;\usepackage{amsmath}&#10;\pagestyle{empty}&#10;\begin{document}&#10;&#10;\begin{align}&#10;\bar{z_1}z_2+z_1\bar{z_2}=\ &amp;\bar{z_1}\bar{\bar{z_2}}+z_1\bar{z_2}\nonumber\\&#10;=\ &amp;\overline{z_1\bar{z_2}}+z_1\bar{z_2}\nonumber\\&#10;=\ &amp;2{\rm Re}(z_1\bar{z_2})\nonumber&#10;\end{align}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2341381"/>
            <a:ext cx="3898084" cy="1408173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Other Properties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5222" y="1270284"/>
            <a:ext cx="642701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cs typeface="Times New Roman" panose="02020503050405090304" pitchFamily="18" charset="0"/>
              </a:rPr>
              <a:t>Properties of complex numbers</a:t>
            </a:r>
            <a:endParaRPr lang="en-US" altLang="zh-CN" sz="28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 altLang="zh-CN" sz="2800" dirty="0">
              <a:cs typeface="Times New Roman" panose="0202050305040509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11560" y="1876163"/>
            <a:ext cx="705678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The complex numbers can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NOT </a:t>
            </a:r>
            <a:r>
              <a:rPr lang="en-US" altLang="zh-CN" sz="2400" dirty="0">
                <a:cs typeface="Times New Roman" panose="02020503050405090304" pitchFamily="18" charset="0"/>
              </a:rPr>
              <a:t>be compared!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Complex equation: one complex equation equals two real equations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4" name="图片 3" descr="\documentclass{article}&#10;\usepackage{amsmath}&#10;\pagestyle{empty}&#10;\begin{document}&#10;&#10;$z_1&lt;z_2, z_1&gt;z_2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2610805"/>
            <a:ext cx="2013509" cy="224942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2699792" y="2542435"/>
            <a:ext cx="2262079" cy="363975"/>
            <a:chOff x="4355976" y="1916832"/>
            <a:chExt cx="3960440" cy="579111"/>
          </a:xfrm>
        </p:grpSpPr>
        <p:cxnSp>
          <p:nvCxnSpPr>
            <p:cNvPr id="8" name="直线连接符 18"/>
            <p:cNvCxnSpPr/>
            <p:nvPr/>
          </p:nvCxnSpPr>
          <p:spPr>
            <a:xfrm>
              <a:off x="4355976" y="1916832"/>
              <a:ext cx="3960440" cy="57606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线连接符 21"/>
            <p:cNvCxnSpPr/>
            <p:nvPr/>
          </p:nvCxnSpPr>
          <p:spPr>
            <a:xfrm flipV="1">
              <a:off x="4355976" y="1939558"/>
              <a:ext cx="3960440" cy="5563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矩形 6"/>
            <p:cNvSpPr/>
            <p:nvPr/>
          </p:nvSpPr>
          <p:spPr>
            <a:xfrm>
              <a:off x="4355976" y="1916832"/>
              <a:ext cx="3960440" cy="57606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3" name="TextBox 14 2"/>
          <p:cNvSpPr txBox="1"/>
          <p:nvPr/>
        </p:nvSpPr>
        <p:spPr>
          <a:xfrm>
            <a:off x="5799597" y="2534016"/>
            <a:ext cx="1284194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Ill-defined!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16" name="图片 15" descr="\documentclass{article}&#10;\usepackage{amsmath}&#10;\pagestyle{empty}&#10;\begin{document}&#10;&#10;$z_1=z_2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768" y="4419509"/>
            <a:ext cx="918058" cy="179222"/>
          </a:xfrm>
          <a:prstGeom prst="rect">
            <a:avLst/>
          </a:prstGeom>
        </p:spPr>
      </p:pic>
      <p:sp>
        <p:nvSpPr>
          <p:cNvPr id="17" name="箭头: 左右 16"/>
          <p:cNvSpPr/>
          <p:nvPr/>
        </p:nvSpPr>
        <p:spPr>
          <a:xfrm>
            <a:off x="3633182" y="4365104"/>
            <a:ext cx="1224135" cy="28803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图片 19" descr="\documentclass{article}&#10;\usepackage{amsmath}&#10;\pagestyle{empty}&#10;\begin{document}&#10;&#10;$x_1=x_2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355" y="4275493"/>
            <a:ext cx="987552" cy="179222"/>
          </a:xfrm>
          <a:prstGeom prst="rect">
            <a:avLst/>
          </a:prstGeom>
        </p:spPr>
      </p:pic>
      <p:pic>
        <p:nvPicPr>
          <p:cNvPr id="23" name="图片 22" descr="\documentclass{article}&#10;\usepackage{amsmath}&#10;\pagestyle{empty}&#10;\begin{document}&#10;&#10;$y_1=y_2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355" y="4569190"/>
            <a:ext cx="938174" cy="195681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343050" y="2492896"/>
            <a:ext cx="705678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Since                                                , it equals the following two real equations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The first equation implies that             or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Substituting these into the second equation gives: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Noting that     is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real</a:t>
            </a:r>
            <a:r>
              <a:rPr lang="en-US" altLang="zh-CN" sz="2400" dirty="0">
                <a:cs typeface="Times New Roman" panose="02020503050405090304" pitchFamily="18" charset="0"/>
              </a:rPr>
              <a:t>, the second one is thus impossible 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5222" y="1270284"/>
            <a:ext cx="772316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cs typeface="Times New Roman" panose="02020503050405090304" pitchFamily="18" charset="0"/>
              </a:rPr>
              <a:t>Find     and     such that  </a:t>
            </a:r>
            <a:endParaRPr lang="en-US" altLang="zh-CN" sz="2800" dirty="0">
              <a:cs typeface="Times New Roman" panose="02020503050405090304" pitchFamily="18" charset="0"/>
            </a:endParaRPr>
          </a:p>
        </p:txBody>
      </p:sp>
      <p:pic>
        <p:nvPicPr>
          <p:cNvPr id="4" name="图片 3" descr="\documentclass{article}&#10;\usepackage{amsmath}&#10;\pagestyle{empty}&#10;\begin{document}&#10;&#10;$x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1492595"/>
            <a:ext cx="177089" cy="157886"/>
          </a:xfrm>
          <a:prstGeom prst="rect">
            <a:avLst/>
          </a:prstGeom>
        </p:spPr>
      </p:pic>
      <p:pic>
        <p:nvPicPr>
          <p:cNvPr id="8" name="图片 7" descr="\documentclass{article}&#10;\usepackage{amsmath}&#10;\pagestyle{empty}&#10;\begin{document}&#10;&#10;$y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768" y="1486059"/>
            <a:ext cx="166421" cy="228295"/>
          </a:xfrm>
          <a:prstGeom prst="rect">
            <a:avLst/>
          </a:prstGeom>
        </p:spPr>
      </p:pic>
      <p:pic>
        <p:nvPicPr>
          <p:cNvPr id="13" name="图片 12" descr="\documentclass{article}&#10;\usepackage{amsmath}&#10;\pagestyle{empty}&#10;\begin{document}&#10;&#10;$(x+i y)^2=2 i.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8137" y="1988840"/>
            <a:ext cx="2182673" cy="381914"/>
          </a:xfrm>
          <a:prstGeom prst="rect">
            <a:avLst/>
          </a:prstGeom>
        </p:spPr>
      </p:pic>
      <p:pic>
        <p:nvPicPr>
          <p:cNvPr id="19" name="图片 18" descr="\documentclass{article}&#10;\usepackage{amsmath}&#10;\pagestyle{empty}&#10;\begin{document}&#10;&#10;&#10;$(x+i y)^2=x^2+2 i x y-y^2$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6208" y="2561728"/>
            <a:ext cx="3465576" cy="327355"/>
          </a:xfrm>
          <a:prstGeom prst="rect">
            <a:avLst/>
          </a:prstGeom>
        </p:spPr>
      </p:pic>
      <p:pic>
        <p:nvPicPr>
          <p:cNvPr id="23" name="图片 22" descr="\documentclass{article}&#10;\usepackage{amsmath}&#10;\pagestyle{empty}&#10;\begin{document}&#10;&#10;$\begin{array}{r}&#10;x^2-y^2=0 \\&#10;2 x y=2 .&#10;\end{array}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856" y="3506823"/>
            <a:ext cx="1514246" cy="676656"/>
          </a:xfrm>
          <a:prstGeom prst="rect">
            <a:avLst/>
          </a:prstGeom>
        </p:spPr>
      </p:pic>
      <p:pic>
        <p:nvPicPr>
          <p:cNvPr id="25" name="图片 24" descr="\documentclass{article}&#10;\usepackage{amsmath}&#10;\pagestyle{empty}&#10;\begin{document}&#10;&#10;$y=x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968" y="4505944"/>
            <a:ext cx="718718" cy="195682"/>
          </a:xfrm>
          <a:prstGeom prst="rect">
            <a:avLst/>
          </a:prstGeom>
        </p:spPr>
      </p:pic>
      <p:pic>
        <p:nvPicPr>
          <p:cNvPr id="28" name="图片 27" descr="\documentclass{article}&#10;\usepackage{amsmath}&#10;\pagestyle{empty}&#10;\begin{document}&#10;&#10;$y=-x$&#10;&#10;&#10;\end{document}" title="IguanaTex Bitmap Display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105" y="4505944"/>
            <a:ext cx="954633" cy="195682"/>
          </a:xfrm>
          <a:prstGeom prst="rect">
            <a:avLst/>
          </a:prstGeom>
        </p:spPr>
      </p:pic>
      <p:pic>
        <p:nvPicPr>
          <p:cNvPr id="30" name="图片 29" descr="\documentclass{article}&#10;\usepackage{amsmath}&#10;\pagestyle{empty}&#10;\begin{document}&#10;&#10;&#10;$2 x^2=2 \quad \text { or } \quad-2 x^2=2$&#10;&#10;\end{document}" title="IguanaTex Bitmap Display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3848" y="5171371"/>
            <a:ext cx="3458261" cy="252374"/>
          </a:xfrm>
          <a:prstGeom prst="rect">
            <a:avLst/>
          </a:prstGeom>
        </p:spPr>
      </p:pic>
      <p:pic>
        <p:nvPicPr>
          <p:cNvPr id="31" name="图片 30" descr="\documentclass{article}&#10;\usepackage{amsmath}&#10;\pagestyle{empty}&#10;\begin{document}&#10;&#10;$x$&#10;&#10;&#10;\end{document}" title="IguanaTex Bitmap Display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5587716"/>
            <a:ext cx="177089" cy="157886"/>
          </a:xfrm>
          <a:prstGeom prst="rect">
            <a:avLst/>
          </a:prstGeom>
        </p:spPr>
      </p:pic>
      <p:pic>
        <p:nvPicPr>
          <p:cNvPr id="33" name="图片 32" descr="\documentclass{article}&#10;\usepackage{amsmath}&#10;\pagestyle{empty}&#10;\begin{document}&#10;&#10;$x=y=1 \quad \text { and } \quad x=y=-1$&#10;&#10;&#10;\end{document}" title="IguanaTex Bitmap Display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4793" y="5991682"/>
            <a:ext cx="4091026" cy="274320"/>
          </a:xfrm>
          <a:prstGeom prst="rect">
            <a:avLst/>
          </a:prstGeom>
        </p:spPr>
      </p:pic>
      <p:sp>
        <p:nvSpPr>
          <p:cNvPr id="34" name="箭头: 右 33"/>
          <p:cNvSpPr/>
          <p:nvPr/>
        </p:nvSpPr>
        <p:spPr>
          <a:xfrm>
            <a:off x="971600" y="6061176"/>
            <a:ext cx="792088" cy="1353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custDataLst>
      <p:tags r:id="rId2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Ordered Pairs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5222" y="1270284"/>
            <a:ext cx="642701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cs typeface="Times New Roman" panose="02020503050405090304" pitchFamily="18" charset="0"/>
              </a:rPr>
              <a:t>The complex number                     can be also defined as an ordered pair </a:t>
            </a:r>
            <a:endParaRPr lang="en-US" altLang="zh-CN" sz="28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 altLang="zh-CN" sz="2800" dirty="0">
              <a:cs typeface="Times New Roman" panose="0202050305040509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11560" y="2708920"/>
            <a:ext cx="705678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Addition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Multiplication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6" name="图片 5" descr="\documentclass{article}&#10;\usepackage{amsmath}&#10;\pagestyle{empty}&#10;\begin{document}&#10;&#10;$z=x+iy 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3928" y="1430473"/>
            <a:ext cx="1570330" cy="307238"/>
          </a:xfrm>
          <a:prstGeom prst="rect">
            <a:avLst/>
          </a:prstGeom>
        </p:spPr>
      </p:pic>
      <p:pic>
        <p:nvPicPr>
          <p:cNvPr id="9" name="图片 8" descr="\documentclass{article}&#10;\usepackage{amsmath}&#10;\pagestyle{empty}&#10;\begin{document}&#10;&#10;$z=(x,y) 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1305" y="2325388"/>
            <a:ext cx="1425245" cy="356311"/>
          </a:xfrm>
          <a:prstGeom prst="rect">
            <a:avLst/>
          </a:prstGeom>
        </p:spPr>
      </p:pic>
      <p:pic>
        <p:nvPicPr>
          <p:cNvPr id="27" name="图片 26" descr="\documentclass{article}&#10;\usepackage{amsmath}&#10;\pagestyle{empty}&#10;\begin{document}&#10;&#10;\begin{align}&#10;z_1+z_2=&amp;(x_1,y_1)+(x_2,y_2)\nonumber\\&#10;=&amp;(x_1+x_2,y_1+y_2)\nonumber&#10;\end{align}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3333133"/>
            <a:ext cx="3505810" cy="760782"/>
          </a:xfrm>
          <a:prstGeom prst="rect">
            <a:avLst/>
          </a:prstGeom>
        </p:spPr>
      </p:pic>
      <p:pic>
        <p:nvPicPr>
          <p:cNvPr id="29" name="图片 28" descr="\documentclass{article}&#10;\usepackage{amsmath}&#10;\pagestyle{empty}&#10;\begin{document}&#10;&#10;\begin{align}&#10;z_1z_2=&amp;(x_1,y_1)\cdot(x_2,y_2)\nonumber\\&#10;=&amp;(x_1x_2-y_1y_2, x_1y_2+x_2y_1)\nonumber&#10;\end{align}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1" y="4797152"/>
            <a:ext cx="4323285" cy="760782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Exercise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415561"/>
            <a:ext cx="772316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cs typeface="Times New Roman" panose="02020503050405090304" pitchFamily="18" charset="0"/>
              </a:rPr>
              <a:t>Write              in the form of  </a:t>
            </a:r>
            <a:endParaRPr lang="en-US" altLang="zh-CN" sz="28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 altLang="zh-CN" sz="28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cs typeface="Times New Roman" panose="02020503050405090304" pitchFamily="18" charset="0"/>
              </a:rPr>
              <a:t>Re-express                             in the form of            , and then calculate the result</a:t>
            </a:r>
            <a:endParaRPr lang="en-US" altLang="zh-CN" sz="28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 altLang="zh-CN" sz="2800" dirty="0">
              <a:cs typeface="Times New Roman" panose="02020503050405090304" pitchFamily="18" charset="0"/>
            </a:endParaRPr>
          </a:p>
        </p:txBody>
      </p:sp>
      <p:pic>
        <p:nvPicPr>
          <p:cNvPr id="4" name="图片 3" descr="\documentclass{article}&#10;\usepackage{amsmath}&#10;\pagestyle{empty}&#10;\begin{document}&#10;&#10;&#10;$(0,-5)$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1556792"/>
            <a:ext cx="994258" cy="356311"/>
          </a:xfrm>
          <a:prstGeom prst="rect">
            <a:avLst/>
          </a:prstGeom>
        </p:spPr>
      </p:pic>
      <p:pic>
        <p:nvPicPr>
          <p:cNvPr id="8" name="图片 7" descr="\documentclass{article}&#10;\usepackage{amsmath}&#10;\pagestyle{empty}&#10;\begin{document}&#10;&#10;&#10;$x+iy$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1556792"/>
            <a:ext cx="921716" cy="307238"/>
          </a:xfrm>
          <a:prstGeom prst="rect">
            <a:avLst/>
          </a:prstGeom>
        </p:spPr>
      </p:pic>
      <p:pic>
        <p:nvPicPr>
          <p:cNvPr id="14" name="图片 13" descr="\documentclass{article}&#10;\usepackage{amsmath}&#10;\pagestyle{empty}&#10;\begin{document}&#10;&#10;&#10;$(1,-3)\cdot(9,-2)$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2420888"/>
            <a:ext cx="2310690" cy="356311"/>
          </a:xfrm>
          <a:prstGeom prst="rect">
            <a:avLst/>
          </a:prstGeom>
        </p:spPr>
      </p:pic>
      <p:pic>
        <p:nvPicPr>
          <p:cNvPr id="15" name="图片 14" descr="\documentclass{article}&#10;\usepackage{amsmath}&#10;\pagestyle{empty}&#10;\begin{document}&#10;&#10;&#10;$x+iy$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2" y="2404939"/>
            <a:ext cx="921716" cy="307238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"/>
          <p:cNvSpPr txBox="1">
            <a:spLocks noChangeArrowheads="1"/>
          </p:cNvSpPr>
          <p:nvPr/>
        </p:nvSpPr>
        <p:spPr>
          <a:xfrm>
            <a:off x="381000" y="1600200"/>
            <a:ext cx="7863408" cy="11807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endParaRPr lang="en-US" altLang="en-US" dirty="0"/>
          </a:p>
        </p:txBody>
      </p:sp>
      <p:grpSp>
        <p:nvGrpSpPr>
          <p:cNvPr id="2" name="Group 51"/>
          <p:cNvGrpSpPr/>
          <p:nvPr/>
        </p:nvGrpSpPr>
        <p:grpSpPr bwMode="auto">
          <a:xfrm>
            <a:off x="1921063" y="3035779"/>
            <a:ext cx="5301873" cy="786442"/>
            <a:chOff x="1296" y="1824"/>
            <a:chExt cx="2976" cy="432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FF0000"/>
              </a:solidFill>
              <a:round/>
            </a:ln>
            <a:effectLst>
              <a:outerShdw dist="99190" dir="2388334" algn="ctr" rotWithShape="0">
                <a:srgbClr val="DDDDDD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90204" pitchFamily="34" charset="0"/>
              </a:endParaRPr>
            </a:p>
          </p:txBody>
        </p:sp>
        <p:sp>
          <p:nvSpPr>
            <p:cNvPr id="4" name="AutoShape 5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FF0000"/>
            </a:solidFill>
            <a:ln w="25400" algn="ctr">
              <a:solidFill>
                <a:srgbClr val="FFFFFF"/>
              </a:solidFill>
              <a:miter lim="800000"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90204" pitchFamily="34" charset="0"/>
              </a:endParaRPr>
            </a:p>
          </p:txBody>
        </p:sp>
        <p:sp>
          <p:nvSpPr>
            <p:cNvPr id="5" name="Text Box 54"/>
            <p:cNvSpPr txBox="1">
              <a:spLocks noChangeArrowheads="1"/>
            </p:cNvSpPr>
            <p:nvPr/>
          </p:nvSpPr>
          <p:spPr bwMode="gray">
            <a:xfrm>
              <a:off x="1747" y="1902"/>
              <a:ext cx="2525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400" b="1" kern="0" dirty="0">
                  <a:solidFill>
                    <a:srgbClr val="17347D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Geometric Representation</a:t>
              </a:r>
              <a:endParaRPr lang="en-US" altLang="en-US" sz="2400" b="1" kern="0" dirty="0">
                <a:solidFill>
                  <a:srgbClr val="17347D"/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6" name="Text Box 55"/>
            <p:cNvSpPr txBox="1">
              <a:spLocks noChangeArrowheads="1"/>
            </p:cNvSpPr>
            <p:nvPr/>
          </p:nvSpPr>
          <p:spPr bwMode="gray">
            <a:xfrm>
              <a:off x="1403" y="1902"/>
              <a:ext cx="202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90204" pitchFamily="34" charset="0"/>
                </a:rPr>
                <a:t>3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819"/>
    </mc:Choice>
    <mc:Fallback>
      <p:transition spd="slow" advTm="5819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Complex Plane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415561"/>
            <a:ext cx="772316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cs typeface="Times New Roman" panose="02020503050405090304" pitchFamily="18" charset="0"/>
              </a:rPr>
              <a:t>Concepts of complex plane</a:t>
            </a:r>
            <a:endParaRPr lang="en-US" altLang="zh-CN" sz="28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 altLang="zh-CN" sz="2800" dirty="0">
              <a:cs typeface="Times New Roman" panose="0202050305040509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84" y="3933056"/>
            <a:ext cx="2990808" cy="18002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11560" y="1988840"/>
            <a:ext cx="705678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A complex plane is a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Cartesian coordinate system</a:t>
            </a: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Formed of the horizontal x-axis, called the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real axis</a:t>
            </a:r>
            <a:r>
              <a:rPr lang="en-US" altLang="zh-CN" sz="2400" dirty="0">
                <a:cs typeface="Times New Roman" panose="02020503050405090304" pitchFamily="18" charset="0"/>
              </a:rPr>
              <a:t>, and the vertical y-axis, called the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imaginary axis</a:t>
            </a: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Any complex number can be represented as a point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 </a:t>
            </a:r>
            <a:r>
              <a:rPr lang="en-US" altLang="zh-CN" sz="2400" dirty="0">
                <a:cs typeface="Times New Roman" panose="02020503050405090304" pitchFamily="18" charset="0"/>
              </a:rPr>
              <a:t>in the plane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588" y="3901672"/>
            <a:ext cx="2758820" cy="186296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403648" y="5728304"/>
            <a:ext cx="1944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The complex plane</a:t>
            </a:r>
            <a:endParaRPr lang="zh-CN" altLang="en-US" sz="1600" dirty="0"/>
          </a:p>
        </p:txBody>
      </p:sp>
      <p:sp>
        <p:nvSpPr>
          <p:cNvPr id="11" name="文本框 10"/>
          <p:cNvSpPr txBox="1"/>
          <p:nvPr/>
        </p:nvSpPr>
        <p:spPr>
          <a:xfrm>
            <a:off x="4788024" y="5764639"/>
            <a:ext cx="2664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The number             in the complex plane</a:t>
            </a:r>
            <a:endParaRPr lang="zh-CN" altLang="en-US" sz="1600" dirty="0"/>
          </a:p>
        </p:txBody>
      </p:sp>
      <p:pic>
        <p:nvPicPr>
          <p:cNvPr id="16" name="图片 15" descr="\documentclass{article}&#10;\usepackage{amsmath}&#10;\pagestyle{empty}&#10;\begin{document}&#10;&#10;&#10;$4-3i$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152" y="5882299"/>
            <a:ext cx="504749" cy="138989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Complex Plane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415561"/>
            <a:ext cx="772316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cs typeface="Times New Roman" panose="02020503050405090304" pitchFamily="18" charset="0"/>
              </a:rPr>
              <a:t>Properties of complex plane</a:t>
            </a:r>
            <a:endParaRPr lang="en-US" altLang="zh-CN" sz="28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 altLang="zh-CN" sz="2800" dirty="0">
              <a:cs typeface="Times New Roman" panose="0202050305040509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11560" y="1988840"/>
            <a:ext cx="7056784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Addition and subtraction of complex numbers satisfy the parallelogram lawAlmost same to addition and subtraction of two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vectors</a:t>
            </a: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403648" y="5728304"/>
            <a:ext cx="19442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Addition of complex numbers</a:t>
            </a:r>
            <a:endParaRPr lang="zh-CN" altLang="en-US" sz="1600" dirty="0"/>
          </a:p>
        </p:txBody>
      </p:sp>
      <p:sp>
        <p:nvSpPr>
          <p:cNvPr id="11" name="文本框 10"/>
          <p:cNvSpPr txBox="1"/>
          <p:nvPr/>
        </p:nvSpPr>
        <p:spPr>
          <a:xfrm>
            <a:off x="4788024" y="5764639"/>
            <a:ext cx="2232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Subtraction of complex numbers</a:t>
            </a:r>
            <a:endParaRPr lang="zh-CN" altLang="en-US" sz="16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41" y="3933056"/>
            <a:ext cx="3159003" cy="183178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588" y="3975884"/>
            <a:ext cx="2670047" cy="1746126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Complex Plane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415561"/>
            <a:ext cx="772316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cs typeface="Times New Roman" panose="02020503050405090304" pitchFamily="18" charset="0"/>
              </a:rPr>
              <a:t>Triangle inequality is a relation for modulus</a:t>
            </a:r>
            <a:endParaRPr lang="en-US" altLang="zh-CN" sz="2800" dirty="0">
              <a:cs typeface="Times New Roman" panose="0202050305040509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0629" y="4293096"/>
            <a:ext cx="4053917" cy="1869423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241044" y="6056831"/>
            <a:ext cx="29523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Triangle inequality</a:t>
            </a:r>
            <a:endParaRPr lang="zh-CN" altLang="en-US" sz="1600" dirty="0"/>
          </a:p>
        </p:txBody>
      </p:sp>
      <p:sp>
        <p:nvSpPr>
          <p:cNvPr id="6" name="文本框 5"/>
          <p:cNvSpPr txBox="1"/>
          <p:nvPr/>
        </p:nvSpPr>
        <p:spPr>
          <a:xfrm>
            <a:off x="755576" y="2132856"/>
            <a:ext cx="70567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Triangle inequality: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Generalized form: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8" name="图片 7" descr="\documentclass{article}&#10;\usepackage{amsmath}&#10;\pagestyle{empty}&#10;\begin{document}&#10;&#10;$|z_1+z_2|\leq |z_1|+|z_2|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2707581"/>
            <a:ext cx="2693822" cy="305410"/>
          </a:xfrm>
          <a:prstGeom prst="rect">
            <a:avLst/>
          </a:prstGeom>
        </p:spPr>
      </p:pic>
      <p:pic>
        <p:nvPicPr>
          <p:cNvPr id="11" name="图片 10" descr="\documentclass{article}&#10;\usepackage{amsmath}&#10;\pagestyle{empty}&#10;\begin{document}&#10;&#10;$|z_1+z_2+\cdots+z_n|\leq |z_1|+|z_2|+\cdots+|z_n|$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3483" y="3845101"/>
            <a:ext cx="5667450" cy="30541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"/>
          <p:cNvSpPr txBox="1">
            <a:spLocks noChangeArrowheads="1"/>
          </p:cNvSpPr>
          <p:nvPr/>
        </p:nvSpPr>
        <p:spPr>
          <a:xfrm>
            <a:off x="381000" y="1600200"/>
            <a:ext cx="7863408" cy="11807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endParaRPr lang="en-US" altLang="en-US" dirty="0"/>
          </a:p>
        </p:txBody>
      </p:sp>
      <p:grpSp>
        <p:nvGrpSpPr>
          <p:cNvPr id="2" name="Group 51"/>
          <p:cNvGrpSpPr/>
          <p:nvPr/>
        </p:nvGrpSpPr>
        <p:grpSpPr bwMode="auto">
          <a:xfrm>
            <a:off x="1921063" y="3035779"/>
            <a:ext cx="5301873" cy="786442"/>
            <a:chOff x="1296" y="1824"/>
            <a:chExt cx="2976" cy="432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FFC000"/>
              </a:solidFill>
              <a:round/>
            </a:ln>
            <a:effectLst>
              <a:outerShdw dist="99190" dir="2388334" algn="ctr" rotWithShape="0">
                <a:srgbClr val="DDDDDD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90204" pitchFamily="34" charset="0"/>
              </a:endParaRPr>
            </a:p>
          </p:txBody>
        </p:sp>
        <p:sp>
          <p:nvSpPr>
            <p:cNvPr id="4" name="AutoShape 5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FFC000"/>
            </a:solidFill>
            <a:ln w="25400" algn="ctr">
              <a:solidFill>
                <a:srgbClr val="FFFFFF"/>
              </a:solidFill>
              <a:miter lim="800000"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90204" pitchFamily="34" charset="0"/>
              </a:endParaRPr>
            </a:p>
          </p:txBody>
        </p:sp>
        <p:sp>
          <p:nvSpPr>
            <p:cNvPr id="5" name="Text Box 54"/>
            <p:cNvSpPr txBox="1">
              <a:spLocks noChangeArrowheads="1"/>
            </p:cNvSpPr>
            <p:nvPr/>
          </p:nvSpPr>
          <p:spPr bwMode="gray">
            <a:xfrm>
              <a:off x="1747" y="1902"/>
              <a:ext cx="2525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400" b="1" kern="0" dirty="0">
                  <a:solidFill>
                    <a:srgbClr val="17347D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Polar and Exponential Form</a:t>
              </a:r>
              <a:endParaRPr lang="en-US" altLang="en-US" sz="2400" b="1" kern="0" dirty="0">
                <a:solidFill>
                  <a:srgbClr val="17347D"/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6" name="Text Box 55"/>
            <p:cNvSpPr txBox="1">
              <a:spLocks noChangeArrowheads="1"/>
            </p:cNvSpPr>
            <p:nvPr/>
          </p:nvSpPr>
          <p:spPr bwMode="gray">
            <a:xfrm>
              <a:off x="1404" y="1902"/>
              <a:ext cx="200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en-US" sz="2400" kern="0" dirty="0">
                  <a:solidFill>
                    <a:srgbClr val="FFFFFF"/>
                  </a:solidFill>
                  <a:latin typeface="Arial" panose="020B0604020202090204" pitchFamily="34" charset="0"/>
                </a:rPr>
                <a:t>4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895"/>
    </mc:Choice>
    <mc:Fallback>
      <p:transition spd="slow" advTm="4895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Polar Form of Complex Numbers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415561"/>
            <a:ext cx="772316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cs typeface="Times New Roman" panose="02020503050405090304" pitchFamily="18" charset="0"/>
              </a:rPr>
              <a:t>In addition to the </a:t>
            </a:r>
            <a:r>
              <a:rPr lang="en-US" altLang="zh-CN" sz="2800" dirty="0" err="1">
                <a:cs typeface="Times New Roman" panose="02020503050405090304" pitchFamily="18" charset="0"/>
              </a:rPr>
              <a:t>Cartesion</a:t>
            </a:r>
            <a:r>
              <a:rPr lang="en-US" altLang="zh-CN" sz="2800" dirty="0">
                <a:cs typeface="Times New Roman" panose="02020503050405090304" pitchFamily="18" charset="0"/>
              </a:rPr>
              <a:t> coordinates in the complex plane, we also employ the usual </a:t>
            </a:r>
            <a:r>
              <a:rPr lang="en-US" altLang="zh-CN" sz="2800" dirty="0">
                <a:solidFill>
                  <a:srgbClr val="FF0000"/>
                </a:solidFill>
                <a:cs typeface="Times New Roman" panose="02020503050405090304" pitchFamily="18" charset="0"/>
              </a:rPr>
              <a:t>polar</a:t>
            </a:r>
            <a:r>
              <a:rPr lang="en-US" altLang="zh-CN" sz="2800" dirty="0">
                <a:cs typeface="Times New Roman" panose="02020503050405090304" pitchFamily="18" charset="0"/>
              </a:rPr>
              <a:t> coordinates</a:t>
            </a:r>
            <a:endParaRPr lang="en-US" altLang="zh-CN" sz="2800" dirty="0"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55576" y="2924377"/>
            <a:ext cx="7056784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Let                      and                    , we see that then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                    takes the following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polar form </a:t>
            </a: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  </a:t>
            </a:r>
            <a:r>
              <a:rPr lang="en-US" altLang="zh-CN" sz="2400" dirty="0">
                <a:cs typeface="Times New Roman" panose="02020503050405090304" pitchFamily="18" charset="0"/>
              </a:rPr>
              <a:t>: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absolute value</a:t>
            </a:r>
            <a:r>
              <a:rPr lang="en-US" altLang="zh-CN" sz="2400" dirty="0">
                <a:cs typeface="Times New Roman" panose="02020503050405090304" pitchFamily="18" charset="0"/>
              </a:rPr>
              <a:t> or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modulus</a:t>
            </a:r>
            <a:r>
              <a:rPr lang="en-US" altLang="zh-CN" sz="2400" dirty="0">
                <a:cs typeface="Times New Roman" panose="02020503050405090304" pitchFamily="18" charset="0"/>
              </a:rPr>
              <a:t>, often denoted by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  </a:t>
            </a:r>
            <a:r>
              <a:rPr lang="en-US" altLang="zh-CN" sz="2400" dirty="0">
                <a:cs typeface="Times New Roman" panose="02020503050405090304" pitchFamily="18" charset="0"/>
              </a:rPr>
              <a:t>: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argument</a:t>
            </a:r>
            <a:r>
              <a:rPr lang="en-US" altLang="zh-CN" sz="2400" dirty="0">
                <a:cs typeface="Times New Roman" panose="02020503050405090304" pitchFamily="18" charset="0"/>
              </a:rPr>
              <a:t>, often denoted by 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6" name="图片 5" descr="\documentclass{article}&#10;\usepackage{amsmath}&#10;\pagestyle{empty}&#10;\begin{document}&#10;&#10;$x=r\cos \theta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3047310"/>
            <a:ext cx="1360627" cy="215798"/>
          </a:xfrm>
          <a:prstGeom prst="rect">
            <a:avLst/>
          </a:prstGeom>
        </p:spPr>
      </p:pic>
      <p:pic>
        <p:nvPicPr>
          <p:cNvPr id="10" name="图片 9" descr="\documentclass{article}&#10;\usepackage{amsmath}&#10;\pagestyle{empty}&#10;\begin{document}&#10;&#10;$y=r\sin \theta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20" y="3017135"/>
            <a:ext cx="1314907" cy="276148"/>
          </a:xfrm>
          <a:prstGeom prst="rect">
            <a:avLst/>
          </a:prstGeom>
        </p:spPr>
      </p:pic>
      <p:pic>
        <p:nvPicPr>
          <p:cNvPr id="16" name="图片 15" descr="\documentclass{article}&#10;\usepackage{amsmath}&#10;\pagestyle{empty}&#10;\begin{document}&#10;&#10;$z=x+iy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3" y="3401343"/>
            <a:ext cx="1345997" cy="263347"/>
          </a:xfrm>
          <a:prstGeom prst="rect">
            <a:avLst/>
          </a:prstGeom>
        </p:spPr>
      </p:pic>
      <p:pic>
        <p:nvPicPr>
          <p:cNvPr id="19" name="图片 18" descr="\documentclass{article}&#10;\usepackage{amsmath}&#10;\pagestyle{empty}&#10;\begin{document}&#10;&#10;$z=r(\cos \theta+i\sin\theta)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1348" y="3827397"/>
            <a:ext cx="2606040" cy="305409"/>
          </a:xfrm>
          <a:prstGeom prst="rect">
            <a:avLst/>
          </a:prstGeom>
        </p:spPr>
      </p:pic>
      <p:pic>
        <p:nvPicPr>
          <p:cNvPr id="21" name="图片 20" descr="\documentclass{article}&#10;\usepackage{amsmath}&#10;\pagestyle{empty}&#10;\begin{document}&#10;&#10;$r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7282" y="4221088"/>
            <a:ext cx="124358" cy="135331"/>
          </a:xfrm>
          <a:prstGeom prst="rect">
            <a:avLst/>
          </a:prstGeom>
        </p:spPr>
      </p:pic>
      <p:pic>
        <p:nvPicPr>
          <p:cNvPr id="24" name="图片 23" descr="\documentclass{article}&#10;\usepackage{amsmath}&#10;\pagestyle{empty}&#10;\begin{document}&#10;&#10;$\theta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624" y="5264410"/>
            <a:ext cx="128016" cy="215798"/>
          </a:xfrm>
          <a:prstGeom prst="rect">
            <a:avLst/>
          </a:prstGeom>
        </p:spPr>
      </p:pic>
      <p:pic>
        <p:nvPicPr>
          <p:cNvPr id="27" name="图片 26" descr="\documentclass{article}&#10;\usepackage{amsmath}&#10;\pagestyle{empty}&#10;\begin{document}&#10;&#10;$|z|$&#10;&#10;&#10;\end{document}" title="IguanaTex Bitmap Display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3865" y="4110500"/>
            <a:ext cx="254202" cy="305409"/>
          </a:xfrm>
          <a:prstGeom prst="rect">
            <a:avLst/>
          </a:prstGeom>
        </p:spPr>
      </p:pic>
      <p:pic>
        <p:nvPicPr>
          <p:cNvPr id="30" name="图片 29" descr="\documentclass{article}&#10;\usepackage{amsmath}&#10;\pagestyle{empty}&#10;\begin{document}&#10;&#10;$\arg{z}$&#10;&#10;&#10;\end{document}" title="IguanaTex Bitmap Display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28" y="5286352"/>
            <a:ext cx="607159" cy="197510"/>
          </a:xfrm>
          <a:prstGeom prst="rect">
            <a:avLst/>
          </a:prstGeom>
        </p:spPr>
      </p:pic>
      <p:pic>
        <p:nvPicPr>
          <p:cNvPr id="33" name="图片 32" descr="\documentclass{article}&#10;\usepackage{amsmath}&#10;\pagestyle{empty}&#10;\begin{document}&#10;&#10;$|z|=r=\sqrt{x^2+y^2}=\sqrt{z\bar{z}}$&#10;&#10;&#10;\end{document}" title="IguanaTex Bitmap Display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3791" y="4638072"/>
            <a:ext cx="3491163" cy="365759"/>
          </a:xfrm>
          <a:prstGeom prst="rect">
            <a:avLst/>
          </a:prstGeom>
        </p:spPr>
      </p:pic>
      <p:pic>
        <p:nvPicPr>
          <p:cNvPr id="41" name="图片 40" descr="\documentclass{article}&#10;\usepackage{amsmath}&#10;\pagestyle{empty}&#10;\begin{document}&#10;&#10;$\tan \theta=\frac{y}{x}$&#10;&#10;&#10;\end{document}" title="IguanaTex Bitmap Display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4254" y="5733799"/>
            <a:ext cx="1214318" cy="334669"/>
          </a:xfrm>
          <a:prstGeom prst="rect">
            <a:avLst/>
          </a:prstGeom>
        </p:spPr>
      </p:pic>
    </p:spTree>
    <p:custDataLst>
      <p:tags r:id="rId2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Polar Form of Complex Numbers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415561"/>
            <a:ext cx="772316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cs typeface="Times New Roman" panose="02020503050405090304" pitchFamily="18" charset="0"/>
              </a:rPr>
              <a:t>Properties of modulus and argument</a:t>
            </a:r>
            <a:endParaRPr lang="en-US" altLang="zh-CN" sz="2800" dirty="0"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37655" y="2129022"/>
            <a:ext cx="70567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The modulus is used to represent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the length </a:t>
            </a:r>
            <a:r>
              <a:rPr lang="en-US" altLang="zh-CN" sz="2400" dirty="0">
                <a:cs typeface="Times New Roman" panose="02020503050405090304" pitchFamily="18" charset="0"/>
              </a:rPr>
              <a:t>of complex number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The argument is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not unique</a:t>
            </a:r>
            <a:r>
              <a:rPr lang="en-US" altLang="zh-CN" sz="2400" dirty="0">
                <a:cs typeface="Times New Roman" panose="02020503050405090304" pitchFamily="18" charset="0"/>
              </a:rPr>
              <a:t>,    and                are equivalent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Principal argument value:  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1800" y="4149080"/>
            <a:ext cx="3292627" cy="1938992"/>
          </a:xfrm>
          <a:prstGeom prst="rect">
            <a:avLst/>
          </a:prstGeom>
        </p:spPr>
      </p:pic>
      <p:pic>
        <p:nvPicPr>
          <p:cNvPr id="7" name="图片 6" descr="\documentclass{article}&#10;\usepackage{amsmath}&#10;\pagestyle{empty}&#10;\begin{document}&#10;&#10;$\theta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2996952"/>
            <a:ext cx="128016" cy="215798"/>
          </a:xfrm>
          <a:prstGeom prst="rect">
            <a:avLst/>
          </a:prstGeom>
        </p:spPr>
      </p:pic>
      <p:pic>
        <p:nvPicPr>
          <p:cNvPr id="11" name="图片 10" descr="\documentclass{article}&#10;\usepackage{amsmath}&#10;\pagestyle{empty}&#10;\begin{document}&#10;&#10;$\theta+2k\pi$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112" y="2996952"/>
            <a:ext cx="1002182" cy="239572"/>
          </a:xfrm>
          <a:prstGeom prst="rect">
            <a:avLst/>
          </a:prstGeom>
        </p:spPr>
      </p:pic>
      <p:grpSp>
        <p:nvGrpSpPr>
          <p:cNvPr id="17" name="组合 16"/>
          <p:cNvGrpSpPr/>
          <p:nvPr/>
        </p:nvGrpSpPr>
        <p:grpSpPr>
          <a:xfrm>
            <a:off x="2874468" y="5352049"/>
            <a:ext cx="936520" cy="949612"/>
            <a:chOff x="3162500" y="5352050"/>
            <a:chExt cx="978120" cy="95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r:id="rId6" p14:bwMode="auto">
              <p14:nvContentPartPr>
                <p14:cNvPr id="14" name="墨迹 13"/>
                <p14:cNvContentPartPr/>
                <p14:nvPr/>
              </p14:nvContentPartPr>
              <p14:xfrm>
                <a:off x="3162500" y="5352050"/>
                <a:ext cx="978120" cy="954360"/>
              </p14:xfrm>
            </p:contentPart>
          </mc:Choice>
          <mc:Fallback xmlns="">
            <p:pic>
              <p:nvPicPr>
                <p:cNvPr id="14" name="墨迹 13"/>
              </p:nvPicPr>
              <p:blipFill>
                <a:blip r:embed="rId7"/>
              </p:blipFill>
              <p:spPr>
                <a:xfrm>
                  <a:off x="3162500" y="5352050"/>
                  <a:ext cx="978120" cy="95436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8" p14:bwMode="auto">
              <p14:nvContentPartPr>
                <p14:cNvPr id="15" name="墨迹 14"/>
                <p14:cNvContentPartPr/>
                <p14:nvPr/>
              </p14:nvContentPartPr>
              <p14:xfrm>
                <a:off x="3936500" y="5797370"/>
                <a:ext cx="95040" cy="14760"/>
              </p14:xfrm>
            </p:contentPart>
          </mc:Choice>
          <mc:Fallback xmlns="">
            <p:pic>
              <p:nvPicPr>
                <p:cNvPr id="15" name="墨迹 14"/>
              </p:nvPicPr>
              <p:blipFill>
                <a:blip r:embed="rId9"/>
              </p:blipFill>
              <p:spPr>
                <a:xfrm>
                  <a:off x="3936500" y="5797370"/>
                  <a:ext cx="95040" cy="14760"/>
                </a:xfrm>
                <a:prstGeom prst="rect"/>
              </p:spPr>
            </p:pic>
          </mc:Fallback>
        </mc:AlternateContent>
      </p:grpSp>
      <p:pic>
        <p:nvPicPr>
          <p:cNvPr id="28" name="图片 27" descr="\documentclass{article}&#10;\usepackage{amsmath}&#10;\pagestyle{empty}&#10;\begin{document}&#10;&#10;$-\pi&lt; {\rm Arg}~z\leq\pi$&#10;&#10;&#10;\end{document}" title="IguanaTex Bitmap Display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3694325"/>
            <a:ext cx="2136037" cy="276148"/>
          </a:xfrm>
          <a:prstGeom prst="rect">
            <a:avLst/>
          </a:prstGeom>
        </p:spPr>
      </p:pic>
    </p:spTree>
    <p:custDataLst>
      <p:tags r:id="rId1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Polar Form of Complex Numbers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415561"/>
            <a:ext cx="772316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cs typeface="Times New Roman" panose="02020503050405090304" pitchFamily="18" charset="0"/>
              </a:rPr>
              <a:t>How to calculate the principal argument value?</a:t>
            </a:r>
            <a:endParaRPr lang="en-US" altLang="zh-CN" sz="2800" dirty="0"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91707" y="1982846"/>
            <a:ext cx="70567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Q: Does                   imply                           ?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cs typeface="Times New Roman" panose="02020503050405090304" pitchFamily="18" charset="0"/>
              </a:rPr>
              <a:t>No! It only holds for                       ,</a:t>
            </a:r>
            <a:r>
              <a:rPr lang="zh-CN" altLang="en-US" sz="2400" dirty="0">
                <a:cs typeface="Times New Roman" panose="02020503050405090304" pitchFamily="18" charset="0"/>
              </a:rPr>
              <a:t> </a:t>
            </a:r>
            <a:r>
              <a:rPr lang="en-US" altLang="zh-CN" sz="2400" dirty="0">
                <a:cs typeface="Times New Roman" panose="02020503050405090304" pitchFamily="18" charset="0"/>
              </a:rPr>
              <a:t>i.e.,</a:t>
            </a:r>
            <a:r>
              <a:rPr lang="zh-CN" altLang="en-US" sz="2400" dirty="0">
                <a:cs typeface="Times New Roman" panose="02020503050405090304" pitchFamily="18" charset="0"/>
              </a:rPr>
              <a:t> </a:t>
            </a:r>
            <a:r>
              <a:rPr lang="en-US" altLang="zh-CN" sz="2400" dirty="0">
                <a:cs typeface="Times New Roman" panose="02020503050405090304" pitchFamily="18" charset="0"/>
              </a:rPr>
              <a:t> 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0" lvl="1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The principal argument value is calculated by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4" name="图片 3" descr="\documentclass{article}&#10;\usepackage{amsmath}&#10;\pagestyle{empty}&#10;\begin{document}&#10;&#10;$\tan \theta=\frac{y}{x}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5812" y="2084059"/>
            <a:ext cx="1214318" cy="334669"/>
          </a:xfrm>
          <a:prstGeom prst="rect">
            <a:avLst/>
          </a:prstGeom>
        </p:spPr>
      </p:pic>
      <p:pic>
        <p:nvPicPr>
          <p:cNvPr id="9" name="图片 8" descr="\documentclass{article}&#10;\usepackage{amsmath}&#10;\pagestyle{empty}&#10;\begin{document}&#10;&#10;$\theta=\arctan(\frac{y}{x})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992" y="2084058"/>
            <a:ext cx="1805018" cy="334669"/>
          </a:xfrm>
          <a:prstGeom prst="rect">
            <a:avLst/>
          </a:prstGeom>
        </p:spPr>
      </p:pic>
      <p:pic>
        <p:nvPicPr>
          <p:cNvPr id="19" name="图片 18" descr="\documentclass{article}&#10;\usepackage{amsmath}&#10;\pagestyle{empty}&#10;\begin{document}&#10;&#10;$\theta\in (-\frac{\pi}{2},\frac{\pi}{2})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099" y="2442548"/>
            <a:ext cx="1532529" cy="332840"/>
          </a:xfrm>
          <a:prstGeom prst="rect">
            <a:avLst/>
          </a:prstGeom>
        </p:spPr>
      </p:pic>
      <p:pic>
        <p:nvPicPr>
          <p:cNvPr id="21" name="图片 20" descr="\documentclass{article}&#10;\usepackage{amsmath}&#10;\pagestyle{empty}&#10;\begin{document}&#10;&#10;$x&gt;0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232" y="2494950"/>
            <a:ext cx="709574" cy="213970"/>
          </a:xfrm>
          <a:prstGeom prst="rect">
            <a:avLst/>
          </a:prstGeom>
        </p:spPr>
      </p:pic>
      <p:pic>
        <p:nvPicPr>
          <p:cNvPr id="42" name="图片 41" descr="\documentclass{article}&#10;\usepackage{amsmath}&#10;\usepackage{amssymb}&#10;\pagestyle{empty}&#10;\begin{document}&#10;&#10;\begin{align}&#10;{\rm Arg}~z=\left\{\begin{array}{cl}\arctan(\frac{y}{x}),&amp;x&gt;0,y \in\mathbb{R}\\&#10;\arctan(\frac{y}{x})+\pi,&amp;x&lt;0,y \geq0\\&#10;\arctan(\frac{y}{x})-\pi,&amp;x&lt;0,y &lt;0\\&#10;-\frac{\pi}{2},&amp;x=0,y &lt;0\\&#10;\frac{\pi}{2},&amp;x=0,y &gt;0\end{array}\right.\nonumber&#10;\end{align}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632" y="3861046"/>
            <a:ext cx="5418734" cy="1825142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Polar Form of Complex Numbers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415561"/>
            <a:ext cx="772316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cs typeface="Times New Roman" panose="02020503050405090304" pitchFamily="18" charset="0"/>
              </a:rPr>
              <a:t>How to calculate the principal argument value?</a:t>
            </a:r>
            <a:endParaRPr lang="en-US" altLang="zh-CN" sz="2800" dirty="0"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91707" y="1982846"/>
            <a:ext cx="70567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One can also obtain the principal argument value through the following relations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18" name="图片 17" descr="\documentclass{article}&#10;\usepackage{amsmath}&#10;\usepackage{amssymb}&#10;\pagestyle{empty}&#10;\begin{document}&#10;&#10;\begin{align}&#10;\cos({\rm Arg}~z)=\frac{x}{\sqrt{x^2+y^2}}\nonumber\\&#10;\sin({\rm Arg}~z)=\frac{y}{\sqrt{x^2+y^2}}\nonumber&#10;\end{align}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144" y="3302580"/>
            <a:ext cx="3114447" cy="1483156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5222" y="1270284"/>
            <a:ext cx="772316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cs typeface="Times New Roman" panose="02020503050405090304" pitchFamily="18" charset="0"/>
              </a:rPr>
              <a:t>Calculate the principal argument value of</a:t>
            </a:r>
            <a:endParaRPr lang="en-US" altLang="zh-CN" sz="28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800" dirty="0">
                <a:cs typeface="Times New Roman" panose="02020503050405090304" pitchFamily="18" charset="0"/>
              </a:rPr>
              <a:t>and write its polar form </a:t>
            </a:r>
            <a:endParaRPr lang="en-US" altLang="zh-CN" sz="2800" dirty="0">
              <a:cs typeface="Times New Roman" panose="02020503050405090304" pitchFamily="18" charset="0"/>
            </a:endParaRPr>
          </a:p>
        </p:txBody>
      </p:sp>
      <p:pic>
        <p:nvPicPr>
          <p:cNvPr id="5" name="图片 4" descr="\documentclass{article}&#10;\usepackage{amsmath}&#10;\pagestyle{empty}&#10;\begin{document}&#10;&#10;$z=5-5i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5594" y="1419239"/>
            <a:ext cx="1529791" cy="241097"/>
          </a:xfrm>
          <a:prstGeom prst="rect">
            <a:avLst/>
          </a:prstGeom>
        </p:spPr>
      </p:pic>
      <p:grpSp>
        <p:nvGrpSpPr>
          <p:cNvPr id="28" name="组合 27"/>
          <p:cNvGrpSpPr/>
          <p:nvPr/>
        </p:nvGrpSpPr>
        <p:grpSpPr>
          <a:xfrm>
            <a:off x="539552" y="2780928"/>
            <a:ext cx="2718156" cy="1872209"/>
            <a:chOff x="539552" y="2780928"/>
            <a:chExt cx="2718156" cy="1872209"/>
          </a:xfrm>
        </p:grpSpPr>
        <p:grpSp>
          <p:nvGrpSpPr>
            <p:cNvPr id="27" name="组合 26"/>
            <p:cNvGrpSpPr/>
            <p:nvPr/>
          </p:nvGrpSpPr>
          <p:grpSpPr>
            <a:xfrm>
              <a:off x="539552" y="2780928"/>
              <a:ext cx="2718156" cy="1872209"/>
              <a:chOff x="539552" y="2780928"/>
              <a:chExt cx="2718156" cy="1872209"/>
            </a:xfrm>
          </p:grpSpPr>
          <p:cxnSp>
            <p:nvCxnSpPr>
              <p:cNvPr id="3" name="直接箭头连接符 2"/>
              <p:cNvCxnSpPr/>
              <p:nvPr/>
            </p:nvCxnSpPr>
            <p:spPr>
              <a:xfrm>
                <a:off x="539552" y="3717032"/>
                <a:ext cx="230425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" name="直接箭头连接符 3"/>
              <p:cNvCxnSpPr/>
              <p:nvPr/>
            </p:nvCxnSpPr>
            <p:spPr>
              <a:xfrm flipV="1">
                <a:off x="1619672" y="2780928"/>
                <a:ext cx="0" cy="172819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" name="直接连接符 5"/>
              <p:cNvCxnSpPr/>
              <p:nvPr/>
            </p:nvCxnSpPr>
            <p:spPr>
              <a:xfrm>
                <a:off x="1619672" y="3717032"/>
                <a:ext cx="792088" cy="648072"/>
              </a:xfrm>
              <a:prstGeom prst="line">
                <a:avLst/>
              </a:prstGeom>
              <a:ln w="1905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p14="http://schemas.microsoft.com/office/powerpoint/2010/main">
            <mc:Choice Requires="p14">
              <p:contentPart r:id="rId3" p14:bwMode="auto">
                <p14:nvContentPartPr>
                  <p14:cNvPr id="8" name="墨迹 7"/>
                  <p14:cNvContentPartPr/>
                  <p14:nvPr/>
                </p14:nvContentPartPr>
                <p14:xfrm>
                  <a:off x="1907900" y="3746280"/>
                  <a:ext cx="67320" cy="186840"/>
                </p14:xfrm>
              </p:contentPart>
            </mc:Choice>
            <mc:Fallback xmlns="">
              <p:pic>
                <p:nvPicPr>
                  <p:cNvPr id="8" name="墨迹 7"/>
                </p:nvPicPr>
                <p:blipFill>
                  <a:blip r:embed="rId4"/>
                </p:blipFill>
                <p:spPr>
                  <a:xfrm>
                    <a:off x="1907900" y="3746280"/>
                    <a:ext cx="67320" cy="186840"/>
                  </a:xfrm>
                  <a:prstGeom prst="rect"/>
                </p:spPr>
              </p:pic>
            </mc:Fallback>
          </mc:AlternateContent>
          <p:pic>
            <p:nvPicPr>
              <p:cNvPr id="10" name="图片 9" descr="\documentclass{article}&#10;\usepackage{amsmath}&#10;\pagestyle{empty}&#10;\begin{document}&#10;&#10;$\theta$&#10;&#10;&#10;\end{document}" title="IguanaTex Bitmap Display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03724" y="3789379"/>
                <a:ext cx="128016" cy="215798"/>
              </a:xfrm>
              <a:prstGeom prst="rect">
                <a:avLst/>
              </a:prstGeom>
            </p:spPr>
          </p:pic>
          <p:pic>
            <p:nvPicPr>
              <p:cNvPr id="11" name="图片 10" descr="\documentclass{article}&#10;\usepackage{amsmath}&#10;\pagestyle{empty}&#10;\begin{document}&#10;&#10;$z=5-5i$&#10;&#10;&#10;\end{document}" title="IguanaTex Bitmap Display"/>
              <p:cNvPicPr>
                <a:picLocks noChangeAspect="1"/>
              </p:cNvPicPr>
              <p:nvPr>
                <p:custDataLst>
                  <p:tags r:id="rId7"/>
                </p:custDataLst>
              </p:nvPr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41560" y="4445710"/>
                <a:ext cx="1316148" cy="207427"/>
              </a:xfrm>
              <a:prstGeom prst="rect">
                <a:avLst/>
              </a:prstGeom>
            </p:spPr>
          </p:pic>
        </p:grpSp>
        <p:sp>
          <p:nvSpPr>
            <p:cNvPr id="13" name="流程图: 接点 12"/>
            <p:cNvSpPr/>
            <p:nvPr/>
          </p:nvSpPr>
          <p:spPr>
            <a:xfrm>
              <a:off x="2411760" y="4365104"/>
              <a:ext cx="80599" cy="80603"/>
            </a:xfrm>
            <a:prstGeom prst="flowChartConnector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5" name="图片 14" descr="\documentclass{article}&#10;\usepackage{amsmath}&#10;\pagestyle{empty}&#10;\begin{document}&#10;&#10;$\cos\theta=\frac{\sqrt{2}}{2}$&#10;&#10;&#10;\end{document}" title="IguanaTex Bitmap Display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2379876"/>
            <a:ext cx="1362456" cy="411480"/>
          </a:xfrm>
          <a:prstGeom prst="rect">
            <a:avLst/>
          </a:prstGeom>
        </p:spPr>
      </p:pic>
      <p:pic>
        <p:nvPicPr>
          <p:cNvPr id="20" name="图片 19" descr="\documentclass{article}&#10;\usepackage{amsmath}&#10;\pagestyle{empty}&#10;\begin{document}&#10;&#10;$\sin\theta=-\frac{\sqrt{2}}{2}$&#10;&#10;&#10;\end{document}" title="IguanaTex Bitmap Display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2904500"/>
            <a:ext cx="1565453" cy="411480"/>
          </a:xfrm>
          <a:prstGeom prst="rect">
            <a:avLst/>
          </a:prstGeom>
        </p:spPr>
      </p:pic>
      <p:pic>
        <p:nvPicPr>
          <p:cNvPr id="22" name="图片 21" descr="\documentclass{article}&#10;\usepackage{amsmath}&#10;\pagestyle{empty}&#10;\begin{document}&#10;&#10;${\rm Arg}~z=-\frac{\pi}{4}$&#10;&#10;&#10;\end{document}" title="IguanaTex Bitmap Display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7023" y="3881962"/>
            <a:ext cx="1576426" cy="318211"/>
          </a:xfrm>
          <a:prstGeom prst="rect">
            <a:avLst/>
          </a:prstGeom>
        </p:spPr>
      </p:pic>
      <p:pic>
        <p:nvPicPr>
          <p:cNvPr id="25" name="图片 24" descr="\documentclass{article}&#10;\usepackage{amsmath}&#10;\pagestyle{empty}&#10;\begin{document}&#10;&#10;$z=5\sqrt{2}(\cos(-\frac{\pi}{4})+i\sin(-\frac{\pi}{4}))$&#10;&#10;&#10;\end{document}" title="IguanaTex Bitmap Display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3927" y="4377238"/>
            <a:ext cx="4005073" cy="369417"/>
          </a:xfrm>
          <a:prstGeom prst="rect">
            <a:avLst/>
          </a:prstGeom>
        </p:spPr>
      </p:pic>
      <p:sp>
        <p:nvSpPr>
          <p:cNvPr id="26" name="箭头: 下 25"/>
          <p:cNvSpPr/>
          <p:nvPr/>
        </p:nvSpPr>
        <p:spPr>
          <a:xfrm>
            <a:off x="5220072" y="3423131"/>
            <a:ext cx="288030" cy="36624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Polar Form of Complex Numbers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415561"/>
            <a:ext cx="772316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cs typeface="Times New Roman" panose="02020503050405090304" pitchFamily="18" charset="0"/>
              </a:rPr>
              <a:t>Let’s do some math under the polar system</a:t>
            </a:r>
            <a:endParaRPr lang="en-US" altLang="zh-CN" sz="2800" dirty="0"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91707" y="2555070"/>
            <a:ext cx="7056784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Multiplication: </a:t>
            </a: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Division:</a:t>
            </a:r>
            <a:r>
              <a:rPr lang="zh-CN" altLang="en-US" sz="2400" dirty="0">
                <a:cs typeface="Times New Roman" panose="02020503050405090304" pitchFamily="18" charset="0"/>
              </a:rPr>
              <a:t> 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20" name="图片 19" descr="\documentclass{article}&#10;\usepackage{amsmath}&#10;\pagestyle{empty}&#10;\begin{document}&#10;&#10;&#10;\begin{align}&#10;z_1z_2=\ &amp;&#10;r_1r_2(\cos\theta_1\cos\theta_2-\sin\theta_1\sin\theta_2+i(\cos\theta_1\sin\theta_2+\sin\theta_1\cos\theta_2))\nonumber\\&#10;=\ &amp;r_1r_2(\cos(\theta_1+\theta_2)+i\sin(\theta_1+\theta_2))\nonumber&#10;\end{align}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49" y="3179428"/>
            <a:ext cx="8278317" cy="690276"/>
          </a:xfrm>
          <a:prstGeom prst="rect">
            <a:avLst/>
          </a:prstGeom>
        </p:spPr>
      </p:pic>
      <p:pic>
        <p:nvPicPr>
          <p:cNvPr id="8" name="图片 7" descr="\documentclass{article}&#10;\usepackage{amsmath}&#10;\pagestyle{empty}&#10;\begin{document}&#10;&#10;&#10;$z_1=r_1(\cos\theta_1+i\sin\theta_1)$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2090853"/>
            <a:ext cx="3112618" cy="305410"/>
          </a:xfrm>
          <a:prstGeom prst="rect">
            <a:avLst/>
          </a:prstGeom>
        </p:spPr>
      </p:pic>
      <p:pic>
        <p:nvPicPr>
          <p:cNvPr id="11" name="图片 10" descr="\documentclass{article}&#10;\usepackage{amsmath}&#10;\pagestyle{empty}&#10;\begin{document}&#10;&#10;&#10;$z_2=r_2(\cos\theta_2+i\sin\theta_2)$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2097588"/>
            <a:ext cx="3112618" cy="305410"/>
          </a:xfrm>
          <a:prstGeom prst="rect">
            <a:avLst/>
          </a:prstGeom>
        </p:spPr>
      </p:pic>
      <p:pic>
        <p:nvPicPr>
          <p:cNvPr id="27" name="图片 26" descr="\documentclass{article}&#10;\usepackage{amsmath}&#10;\pagestyle{empty}&#10;\begin{document}&#10;&#10;&#10;\begin{align}&#10;\frac{z_1}{z_2}=\ &amp;\frac{z_1\bar{z}_2}{z_2\bar{z}_2}=\frac{r_1r_2(\cos(\theta_1-\theta_2)+i\sin(\theta_1-\theta_2))}{r_2^2}\nonumber\\&#10;=\ &amp;\frac{r_1}{r_2}(\cos(\theta_1-\theta_2)+i\sin(\theta_1-\theta_2))\nonumber&#10;\end{align}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331" y="4646134"/>
            <a:ext cx="5644986" cy="1300904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Polar Form of Complex Numbers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415561"/>
            <a:ext cx="772316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cs typeface="Times New Roman" panose="02020503050405090304" pitchFamily="18" charset="0"/>
              </a:rPr>
              <a:t>Powers of complex numbers</a:t>
            </a:r>
            <a:endParaRPr lang="en-US" altLang="zh-CN" sz="2800" dirty="0"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55576" y="1988840"/>
            <a:ext cx="7056784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We first have De </a:t>
            </a:r>
            <a:r>
              <a:rPr lang="en-US" altLang="zh-CN" sz="2400" dirty="0" err="1">
                <a:cs typeface="Times New Roman" panose="02020503050405090304" pitchFamily="18" charset="0"/>
              </a:rPr>
              <a:t>Moivre’s</a:t>
            </a:r>
            <a:r>
              <a:rPr lang="en-US" altLang="zh-CN" sz="2400" dirty="0">
                <a:cs typeface="Times New Roman" panose="02020503050405090304" pitchFamily="18" charset="0"/>
              </a:rPr>
              <a:t> Formula: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indent="0">
              <a:buClr>
                <a:srgbClr val="C00000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cs typeface="Times New Roman" panose="02020503050405090304" pitchFamily="18" charset="0"/>
              </a:rPr>
              <a:t>     by the property of multiplication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De </a:t>
            </a:r>
            <a:r>
              <a:rPr lang="en-US" altLang="zh-CN" sz="2400" dirty="0" err="1">
                <a:cs typeface="Times New Roman" panose="02020503050405090304" pitchFamily="18" charset="0"/>
              </a:rPr>
              <a:t>Moivre’s</a:t>
            </a:r>
            <a:r>
              <a:rPr lang="en-US" altLang="zh-CN" sz="2400" dirty="0">
                <a:cs typeface="Times New Roman" panose="02020503050405090304" pitchFamily="18" charset="0"/>
              </a:rPr>
              <a:t> Theorem: let</a:t>
            </a:r>
            <a:endParaRPr lang="en-US" altLang="zh-CN" sz="2400" i="1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Application: let            ,</a:t>
            </a:r>
            <a:r>
              <a:rPr lang="zh-CN" altLang="en-US" sz="2400" dirty="0">
                <a:cs typeface="Times New Roman" panose="02020503050405090304" pitchFamily="18" charset="0"/>
              </a:rPr>
              <a:t> </a:t>
            </a:r>
            <a:r>
              <a:rPr lang="en-US" altLang="zh-CN" sz="2400" dirty="0">
                <a:cs typeface="Times New Roman" panose="02020503050405090304" pitchFamily="18" charset="0"/>
              </a:rPr>
              <a:t>one has </a:t>
            </a:r>
            <a:r>
              <a:rPr lang="zh-CN" altLang="en-US" sz="2400" dirty="0">
                <a:cs typeface="Times New Roman" panose="02020503050405090304" pitchFamily="18" charset="0"/>
              </a:rPr>
              <a:t> 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14" name="图片 13" descr="\documentclass{article}&#10;\usepackage{amsmath}&#10;\pagestyle{empty}&#10;\begin{document}&#10;&#10;\begin{align}&#10;z^n=\ &amp;r^n(\cos\theta+i\sin\theta)^n\nonumber\\&#10;=\ &amp;r^n(\cos n\theta+i\sin n\theta)\nonumber&#10;\end{align}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2996952"/>
            <a:ext cx="3317443" cy="760782"/>
          </a:xfrm>
          <a:prstGeom prst="rect">
            <a:avLst/>
          </a:prstGeom>
        </p:spPr>
      </p:pic>
      <p:pic>
        <p:nvPicPr>
          <p:cNvPr id="19" name="图片 18" descr="\documentclass{article}&#10;\usepackage{amsmath}&#10;\pagestyle{empty}&#10;\begin{document}&#10;&#10;\begin{align}&#10;(\cos\theta+i\sin\theta)^n=\cos n\theta+i\sin n\theta\nonumber&#10;\end{align}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9035" y="4485513"/>
            <a:ext cx="4548225" cy="305410"/>
          </a:xfrm>
          <a:prstGeom prst="rect">
            <a:avLst/>
          </a:prstGeom>
        </p:spPr>
      </p:pic>
      <p:pic>
        <p:nvPicPr>
          <p:cNvPr id="22" name="图片 21" descr="\documentclass{article}&#10;\usepackage{amsmath}&#10;\pagestyle{empty}&#10;\begin{document}&#10;&#10;&#10;$n=3$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9074" y="5037056"/>
            <a:ext cx="718718" cy="206654"/>
          </a:xfrm>
          <a:prstGeom prst="rect">
            <a:avLst/>
          </a:prstGeom>
        </p:spPr>
      </p:pic>
      <p:pic>
        <p:nvPicPr>
          <p:cNvPr id="33" name="图片 32" descr="\documentclass{article}&#10;\usepackage{amsmath}&#10;\pagestyle{empty}&#10;\begin{document}&#10;&#10;\begin{align}&#10;\cos3\theta=\ &amp;\cos^3\theta-3\cos\theta\sin^2\cos\theta\nonumber\\&#10;\sin3\theta=\ &amp;3\cos^2\theta\sin\theta-\sin^3\theta\nonumber&#10;\end{align}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0605" y="5517232"/>
            <a:ext cx="4354374" cy="769926"/>
          </a:xfrm>
          <a:prstGeom prst="rect">
            <a:avLst/>
          </a:prstGeom>
        </p:spPr>
      </p:pic>
      <p:pic>
        <p:nvPicPr>
          <p:cNvPr id="35" name="图片 34" descr="\documentclass{article}&#10;\usepackage{amsmath}&#10;\pagestyle{empty}&#10;\begin{document}&#10;&#10;$r=1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0080" y="3933056"/>
            <a:ext cx="671170" cy="202997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5222" y="1270284"/>
            <a:ext cx="7723161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cs typeface="Times New Roman" panose="02020503050405090304" pitchFamily="18" charset="0"/>
              </a:rPr>
              <a:t> Prove the triple angle formula </a:t>
            </a:r>
            <a:endParaRPr lang="en-US" altLang="zh-CN" sz="2800" dirty="0">
              <a:cs typeface="Times New Roman" panose="02020503050405090304" pitchFamily="18" charset="0"/>
            </a:endParaRPr>
          </a:p>
        </p:txBody>
      </p:sp>
      <p:pic>
        <p:nvPicPr>
          <p:cNvPr id="13" name="图片 12" descr="\documentclass{article}&#10;\usepackage{amsmath}&#10;\pagestyle{empty}&#10;\begin{document}&#10;&#10;\begin{align}&#10;\ &amp;(\cos\theta+i\sin\theta)^3\nonumber\\&#10;=\ &amp;\cos^3\theta+3i\cos^2\theta\sin\theta-3\cos\theta\sin^2\theta-i\sin^3\theta\nonumber\\&#10;=\ &amp;\cos^3\theta-3\cos\theta\sin^2\theta+i(3\cos^2\theta\sin\theta- \sin^3\theta)\nonumber\\&#10;=\ &amp; \cos3\theta+i\sin3\theta\nonumber&#10;\end{align}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2132856"/>
            <a:ext cx="6393484" cy="1739194"/>
          </a:xfrm>
          <a:prstGeom prst="rect">
            <a:avLst/>
          </a:prstGeom>
        </p:spPr>
      </p:pic>
      <p:sp>
        <p:nvSpPr>
          <p:cNvPr id="16" name="Oval 17"/>
          <p:cNvSpPr/>
          <p:nvPr/>
        </p:nvSpPr>
        <p:spPr>
          <a:xfrm>
            <a:off x="1080120" y="3573016"/>
            <a:ext cx="2195736" cy="360041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Arrow Connector 18"/>
          <p:cNvCxnSpPr>
            <a:stCxn id="16" idx="4"/>
            <a:endCxn id="18" idx="1"/>
          </p:cNvCxnSpPr>
          <p:nvPr/>
        </p:nvCxnSpPr>
        <p:spPr>
          <a:xfrm>
            <a:off x="2177988" y="3933057"/>
            <a:ext cx="1673932" cy="1846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9"/>
          <p:cNvSpPr txBox="1"/>
          <p:nvPr/>
        </p:nvSpPr>
        <p:spPr>
          <a:xfrm>
            <a:off x="3851920" y="3933057"/>
            <a:ext cx="255988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 </a:t>
            </a:r>
            <a:r>
              <a:rPr lang="en-US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Moivre’s</a:t>
            </a:r>
            <a:r>
              <a:rPr 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Theorem </a:t>
            </a:r>
            <a:endParaRPr lang="en-US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4" name="箭头: 下 23"/>
          <p:cNvSpPr/>
          <p:nvPr/>
        </p:nvSpPr>
        <p:spPr>
          <a:xfrm>
            <a:off x="3432324" y="4363396"/>
            <a:ext cx="432048" cy="43204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 descr="\documentclass{article}&#10;\usepackage{amsmath}&#10;\pagestyle{empty}&#10;\begin{document}&#10;&#10;\begin{align}&#10;\cos3\theta=\ &amp;\cos^3\theta-3\cos\theta\sin^2\cos\theta\nonumber\\&#10;\sin3\theta=\ &amp;3\cos^2\theta\sin\theta-\sin^3\theta\nonumber&#10;\end{align}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5085184"/>
            <a:ext cx="4354374" cy="769926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  <p:bldP spid="2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Polar Form of Complex Numbers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415561"/>
            <a:ext cx="772316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cs typeface="Times New Roman" panose="02020503050405090304" pitchFamily="18" charset="0"/>
              </a:rPr>
              <a:t>Roots of complex numbers</a:t>
            </a:r>
            <a:endParaRPr lang="en-US" altLang="zh-CN" sz="2800" dirty="0"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55576" y="1988840"/>
            <a:ext cx="705678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Definition:     is called </a:t>
            </a:r>
            <a:r>
              <a:rPr lang="en-US" altLang="zh-CN" sz="2400" i="1" dirty="0">
                <a:cs typeface="Times New Roman" panose="02020503050405090304" pitchFamily="18" charset="0"/>
              </a:rPr>
              <a:t>n</a:t>
            </a:r>
            <a:r>
              <a:rPr lang="en-US" altLang="zh-CN" sz="2400" dirty="0">
                <a:cs typeface="Times New Roman" panose="02020503050405090304" pitchFamily="18" charset="0"/>
              </a:rPr>
              <a:t>th root of     if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Assume                                        , by applying De </a:t>
            </a:r>
            <a:r>
              <a:rPr lang="en-US" altLang="zh-CN" sz="2400" dirty="0" err="1">
                <a:cs typeface="Times New Roman" panose="02020503050405090304" pitchFamily="18" charset="0"/>
              </a:rPr>
              <a:t>Moivre’s</a:t>
            </a:r>
            <a:r>
              <a:rPr lang="en-US" altLang="zh-CN" sz="2400" dirty="0">
                <a:cs typeface="Times New Roman" panose="02020503050405090304" pitchFamily="18" charset="0"/>
              </a:rPr>
              <a:t> Formula, one has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The root is not unique, </a:t>
            </a:r>
            <a:r>
              <a:rPr lang="en-US" altLang="zh-CN" sz="2400" i="1" dirty="0">
                <a:solidFill>
                  <a:srgbClr val="FF0000"/>
                </a:solidFill>
                <a:cs typeface="Times New Roman" panose="02020503050405090304" pitchFamily="18" charset="0"/>
              </a:rPr>
              <a:t>n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th roots have </a:t>
            </a:r>
            <a:r>
              <a:rPr lang="en-US" altLang="zh-CN" sz="2400" i="1" dirty="0">
                <a:solidFill>
                  <a:srgbClr val="FF0000"/>
                </a:solidFill>
                <a:cs typeface="Times New Roman" panose="02020503050405090304" pitchFamily="18" charset="0"/>
              </a:rPr>
              <a:t>n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 different values</a:t>
            </a: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</p:txBody>
      </p:sp>
      <p:pic>
        <p:nvPicPr>
          <p:cNvPr id="6" name="图片 5" descr="\documentclass{article}&#10;\usepackage{amsmath}&#10;\pagestyle{empty}&#10;\begin{document}&#10;&#10;$\omega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282" y="2182179"/>
            <a:ext cx="181051" cy="135331"/>
          </a:xfrm>
          <a:prstGeom prst="rect">
            <a:avLst/>
          </a:prstGeom>
        </p:spPr>
      </p:pic>
      <p:pic>
        <p:nvPicPr>
          <p:cNvPr id="10" name="图片 9" descr="\documentclass{article}&#10;\usepackage{amsmath}&#10;\pagestyle{empty}&#10;\begin{document}&#10;&#10;$z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628" y="2176881"/>
            <a:ext cx="129845" cy="135331"/>
          </a:xfrm>
          <a:prstGeom prst="rect">
            <a:avLst/>
          </a:prstGeom>
        </p:spPr>
      </p:pic>
      <p:pic>
        <p:nvPicPr>
          <p:cNvPr id="15" name="图片 14" descr="\documentclass{article}&#10;\usepackage{amsmath}&#10;\pagestyle{empty}&#10;\begin{document}&#10;&#10;$\omega^n=z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8927" y="2663764"/>
            <a:ext cx="908913" cy="204825"/>
          </a:xfrm>
          <a:prstGeom prst="rect">
            <a:avLst/>
          </a:prstGeom>
        </p:spPr>
      </p:pic>
      <p:pic>
        <p:nvPicPr>
          <p:cNvPr id="29" name="图片 28" descr="\documentclass{article}&#10;\usepackage{amsmath}&#10;\pagestyle{empty}&#10;\begin{document}&#10;&#10;$\omega=R(\cos\phi+i\sin\phi)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3183473"/>
            <a:ext cx="2809036" cy="305409"/>
          </a:xfrm>
          <a:prstGeom prst="rect">
            <a:avLst/>
          </a:prstGeom>
        </p:spPr>
      </p:pic>
      <p:sp>
        <p:nvSpPr>
          <p:cNvPr id="21" name="箭头: 左右 20"/>
          <p:cNvSpPr/>
          <p:nvPr/>
        </p:nvSpPr>
        <p:spPr>
          <a:xfrm>
            <a:off x="3449448" y="2667584"/>
            <a:ext cx="1152128" cy="204825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7" name="图片 26" descr="\documentclass{article}&#10;\usepackage{amsmath}&#10;\pagestyle{empty}&#10;\begin{document}&#10;&#10;$\omega=\sqrt[n]{z}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1191" y="2663764"/>
            <a:ext cx="1058874" cy="305409"/>
          </a:xfrm>
          <a:prstGeom prst="rect">
            <a:avLst/>
          </a:prstGeom>
        </p:spPr>
      </p:pic>
      <p:pic>
        <p:nvPicPr>
          <p:cNvPr id="39" name="图片 38" descr="\documentclass{article}&#10;\usepackage{amsmath}&#10;\pagestyle{empty}&#10;\begin{document}&#10;&#10;$\omega^n=R^n(\cos n\phi+i\sin n\phi)=r(\cos \theta+i\sin \theta)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356" y="4011101"/>
            <a:ext cx="5998463" cy="305409"/>
          </a:xfrm>
          <a:prstGeom prst="rect">
            <a:avLst/>
          </a:prstGeom>
        </p:spPr>
      </p:pic>
      <p:sp>
        <p:nvSpPr>
          <p:cNvPr id="34" name="箭头: 下 33"/>
          <p:cNvSpPr/>
          <p:nvPr/>
        </p:nvSpPr>
        <p:spPr>
          <a:xfrm>
            <a:off x="3978276" y="4416228"/>
            <a:ext cx="432048" cy="43204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4" name="图片 43" descr="\documentclass{article}&#10;\usepackage{amsmath}&#10;\pagestyle{empty}&#10;\begin{document}&#10;&#10;$\sqrt[n]{z}=\sqrt[n]{r}(\cos\frac{\theta+2k\pi}{n}+i\sin\frac{\theta+2k\pi}{n}),k=0,1,\cdots,n-1$&#10;&#10;&#10;\end{document}" title="IguanaTex Bitmap Display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230" y="4936111"/>
            <a:ext cx="7006130" cy="376732"/>
          </a:xfrm>
          <a:prstGeom prst="rect">
            <a:avLst/>
          </a:prstGeom>
        </p:spPr>
      </p:pic>
    </p:spTree>
    <p:custDataLst>
      <p:tags r:id="rId1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3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755576" y="1844824"/>
            <a:ext cx="705678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>
                <a:cs typeface="Times New Roman" panose="02020503050405090304" pitchFamily="18" charset="0"/>
              </a:rPr>
              <a:t>The modulus and argument of -64 are</a:t>
            </a:r>
            <a:endParaRPr lang="en-US" altLang="zh-CN" sz="240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>
                <a:cs typeface="Times New Roman" panose="02020503050405090304" pitchFamily="18" charset="0"/>
              </a:rPr>
              <a:t>For any                                        such that</a:t>
            </a:r>
            <a:endParaRPr lang="en-US" altLang="zh-CN" sz="240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>
                <a:cs typeface="Times New Roman" panose="02020503050405090304" pitchFamily="18" charset="0"/>
              </a:rPr>
              <a:t>Then we have that </a:t>
            </a:r>
            <a:endParaRPr lang="en-US" altLang="zh-CN" sz="240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5222" y="1270284"/>
            <a:ext cx="772316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cs typeface="Times New Roman" panose="02020503050405090304" pitchFamily="18" charset="0"/>
              </a:rPr>
              <a:t>Find and plot all values of </a:t>
            </a:r>
            <a:endParaRPr lang="en-US" altLang="zh-CN" sz="2800" dirty="0">
              <a:cs typeface="Times New Roman" panose="02020503050405090304" pitchFamily="18" charset="0"/>
            </a:endParaRPr>
          </a:p>
        </p:txBody>
      </p:sp>
      <p:pic>
        <p:nvPicPr>
          <p:cNvPr id="7" name="图片 6" descr="\documentclass{article}&#10;\usepackage{amsmath}&#10;\pagestyle{empty}&#10;\begin{document}&#10;&#10;$\sqrt[4]{-64}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1353738"/>
            <a:ext cx="900380" cy="356311"/>
          </a:xfrm>
          <a:prstGeom prst="rect">
            <a:avLst/>
          </a:prstGeom>
        </p:spPr>
      </p:pic>
      <p:pic>
        <p:nvPicPr>
          <p:cNvPr id="21" name="图片 20" descr="\documentclass{article}&#10;\usepackage{amsmath}&#10;\pagestyle{empty}&#10;\begin{document}&#10;&#10;\begin{align}&#10;&amp; R=\sqrt[4]{64}=2 \sqrt{2} \nonumber\\&#10;&amp; \phi=\frac{\pi}{4}, \frac{\pi+2 \pi}{4}, \frac{\pi+4 \pi}{4}, \frac{\pi+6 \pi}{4}, \cdots=\frac{\pi}{4}, \frac{3 \pi}{4}, \frac{5 \pi}{4}, \frac{7 \pi}{4}\nonumber&#10;\end{align}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4572121"/>
            <a:ext cx="6424186" cy="1044486"/>
          </a:xfrm>
          <a:prstGeom prst="rect">
            <a:avLst/>
          </a:prstGeom>
        </p:spPr>
      </p:pic>
      <p:pic>
        <p:nvPicPr>
          <p:cNvPr id="13" name="图片 12" descr="\documentclass{article}&#10;\usepackage{amsmath}&#10;\pagestyle{empty}&#10;\begin{document}&#10;&#10;$r=64, \theta=\pi+2 k \pi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2403478"/>
            <a:ext cx="2584094" cy="274320"/>
          </a:xfrm>
          <a:prstGeom prst="rect">
            <a:avLst/>
          </a:prstGeom>
        </p:spPr>
      </p:pic>
      <p:pic>
        <p:nvPicPr>
          <p:cNvPr id="17" name="图片 16" descr="\documentclass{article}&#10;\usepackage{amsmath}&#10;\pagestyle{empty}&#10;\begin{document}&#10;&#10;&#10;$\omega=R(\cos\phi+i\sin\phi)$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3055768"/>
            <a:ext cx="2809034" cy="305409"/>
          </a:xfrm>
          <a:prstGeom prst="rect">
            <a:avLst/>
          </a:prstGeom>
        </p:spPr>
      </p:pic>
      <p:pic>
        <p:nvPicPr>
          <p:cNvPr id="19" name="图片 18" descr="\documentclass{article}&#10;\usepackage{amsmath}&#10;\pagestyle{empty}&#10;\begin{document}&#10;&#10;&#10;$\omega^4=-64$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8294" y="3027123"/>
            <a:ext cx="1269187" cy="257861"/>
          </a:xfrm>
          <a:prstGeom prst="rect">
            <a:avLst/>
          </a:prstGeom>
        </p:spPr>
      </p:pic>
      <p:pic>
        <p:nvPicPr>
          <p:cNvPr id="4" name="图片 3" descr="\documentclass{article}&#10;\usepackage{amsmath}&#10;\pagestyle{empty}&#10;\begin{document}&#10;&#10;&#10;$R^4=64~\text{and}~4\phi=\pi+2k\pi$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790" y="3551266"/>
            <a:ext cx="3542386" cy="314554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755576" y="1844824"/>
            <a:ext cx="705678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Then we have that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Plot all values, one can observe that they are all on a circle of radius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5222" y="1270284"/>
            <a:ext cx="772316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cs typeface="Times New Roman" panose="02020503050405090304" pitchFamily="18" charset="0"/>
              </a:rPr>
              <a:t>Find and plot all values of </a:t>
            </a:r>
            <a:endParaRPr lang="en-US" altLang="zh-CN" sz="2800" dirty="0">
              <a:cs typeface="Times New Roman" panose="02020503050405090304" pitchFamily="18" charset="0"/>
            </a:endParaRPr>
          </a:p>
        </p:txBody>
      </p:sp>
      <p:pic>
        <p:nvPicPr>
          <p:cNvPr id="7" name="图片 6" descr="\documentclass{article}&#10;\usepackage{amsmath}&#10;\pagestyle{empty}&#10;\begin{document}&#10;&#10;$\sqrt[4]{-64}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1353738"/>
            <a:ext cx="900380" cy="356311"/>
          </a:xfrm>
          <a:prstGeom prst="rect">
            <a:avLst/>
          </a:prstGeom>
        </p:spPr>
      </p:pic>
      <p:pic>
        <p:nvPicPr>
          <p:cNvPr id="25" name="图片 24" descr="\documentclass{article}&#10;\usepackage{amsmath}&#10;\pagestyle{empty}&#10;\begin{document}&#10;&#10;&#10;$\sqrt[4]{-64}= \pm 2 \pm 2 i \text { (all four combinations of } \pm \text { signs) }$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702" y="2454920"/>
            <a:ext cx="6861658" cy="32918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8399" y="3935650"/>
            <a:ext cx="3191781" cy="2232248"/>
          </a:xfrm>
          <a:prstGeom prst="rect">
            <a:avLst/>
          </a:prstGeom>
        </p:spPr>
      </p:pic>
      <p:pic>
        <p:nvPicPr>
          <p:cNvPr id="6" name="图片 5" descr="\documentclass{article}&#10;\usepackage{amsmath}&#10;\pagestyle{empty}&#10;\begin{document}&#10;&#10;$2\sqrt{2}$&#10;&#10;&#10;\end{document}" title="IguanaTex Bitmap Display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840" y="3429000"/>
            <a:ext cx="543154" cy="30541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5222" y="1270284"/>
            <a:ext cx="772316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cs typeface="Times New Roman" panose="02020503050405090304" pitchFamily="18" charset="0"/>
              </a:rPr>
              <a:t>Write the polar form of the following complex numbers and plot them in the plane </a:t>
            </a:r>
            <a:endParaRPr lang="en-US" altLang="zh-CN" sz="2800" dirty="0">
              <a:cs typeface="Times New Roman" panose="02020503050405090304" pitchFamily="18" charset="0"/>
            </a:endParaRPr>
          </a:p>
        </p:txBody>
      </p:sp>
      <p:pic>
        <p:nvPicPr>
          <p:cNvPr id="23" name="图片 22" descr="\documentclass{article}&#10;\usepackage{amsmath}&#10;\pagestyle{empty}&#10;\begin{document}&#10;1. $1+i$\\&#10;&#10;2. $-4+4 i$\\&#10;&#10;3. $2 i,-2 i$\\&#10;&#10;4. $-5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2477811"/>
            <a:ext cx="1364285" cy="2392070"/>
          </a:xfrm>
          <a:prstGeom prst="rect">
            <a:avLst/>
          </a:prstGeom>
        </p:spPr>
      </p:pic>
      <p:pic>
        <p:nvPicPr>
          <p:cNvPr id="28" name="图片 27" descr="\documentclass{article}&#10;\usepackage{amsmath}&#10;\pagestyle{empty}&#10;\begin{document}&#10;&#10;5. $\frac{\sqrt{2}+i / 3}{-\sqrt{8}-2 i / 3}$\\&#10;&#10;6. $\frac{\sqrt{3}-10 i}{-\frac{1}{2} \sqrt{3}+5 i}$\\&#10;&#10;7. $1+\frac{1}{2} \pi i$\\&#10;&#10;8. $\frac{-4+9 i}{2+5 i}$\\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2348880"/>
            <a:ext cx="1548994" cy="2649931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5222" y="1270284"/>
            <a:ext cx="772316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cs typeface="Times New Roman" panose="02020503050405090304" pitchFamily="18" charset="0"/>
              </a:rPr>
              <a:t>Solve the equations</a:t>
            </a:r>
            <a:endParaRPr lang="en-US" altLang="zh-CN" sz="2800" dirty="0">
              <a:cs typeface="Times New Roman" panose="02020503050405090304" pitchFamily="18" charset="0"/>
            </a:endParaRPr>
          </a:p>
        </p:txBody>
      </p:sp>
      <p:pic>
        <p:nvPicPr>
          <p:cNvPr id="4" name="图片 3" descr="\documentclass{article}&#10;\usepackage{amsmath}&#10;\pagestyle{empty}&#10;\begin{document}&#10;&#10;$z^4-6 i z^2+16=0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3068960"/>
            <a:ext cx="2415845" cy="277978"/>
          </a:xfrm>
          <a:prstGeom prst="rect">
            <a:avLst/>
          </a:prstGeom>
        </p:spPr>
      </p:pic>
      <p:pic>
        <p:nvPicPr>
          <p:cNvPr id="7" name="图片 6" descr="\documentclass{article}&#10;\usepackage{amsmath}&#10;\pagestyle{empty}&#10;\begin{document}&#10;&#10;$z^2-(6-2 i) z+17-6 i=0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1988840"/>
            <a:ext cx="3666744" cy="32735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cs typeface="Times New Roman" panose="02020503050405090304" pitchFamily="18" charset="0"/>
              </a:rPr>
              <a:t>Exponential</a:t>
            </a:r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Form of Complex Numbers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415561"/>
            <a:ext cx="7931620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cs typeface="Times New Roman" panose="02020503050405090304" pitchFamily="18" charset="0"/>
              </a:rPr>
              <a:t>Euler’s Formula </a:t>
            </a:r>
            <a:endParaRPr lang="en-US" altLang="zh-CN" sz="28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800" b="1" dirty="0">
                <a:solidFill>
                  <a:srgbClr val="FF0000"/>
                </a:solidFill>
                <a:cs typeface="Times New Roman" panose="02020503050405090304" pitchFamily="18" charset="0"/>
              </a:rPr>
              <a:t>     VERY IMPORTANT</a:t>
            </a:r>
            <a:endParaRPr lang="en-US" altLang="zh-CN" sz="2800" b="1" dirty="0">
              <a:solidFill>
                <a:srgbClr val="FF0000"/>
              </a:solidFill>
              <a:cs typeface="Times New Roman" panose="02020503050405090304" pitchFamily="18" charset="0"/>
            </a:endParaRPr>
          </a:p>
        </p:txBody>
      </p:sp>
      <p:pic>
        <p:nvPicPr>
          <p:cNvPr id="4" name="图片 3" descr="\documentclass{article}&#10;\usepackage{amsmath}&#10;\pagestyle{empty}&#10;\begin{document}&#10;&#10;&#10;$e^{i\theta}=\cos\theta+i\sin\theta$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2479576"/>
            <a:ext cx="3600400" cy="418527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50206" y="3009227"/>
            <a:ext cx="705678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When            , we have Euler’s identity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cs typeface="Times New Roman" panose="02020503050405090304" pitchFamily="18" charset="0"/>
              </a:rPr>
              <a:t>The identity also links five fundamental mathematical constants: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cs typeface="Times New Roman" panose="02020503050405090304" pitchFamily="18" charset="0"/>
              </a:rPr>
              <a:t>An example of deep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mathematical beauty</a:t>
            </a: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6" name="图片 5" descr="\documentclass{article}&#10;\usepackage{amsmath}&#10;\pagestyle{empty}&#10;\begin{document}&#10;&#10;$\theta=\pi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3140968"/>
            <a:ext cx="716890" cy="215798"/>
          </a:xfrm>
          <a:prstGeom prst="rect">
            <a:avLst/>
          </a:prstGeom>
        </p:spPr>
      </p:pic>
      <p:pic>
        <p:nvPicPr>
          <p:cNvPr id="10" name="图片 9" descr="\documentclass{article}&#10;\usepackage{amsmath}&#10;\pagestyle{empty}&#10;\begin{document}&#10;&#10;&#10;$e^{i\pi}+1=0$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805" y="3564277"/>
            <a:ext cx="2251195" cy="432048"/>
          </a:xfrm>
          <a:prstGeom prst="rect">
            <a:avLst/>
          </a:prstGeom>
        </p:spPr>
      </p:pic>
      <p:pic>
        <p:nvPicPr>
          <p:cNvPr id="15" name="图片 14" descr="\documentclass{article}&#10;\usepackage{amsmath}&#10;\pagestyle{empty}&#10;\begin{document}&#10;&#10;$e,\pi,i,0,1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4581128"/>
            <a:ext cx="1236269" cy="261518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cs typeface="Times New Roman" panose="02020503050405090304" pitchFamily="18" charset="0"/>
              </a:rPr>
              <a:t>Exponential</a:t>
            </a:r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Form of Complex Numbers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12788" y="1403956"/>
            <a:ext cx="793162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cs typeface="Times New Roman" panose="02020503050405090304" pitchFamily="18" charset="0"/>
              </a:rPr>
              <a:t>The Euler’s formula is said to be</a:t>
            </a:r>
            <a:endParaRPr lang="en-US" altLang="zh-CN" sz="2800" b="1" dirty="0">
              <a:solidFill>
                <a:srgbClr val="FF0000"/>
              </a:solidFill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9552" y="2054771"/>
            <a:ext cx="705678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The most famous formula in all mathematics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 	—— Constance Reid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Most beautiful theorem in mathematics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	——The Mathematical Intelligencer in 1990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Greatest equation ever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lvl="1"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	—— Physics World in 2004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……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cs typeface="Times New Roman" panose="02020503050405090304" pitchFamily="18" charset="0"/>
              </a:rPr>
              <a:t>Exponential</a:t>
            </a:r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Form of Complex Numbers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12788" y="1403956"/>
            <a:ext cx="793162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cs typeface="Times New Roman" panose="02020503050405090304" pitchFamily="18" charset="0"/>
              </a:rPr>
              <a:t>The insight of Euler’s formula/identity</a:t>
            </a:r>
            <a:endParaRPr lang="en-US" altLang="zh-CN" sz="2800" dirty="0">
              <a:cs typeface="Times New Roman" panose="02020503050405090304" pitchFamily="18" charset="0"/>
            </a:endParaRPr>
          </a:p>
        </p:txBody>
      </p:sp>
      <p:pic>
        <p:nvPicPr>
          <p:cNvPr id="3" name="图片 2" descr="图表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2092970"/>
            <a:ext cx="3429000" cy="30765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30934" y="5486166"/>
            <a:ext cx="29523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The animation of </a:t>
            </a:r>
            <a:endParaRPr lang="zh-CN" altLang="en-US" sz="1600" dirty="0"/>
          </a:p>
        </p:txBody>
      </p:sp>
      <p:pic>
        <p:nvPicPr>
          <p:cNvPr id="13" name="图片 12" descr="\documentclass{article}&#10;\usepackage{amsmath}&#10;\pagestyle{empty}&#10;\begin{document}&#10;&#10;$\left(1+\frac{i \pi}{N}\right)^N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1510" y="5484231"/>
            <a:ext cx="951890" cy="329184"/>
          </a:xfrm>
          <a:prstGeom prst="rect">
            <a:avLst/>
          </a:prstGeom>
        </p:spPr>
      </p:pic>
      <p:pic>
        <p:nvPicPr>
          <p:cNvPr id="29" name="图片 28" descr="\documentclass{article}&#10;\usepackage{amsmath}&#10;\pagestyle{empty}&#10;\begin{document}&#10;&#10;$e^x=\lim \limits_{n \rightarrow \infty}\left(1+\frac{x}{n}\right)^n$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072" y="2996952"/>
            <a:ext cx="2536544" cy="460857"/>
          </a:xfrm>
          <a:prstGeom prst="rect">
            <a:avLst/>
          </a:prstGeom>
        </p:spPr>
      </p:pic>
      <p:pic>
        <p:nvPicPr>
          <p:cNvPr id="31" name="图片 30" descr="\documentclass{article}&#10;\usepackage{amsmath}&#10;\pagestyle{empty}&#10;\begin{document}&#10;&#10;$e^z=\lim \limits_{n \rightarrow \infty}\left(1+\frac{z}{n}\right)^n$&#10;&#10;&#10;\end{document}" title="IguanaTex Bitmap Display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073" y="4212969"/>
            <a:ext cx="2523743" cy="460857"/>
          </a:xfrm>
          <a:prstGeom prst="rect">
            <a:avLst/>
          </a:prstGeom>
        </p:spPr>
      </p:pic>
      <p:sp>
        <p:nvSpPr>
          <p:cNvPr id="27" name="箭头: 下 26"/>
          <p:cNvSpPr/>
          <p:nvPr/>
        </p:nvSpPr>
        <p:spPr>
          <a:xfrm>
            <a:off x="6156178" y="3708912"/>
            <a:ext cx="432048" cy="43204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7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cs typeface="Times New Roman" panose="02020503050405090304" pitchFamily="18" charset="0"/>
              </a:rPr>
              <a:t>Exponential</a:t>
            </a:r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Form of Complex Numbers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415561"/>
            <a:ext cx="793162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cs typeface="Times New Roman" panose="02020503050405090304" pitchFamily="18" charset="0"/>
              </a:rPr>
              <a:t>Proof of Euler’s formula</a:t>
            </a:r>
            <a:endParaRPr lang="en-US" altLang="zh-CN" sz="2800" b="1" dirty="0">
              <a:solidFill>
                <a:srgbClr val="FF0000"/>
              </a:solidFill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55576" y="1988840"/>
            <a:ext cx="705678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Recall the Taylor expansions you have learned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Do Taylor expansions for triangular functions around zero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9" name="图片 8" descr="\documentclass{article}&#10;\usepackage{amsmath}&#10;\pagestyle{empty}&#10;\begin{document}&#10;&#10;$f(x)=f(a)+(x-a) f^{\prime}(a)+\frac{1}{2 !}(x-a)^2 f^{\prime \prime}(a)+\cdots+\frac{1}{n !}(x-a)^n f^{(n)}(a)+\cdots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788" y="2560836"/>
            <a:ext cx="8147644" cy="309214"/>
          </a:xfrm>
          <a:prstGeom prst="rect">
            <a:avLst/>
          </a:prstGeom>
        </p:spPr>
      </p:pic>
      <p:pic>
        <p:nvPicPr>
          <p:cNvPr id="15" name="图片 14" descr="\documentclass{article}&#10;\usepackage{amsmath}&#10;\pagestyle{empty}&#10;\begin{document}&#10;&#10;\begin{align}&#10;&amp; \cos \theta=1-\frac{\theta^2}{2 !}+\frac{\theta^4}{4 !}-\cdots \nonumber\\&#10;&amp; \sin \theta=\theta-\frac{\theta^3}{3 !}+\frac{\theta^5}{5 !}-\cdots\nonumber&#10;\end{align}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999" y="4262420"/>
            <a:ext cx="2072456" cy="908270"/>
          </a:xfrm>
          <a:prstGeom prst="rect">
            <a:avLst/>
          </a:prstGeom>
        </p:spPr>
      </p:pic>
      <p:pic>
        <p:nvPicPr>
          <p:cNvPr id="18" name="图片 17" descr="\documentclass{article}&#10;\usepackage{amsmath}&#10;\pagestyle{empty}&#10;\begin{document}&#10;&#10;\begin{align}&#10;e^{{i} \theta} &amp; =1+{i} \theta+\frac{({i} \theta)^2}{2 !}+\frac{({i} \theta)^3}{3 !}+\frac{({i} \theta)^4}{4 !}+\frac{({i} \theta)^5}{5 !}+\cdots \nonumber\\&#10;&amp; =1+{i} \theta-\frac{\theta^2}{2 !}-{i} \frac{\theta^3}{3 !}+\frac{\theta^4}{4 !}+{i} \frac{\theta^5}{5 !} \cdots \nonumber\\&#10;&amp; =1-\frac{\theta^2}{2 !}+\frac{\theta^4}{4 !}+\ldots+{i}\left(\theta-\frac{\theta^3}{3 !}+\frac{\theta^5}{5 !} \cdots\right)\nonumber\\&#10;&amp;=\cos\theta+{i}\sin\theta\nonumber&#10;\end{align}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5492" y="3789038"/>
            <a:ext cx="4844919" cy="2016225"/>
          </a:xfrm>
          <a:prstGeom prst="rect">
            <a:avLst/>
          </a:prstGeom>
        </p:spPr>
      </p:pic>
      <p:sp>
        <p:nvSpPr>
          <p:cNvPr id="20" name="左大括号 19"/>
          <p:cNvSpPr/>
          <p:nvPr/>
        </p:nvSpPr>
        <p:spPr>
          <a:xfrm rot="10800000">
            <a:off x="2793256" y="4254169"/>
            <a:ext cx="432048" cy="1028951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Oval 17"/>
          <p:cNvSpPr/>
          <p:nvPr/>
        </p:nvSpPr>
        <p:spPr>
          <a:xfrm>
            <a:off x="3995936" y="5517231"/>
            <a:ext cx="1584176" cy="360041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Arrow Connector 18"/>
          <p:cNvCxnSpPr>
            <a:endCxn id="10" idx="1"/>
          </p:cNvCxnSpPr>
          <p:nvPr/>
        </p:nvCxnSpPr>
        <p:spPr>
          <a:xfrm>
            <a:off x="5264236" y="5861868"/>
            <a:ext cx="920450" cy="15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19"/>
          <p:cNvSpPr txBox="1"/>
          <p:nvPr/>
        </p:nvSpPr>
        <p:spPr>
          <a:xfrm>
            <a:off x="6184686" y="5692606"/>
            <a:ext cx="1806599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Euler’s Formula</a:t>
            </a:r>
            <a:endParaRPr lang="en-US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7" grpId="0" animBg="1"/>
      <p:bldP spid="1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cs typeface="Times New Roman" panose="02020503050405090304" pitchFamily="18" charset="0"/>
              </a:rPr>
              <a:t>Exponential</a:t>
            </a:r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Form of Complex Numbers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415561"/>
            <a:ext cx="793162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cs typeface="Times New Roman" panose="02020503050405090304" pitchFamily="18" charset="0"/>
              </a:rPr>
              <a:t>The exponential form of complex numbers can be obtained via Euler’s formula</a:t>
            </a:r>
            <a:endParaRPr lang="en-US" altLang="zh-CN" sz="2800" b="1" dirty="0">
              <a:solidFill>
                <a:srgbClr val="FF0000"/>
              </a:solidFill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50206" y="2377136"/>
            <a:ext cx="705678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Exponential form</a:t>
            </a:r>
            <a:r>
              <a:rPr lang="en-US" altLang="zh-CN" sz="2400" dirty="0">
                <a:cs typeface="Times New Roman" panose="02020503050405090304" pitchFamily="18" charset="0"/>
              </a:rPr>
              <a:t>: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Some properties are more easily proved under exponential form: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cs typeface="Times New Roman" panose="02020503050405090304" pitchFamily="18" charset="0"/>
              </a:rPr>
              <a:t>Multiplication and division: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cs typeface="Times New Roman" panose="02020503050405090304" pitchFamily="18" charset="0"/>
              </a:rPr>
              <a:t>Powers and De </a:t>
            </a:r>
            <a:r>
              <a:rPr lang="en-US" altLang="zh-CN" sz="2400" dirty="0" err="1">
                <a:cs typeface="Times New Roman" panose="02020503050405090304" pitchFamily="18" charset="0"/>
              </a:rPr>
              <a:t>Moivre’s</a:t>
            </a:r>
            <a:r>
              <a:rPr lang="en-US" altLang="zh-CN" sz="2400" dirty="0">
                <a:cs typeface="Times New Roman" panose="02020503050405090304" pitchFamily="18" charset="0"/>
              </a:rPr>
              <a:t> Formula :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47" name="图片 46" descr="\documentclass{article}&#10;\usepackage{amsmath}&#10;\pagestyle{empty}&#10;\begin{document}&#10;&#10;$z=r(\cos \theta+{i} \sin \theta)=r e^{{i} \theta}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7331" y="2439857"/>
            <a:ext cx="3524097" cy="336499"/>
          </a:xfrm>
          <a:prstGeom prst="rect">
            <a:avLst/>
          </a:prstGeom>
        </p:spPr>
      </p:pic>
      <p:pic>
        <p:nvPicPr>
          <p:cNvPr id="41" name="图片 40" descr="\documentclass{article}&#10;\usepackage{amsmath}&#10;\pagestyle{empty}&#10;\begin{document}&#10;\begin{align}&#10;&amp; z_1 \cdot z_2=r_1 e^{{i} \theta_1} \cdot r_2 e^{{i} \theta_2}=r_1 r_2 e^{{i}\left(\theta_1+\theta_2\right)} \nonumber\\&#10;&amp; \frac{z_1}{z_2}=\frac{r_1 e^{{i} \theta_1}}{r_2 e^{{i} \theta_2}}=\frac{r_1}{r_2} e^{{i}\left(\theta_1-\theta_2\right)} \quad\left(z_2 \neq 0\right)\nonumber&#10;\end{align}&#10;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3940278"/>
            <a:ext cx="4070604" cy="1028700"/>
          </a:xfrm>
          <a:prstGeom prst="rect">
            <a:avLst/>
          </a:prstGeom>
        </p:spPr>
      </p:pic>
      <p:pic>
        <p:nvPicPr>
          <p:cNvPr id="43" name="图片 42" descr="\documentclass{article}&#10;\usepackage{amsmath}&#10;\pagestyle{empty}&#10;\begin{document}&#10;&#10;&#10;$z^n=\left(r e^{{i} \theta}\right)^n=r^n \cdot e^{i n \theta}$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5442439"/>
            <a:ext cx="2572512" cy="318516"/>
          </a:xfrm>
          <a:prstGeom prst="rect">
            <a:avLst/>
          </a:prstGeom>
        </p:spPr>
      </p:pic>
      <p:pic>
        <p:nvPicPr>
          <p:cNvPr id="45" name="图片 44" descr="\documentclass{article}&#10;\usepackage{amsmath}&#10;\pagestyle{empty}&#10;\begin{document}&#10;&#10;$\left(e^{{i} \theta}\right)^n=(\cos \theta+{i} \sin \theta)^n=e^{{in} \theta}=\cos n \theta+{i} \sin n \theta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960" y="5814385"/>
            <a:ext cx="5551932" cy="318516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5222" y="1270284"/>
            <a:ext cx="772316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cs typeface="Times New Roman" panose="02020503050405090304" pitchFamily="18" charset="0"/>
              </a:rPr>
              <a:t>Write the exponential form of </a:t>
            </a:r>
            <a:endParaRPr lang="en-US" altLang="zh-CN" sz="2800" dirty="0"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27584" y="1916832"/>
            <a:ext cx="705678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 </a:t>
            </a: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 </a:t>
            </a: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 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6" name="图片 5" descr="\documentclass{article}&#10;\usepackage{amsmath}&#10;\pagestyle{empty}&#10;\begin{document}&#10;&#10;$4+3i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2032284"/>
            <a:ext cx="757123" cy="228600"/>
          </a:xfrm>
          <a:prstGeom prst="rect">
            <a:avLst/>
          </a:prstGeom>
        </p:spPr>
      </p:pic>
      <p:pic>
        <p:nvPicPr>
          <p:cNvPr id="8" name="图片 7" descr="\documentclass{article}&#10;\usepackage{amsmath}&#10;\pagestyle{empty}&#10;\begin{document}&#10;&#10;$-6.3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942" y="3101655"/>
            <a:ext cx="587045" cy="206654"/>
          </a:xfrm>
          <a:prstGeom prst="rect">
            <a:avLst/>
          </a:prstGeom>
        </p:spPr>
      </p:pic>
      <p:pic>
        <p:nvPicPr>
          <p:cNvPr id="10" name="图片 9" descr="\documentclass{article}&#10;\usepackage{amsmath}&#10;\pagestyle{empty}&#10;\begin{document}&#10;&#10;$\sqrt{i}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364" y="4149080"/>
            <a:ext cx="338328" cy="305410"/>
          </a:xfrm>
          <a:prstGeom prst="rect">
            <a:avLst/>
          </a:prstGeom>
        </p:spPr>
      </p:pic>
      <p:pic>
        <p:nvPicPr>
          <p:cNvPr id="13" name="图片 12" descr="\documentclass{article}&#10;\usepackage{amsmath}&#10;\pagestyle{empty}&#10;\begin{document}&#10;&#10;$5e^{i\arctan{\frac{3}{4}}}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2483480"/>
            <a:ext cx="1261872" cy="298094"/>
          </a:xfrm>
          <a:prstGeom prst="rect">
            <a:avLst/>
          </a:prstGeom>
        </p:spPr>
      </p:pic>
      <p:pic>
        <p:nvPicPr>
          <p:cNvPr id="16" name="图片 15" descr="\documentclass{article}&#10;\usepackage{amsmath}&#10;\pagestyle{empty}&#10;\begin{document}&#10;&#10;$6.3e^{i\pi}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92" y="3501008"/>
            <a:ext cx="738835" cy="257860"/>
          </a:xfrm>
          <a:prstGeom prst="rect">
            <a:avLst/>
          </a:prstGeom>
        </p:spPr>
      </p:pic>
      <p:pic>
        <p:nvPicPr>
          <p:cNvPr id="26" name="图片 25" descr="\documentclass{article}&#10;\usepackage{amsmath}&#10;\pagestyle{empty}&#10;\begin{document}&#10;&#10;$e^{i\frac{\pi}{4}}~\text{and}~e^{i\frac{5\pi}{4}}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5819" y="4592834"/>
            <a:ext cx="1625802" cy="294436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5222" y="1270284"/>
            <a:ext cx="772316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cs typeface="Times New Roman" panose="02020503050405090304" pitchFamily="18" charset="0"/>
              </a:rPr>
              <a:t>Transform                             into exponential form</a:t>
            </a:r>
            <a:endParaRPr lang="en-US" altLang="zh-CN" sz="2800" dirty="0">
              <a:cs typeface="Times New Roman" panose="02020503050405090304" pitchFamily="18" charset="0"/>
            </a:endParaRPr>
          </a:p>
        </p:txBody>
      </p:sp>
      <p:pic>
        <p:nvPicPr>
          <p:cNvPr id="16" name="图片 15" descr="\documentclass{article}&#10;\usepackage{amsmath}&#10;\pagestyle{empty}&#10;\begin{document}&#10;&#10;$(1+i)^2 /(1-i)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1340937"/>
            <a:ext cx="2280818" cy="381914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83" y="2910971"/>
            <a:ext cx="2905796" cy="2726894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755576" y="1966094"/>
            <a:ext cx="70567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Plot            and            to obtain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cs typeface="Times New Roman" panose="02020503050405090304" pitchFamily="18" charset="0"/>
              </a:rPr>
              <a:t> Then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21" name="图片 20" descr="\documentclass{article}&#10;\usepackage{amsmath}&#10;\pagestyle{empty}&#10;\begin{document}&#10;&#10;&#10;$1+i$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6544" y="2122109"/>
            <a:ext cx="585216" cy="226771"/>
          </a:xfrm>
          <a:prstGeom prst="rect">
            <a:avLst/>
          </a:prstGeom>
        </p:spPr>
      </p:pic>
      <p:pic>
        <p:nvPicPr>
          <p:cNvPr id="24" name="图片 23" descr="\documentclass{article}&#10;\usepackage{amsmath}&#10;\pagestyle{empty}&#10;\begin{document}&#10;&#10;&#10;$1-i$&#10;&#10;\end{document}" title="IguanaTex Bitmap Display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561" y="2122109"/>
            <a:ext cx="585216" cy="202997"/>
          </a:xfrm>
          <a:prstGeom prst="rect">
            <a:avLst/>
          </a:prstGeom>
        </p:spPr>
      </p:pic>
      <p:pic>
        <p:nvPicPr>
          <p:cNvPr id="28" name="图片 27" descr="\documentclass{article}&#10;\usepackage{amsmath}&#10;\pagestyle{empty}&#10;\begin{document}&#10;&#10;&#10;$1+i=\sqrt{2} e^{i \pi / 4}~\text{and}~1-i=\sqrt{2} e^{-i \pi / 4}$&#10;&#10;\end{document}" title="IguanaTex Bitmap Display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9152" y="2596136"/>
            <a:ext cx="4979823" cy="310896"/>
          </a:xfrm>
          <a:prstGeom prst="rect">
            <a:avLst/>
          </a:prstGeom>
        </p:spPr>
      </p:pic>
      <p:pic>
        <p:nvPicPr>
          <p:cNvPr id="34" name="图片 33" descr="\documentclass{article}&#10;\usepackage{amsmath}&#10;\pagestyle{empty}&#10;\begin{document}&#10;&#10;&#10;\begin{align}&#10;\frac{(1+i)^2}{1-i}=\ &amp;\frac{\left(\sqrt{2} e^{i \pi / 4}\right)^2}{\sqrt{2} e^{-i \pi / 4}}\nonumber\\&#10;=\ &amp;\frac{2 e^{i \pi / 2}}{\sqrt{2} e^{-i \pi / 4}}=\sqrt{2} e^{3 i \pi / 4}\nonumber&#10;\end{align}&#10;&#10;&#10;\end{document}" title="IguanaTex Bitmap Display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337" y="3861048"/>
            <a:ext cx="4032448" cy="1618115"/>
          </a:xfrm>
          <a:prstGeom prst="rect">
            <a:avLst/>
          </a:prstGeom>
        </p:spPr>
      </p:pic>
    </p:spTree>
    <p:custDataLst>
      <p:tags r:id="rId1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5222" y="1270284"/>
            <a:ext cx="772316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cs typeface="Times New Roman" panose="02020503050405090304" pitchFamily="18" charset="0"/>
              </a:rPr>
              <a:t>Find and plot all roots </a:t>
            </a:r>
            <a:endParaRPr lang="en-US" altLang="zh-CN" sz="2800" dirty="0">
              <a:cs typeface="Times New Roman" panose="02020503050405090304" pitchFamily="18" charset="0"/>
            </a:endParaRPr>
          </a:p>
        </p:txBody>
      </p:sp>
      <p:pic>
        <p:nvPicPr>
          <p:cNvPr id="6" name="图片 5" descr="\documentclass{article}&#10;\usepackage{amsmath}&#10;\pagestyle{empty}&#10;\begin{document}&#10;&#10;1. $\sqrt[3]{3+4 i}$ \\&#10;&#10;2. $\sqrt[4]{-4}$ \\&#10;&#10;3. $\sqrt[8]{1}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2348880"/>
            <a:ext cx="1411834" cy="175199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</p:sld>
</file>

<file path=ppt/tags/tag1.xml><?xml version="1.0" encoding="utf-8"?>
<p:tagLst xmlns:p="http://schemas.openxmlformats.org/presentationml/2006/main">
  <p:tag name="TIMING" val="|29"/>
</p:tagLst>
</file>

<file path=ppt/tags/tag2.xml><?xml version="1.0" encoding="utf-8"?>
<p:tagLst xmlns:p="http://schemas.openxmlformats.org/presentationml/2006/main">
  <p:tag name="TIMING" val="|29"/>
</p:tagLst>
</file>

<file path=ppt/tags/tag3.xml><?xml version="1.0" encoding="utf-8"?>
<p:tagLst xmlns:p="http://schemas.openxmlformats.org/presentationml/2006/main">
  <p:tag name="TIMING" val="|29"/>
</p:tagLst>
</file>

<file path=ppt/tags/tag4.xml><?xml version="1.0" encoding="utf-8"?>
<p:tagLst xmlns:p="http://schemas.openxmlformats.org/presentationml/2006/main">
  <p:tag name="TIMING" val="|29"/>
</p:tagLst>
</file>

<file path=ppt/tags/tag5.xml><?xml version="1.0" encoding="utf-8"?>
<p:tagLst xmlns:p="http://schemas.openxmlformats.org/presentationml/2006/main">
  <p:tag name="TIMING" val="|29"/>
</p:tagLst>
</file>

<file path=ppt/tags/tag6.xml><?xml version="1.0" encoding="utf-8"?>
<p:tagLst xmlns:p="http://schemas.openxmlformats.org/presentationml/2006/main">
  <p:tag name="TIMING" val="|29"/>
</p:tagLst>
</file>

<file path=ppt/tags/tag7.xml><?xml version="1.0" encoding="utf-8"?>
<p:tagLst xmlns:p="http://schemas.openxmlformats.org/presentationml/2006/main">
  <p:tag name="TIMING" val="|29"/>
</p:tagLst>
</file>

<file path=ppt/tags/tag8.xml><?xml version="1.0" encoding="utf-8"?>
<p:tagLst xmlns:p="http://schemas.openxmlformats.org/presentationml/2006/main">
  <p:tag name="TIMING" val="|29"/>
</p:tagLst>
</file>

<file path=ppt/tags/tag9.xml><?xml version="1.0" encoding="utf-8"?>
<p:tagLst xmlns:p="http://schemas.openxmlformats.org/presentationml/2006/main">
  <p:tag name="TIMING" val="|29"/>
</p:tagLst>
</file>

<file path=ppt/tags/tag10.xml><?xml version="1.0" encoding="utf-8"?>
<p:tagLst xmlns:p="http://schemas.openxmlformats.org/presentationml/2006/main">
  <p:tag name="TIMING" val="|29"/>
</p:tagLst>
</file>

<file path=ppt/tags/tag11.xml><?xml version="1.0" encoding="utf-8"?>
<p:tagLst xmlns:p="http://schemas.openxmlformats.org/presentationml/2006/main">
  <p:tag name="TIMING" val="|29"/>
</p:tagLst>
</file>

<file path=ppt/tags/tag12.xml><?xml version="1.0" encoding="utf-8"?>
<p:tagLst xmlns:p="http://schemas.openxmlformats.org/presentationml/2006/main">
  <p:tag name="TIMING" val="|29"/>
</p:tagLst>
</file>

<file path=ppt/tags/tag13.xml><?xml version="1.0" encoding="utf-8"?>
<p:tagLst xmlns:p="http://schemas.openxmlformats.org/presentationml/2006/main">
  <p:tag name="TIMING" val="|29"/>
</p:tagLst>
</file>

<file path=ppt/tags/tag14.xml><?xml version="1.0" encoding="utf-8"?>
<p:tagLst xmlns:p="http://schemas.openxmlformats.org/presentationml/2006/main">
  <p:tag name="OUTPUTDPI" val="1200"/>
  <p:tag name="ORIGINALHEIGHT" val="113.25"/>
  <p:tag name="ORIGINALWIDTH" val="561.75"/>
  <p:tag name="LATEXADDIN" val="\documentclass{article}&#10;\usepackage{amsmath}&#10;\pagestyle{empty}&#10;\begin{document}&#10;&#10;$x^2+1=0$&#10;&#10;&#10;\end{document}"/>
  <p:tag name="IGUANATEXSIZE" val="24"/>
  <p:tag name="IGUANATEXCURSOR" val="89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5.xml><?xml version="1.0" encoding="utf-8"?>
<p:tagLst xmlns:p="http://schemas.openxmlformats.org/presentationml/2006/main">
  <p:tag name="OUTPUTDPI" val="1200"/>
  <p:tag name="ORIGINALHEIGHT" val="113.25"/>
  <p:tag name="ORIGINALWIDTH" val="971.25"/>
  <p:tag name="LATEXADDIN" val="\documentclass{article}&#10;\usepackage{amsmath}&#10;\pagestyle{empty}&#10;\begin{document}&#10;&#10;$x^2-10x+40=0$&#10;&#10;&#10;\end{document}"/>
  <p:tag name="IGUANATEXSIZE" val="24"/>
  <p:tag name="IGUANATEXCURSOR" val="92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6.xml><?xml version="1.0" encoding="utf-8"?>
<p:tagLst xmlns:p="http://schemas.openxmlformats.org/presentationml/2006/main">
  <p:tag name="TIMING" val="|29"/>
</p:tagLst>
</file>

<file path=ppt/tags/tag17.xml><?xml version="1.0" encoding="utf-8"?>
<p:tagLst xmlns:p="http://schemas.openxmlformats.org/presentationml/2006/main">
  <p:tag name="OUTPUTDPI" val="1200"/>
  <p:tag name="ORIGINALHEIGHT" val="125.25"/>
  <p:tag name="ORIGINALWIDTH" val="469.5"/>
  <p:tag name="LATEXADDIN" val="\documentclass{article}&#10;\usepackage{amsmath}&#10;\pagestyle{empty}&#10;\begin{document}&#10;&#10;$i=\sqrt{-1}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8.xml><?xml version="1.0" encoding="utf-8"?>
<p:tagLst xmlns:p="http://schemas.openxmlformats.org/presentationml/2006/main">
  <p:tag name="OUTPUTDPI" val="1200"/>
  <p:tag name="ORIGINALHEIGHT" val="108"/>
  <p:tag name="ORIGINALWIDTH" val="552"/>
  <p:tag name="LATEXADDIN" val="\documentclass{article}&#10;\usepackage{amsmath}&#10;\pagestyle{empty}&#10;\begin{document}&#10;&#10;$z=x+{i}y$&#10;&#10;&#10;\end{document}"/>
  <p:tag name="IGUANATEXSIZE" val="24"/>
  <p:tag name="IGUANATEXCURSOR" val="86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9.xml><?xml version="1.0" encoding="utf-8"?>
<p:tagLst xmlns:p="http://schemas.openxmlformats.org/presentationml/2006/main">
  <p:tag name="OUTPUTDPI" val="1200"/>
  <p:tag name="ORIGINALHEIGHT" val="55.5"/>
  <p:tag name="ORIGINALWIDTH" val="62.25"/>
  <p:tag name="LATEXADDIN" val="\documentclass{article}&#10;\usepackage{amsmath}&#10;\pagestyle{empty}&#10;\begin{document}&#10;&#10;$x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20.xml><?xml version="1.0" encoding="utf-8"?>
<p:tagLst xmlns:p="http://schemas.openxmlformats.org/presentationml/2006/main">
  <p:tag name="OUTPUTDPI" val="1200"/>
  <p:tag name="ORIGINALHEIGHT" val="80.25"/>
  <p:tag name="ORIGINALWIDTH" val="58.5"/>
  <p:tag name="LATEXADDIN" val="\documentclass{article}&#10;\usepackage{amsmath}&#10;\pagestyle{empty}&#10;\begin{document}&#10;&#10;$y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21.xml><?xml version="1.0" encoding="utf-8"?>
<p:tagLst xmlns:p="http://schemas.openxmlformats.org/presentationml/2006/main">
  <p:tag name="OUTPUTDPI" val="1200"/>
  <p:tag name="ORIGINALHEIGHT" val="87.75"/>
  <p:tag name="ORIGINALWIDTH" val="480.75"/>
  <p:tag name="LATEXADDIN" val="\documentclass{article}&#10;\usepackage{amsmath}&#10;\pagestyle{empty}&#10;\begin{document}&#10;&#10;&#10;$x={\rm Re}~z$&#10;&#10;\end{document}"/>
  <p:tag name="IGUANATEXSIZE" val="20"/>
  <p:tag name="IGUANATEXCURSOR" val="9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22.xml><?xml version="1.0" encoding="utf-8"?>
<p:tagLst xmlns:p="http://schemas.openxmlformats.org/presentationml/2006/main">
  <p:tag name="OUTPUTDPI" val="1200"/>
  <p:tag name="ORIGINALHEIGHT" val="111"/>
  <p:tag name="ORIGINALWIDTH" val="477"/>
  <p:tag name="LATEXADDIN" val="\documentclass{article}&#10;\usepackage{amsmath}&#10;\pagestyle{empty}&#10;\begin{document}&#10;&#10;&#10;$y={\rm Im}~z$&#10;&#10;\end{document}"/>
  <p:tag name="IGUANATEXSIZE" val="20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23.xml><?xml version="1.0" encoding="utf-8"?>
<p:tagLst xmlns:p="http://schemas.openxmlformats.org/presentationml/2006/main">
  <p:tag name="OUTPUTDPI" val="1200"/>
  <p:tag name="ORIGINALHEIGHT" val="84.75"/>
  <p:tag name="ORIGINALWIDTH" val="291"/>
  <p:tag name="LATEXADDIN" val="\documentclass{article}&#10;\usepackage{amsmath}&#10;\pagestyle{empty}&#10;\begin{document}&#10;&#10;$x=0$&#10;&#10;&#10;\end{document}"/>
  <p:tag name="IGUANATEXSIZE" val="24"/>
  <p:tag name="IGUANATEXCURSOR" val="85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24.xml><?xml version="1.0" encoding="utf-8"?>
<p:tagLst xmlns:p="http://schemas.openxmlformats.org/presentationml/2006/main">
  <p:tag name="OUTPUTDPI" val="1200"/>
  <p:tag name="ORIGINALHEIGHT" val="103.5"/>
  <p:tag name="ORIGINALWIDTH" val="411"/>
  <p:tag name="LATEXADDIN" val="\documentclass{article}&#10;\usepackage{amsmath}&#10;\pagestyle{empty}&#10;\begin{document}&#10;&#10;${i}^2=-1$&#10;&#10;&#10;\end{document}"/>
  <p:tag name="IGUANATEXSIZE" val="24"/>
  <p:tag name="IGUANATEXCURSOR" val="82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25.xml><?xml version="1.0" encoding="utf-8"?>
<p:tagLst xmlns:p="http://schemas.openxmlformats.org/presentationml/2006/main">
  <p:tag name="TIMING" val="|29"/>
</p:tagLst>
</file>

<file path=ppt/tags/tag26.xml><?xml version="1.0" encoding="utf-8"?>
<p:tagLst xmlns:p="http://schemas.openxmlformats.org/presentationml/2006/main">
  <p:tag name="OUTPUTDPI" val="1200"/>
  <p:tag name="ORIGINALHEIGHT" val="82.5"/>
  <p:tag name="ORIGINALWIDTH" val="139.5"/>
  <p:tag name="LATEXADDIN" val="\documentclass{article}&#10;\usepackage{amsmath}&#10;\pagestyle{empty}&#10;\begin{document}&#10;&#10;&#10;$-1$&#10;&#10;\end{document}"/>
  <p:tag name="IGUANATEXSIZE" val="24"/>
  <p:tag name="IGUANATEXCURSOR" val="85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27.xml><?xml version="1.0" encoding="utf-8"?>
<p:tagLst xmlns:p="http://schemas.openxmlformats.org/presentationml/2006/main">
  <p:tag name="OUTPUTDPI" val="1200"/>
  <p:tag name="ORIGINALHEIGHT" val="83.25"/>
  <p:tag name="ORIGINALWIDTH" val="33.75"/>
  <p:tag name="LATEXADDIN" val="\documentclass{article}&#10;\usepackage{amsmath}&#10;\pagestyle{empty}&#10;\begin{document}&#10;&#10;&#10;$i$&#10;&#10;\end{document}"/>
  <p:tag name="IGUANATEXSIZE" val="24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28.xml><?xml version="1.0" encoding="utf-8"?>
<p:tagLst xmlns:p="http://schemas.openxmlformats.org/presentationml/2006/main">
  <p:tag name="TIMING" val="|29"/>
</p:tagLst>
</file>

<file path=ppt/tags/tag29.xml><?xml version="1.0" encoding="utf-8"?>
<p:tagLst xmlns:p="http://schemas.openxmlformats.org/presentationml/2006/main">
  <p:tag name="OUTPUTDPI" val="1200"/>
  <p:tag name="ORIGINALHEIGHT" val="125.25"/>
  <p:tag name="ORIGINALWIDTH" val="1709.25"/>
  <p:tag name="LATEXADDIN" val="\documentclass{article}&#10;\usepackage{amsmath}&#10;\pagestyle{empty}&#10;\begin{document}&#10;&#10;$z_1+z_2=(x_1+x_2)+i(y_1+y_2)$&#10;&#10;&#10;\end{document}"/>
  <p:tag name="IGUANATEXSIZE" val="24"/>
  <p:tag name="IGUANATEXCURSOR" val="109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30.xml><?xml version="1.0" encoding="utf-8"?>
<p:tagLst xmlns:p="http://schemas.openxmlformats.org/presentationml/2006/main">
  <p:tag name="OUTPUTDPI" val="1200"/>
  <p:tag name="ORIGINALHEIGHT" val="312"/>
  <p:tag name="ORIGINALWIDTH" val="1912.5"/>
  <p:tag name="LATEXADDIN" val="\documentclass{article}&#10;\usepackage{amsmath}&#10;\pagestyle{empty}&#10;\begin{document}&#10;&#10;\begin{align}&#10;z_1z_2=&amp;(x_1+iy_1)(x_2+iy_2)\nonumber\\&#10;=&amp;x_1x_2-y_1y_2+i(x_1y_2+y_1x_2)\nonumber&#10;\end{align}&#10;&#10;&#10;\end{document}"/>
  <p:tag name="IGUANATEXSIZE" val="24"/>
  <p:tag name="IGUANATEXCURSOR" val="166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31.xml><?xml version="1.0" encoding="utf-8"?>
<p:tagLst xmlns:p="http://schemas.openxmlformats.org/presentationml/2006/main">
  <p:tag name="OUTPUTDPI" val="1200"/>
  <p:tag name="ORIGINALHEIGHT" val="112.5"/>
  <p:tag name="ORIGINALWIDTH" val="1704"/>
  <p:tag name="LATEXADDIN" val="\documentclass{article}&#10;\usepackage{amsmath}&#10;\pagestyle{empty}&#10;\begin{document}&#10;&#10;$z_1=x_1+iy_1 ~\text{and}~z_2=x_2+iy_2$&#10;&#10;&#10;\end{document}"/>
  <p:tag name="IGUANATEXSIZE" val="24"/>
  <p:tag name="IGUANATEXCURSOR" val="9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32.xml><?xml version="1.0" encoding="utf-8"?>
<p:tagLst xmlns:p="http://schemas.openxmlformats.org/presentationml/2006/main">
  <p:tag name="TIMING" val="|29"/>
</p:tagLst>
</file>

<file path=ppt/tags/tag33.xml><?xml version="1.0" encoding="utf-8"?>
<p:tagLst xmlns:p="http://schemas.openxmlformats.org/presentationml/2006/main">
  <p:tag name="OUTPUTDPI" val="1200"/>
  <p:tag name="ORIGINALHEIGHT" val="125.25"/>
  <p:tag name="ORIGINALWIDTH" val="1709.25"/>
  <p:tag name="LATEXADDIN" val="\documentclass{article}&#10;\usepackage{amsmath}&#10;\pagestyle{empty}&#10;\begin{document}&#10;&#10;$z_1-z_2=(x_1-x_2)+i(y_1-y_2)$&#10;&#10;&#10;\end{document}"/>
  <p:tag name="IGUANATEXSIZE" val="24"/>
  <p:tag name="IGUANATEXCURSOR" val="106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34.xml><?xml version="1.0" encoding="utf-8"?>
<p:tagLst xmlns:p="http://schemas.openxmlformats.org/presentationml/2006/main">
  <p:tag name="OUTPUTDPI" val="1200"/>
  <p:tag name="ORIGINALHEIGHT" val="619.5"/>
  <p:tag name="ORIGINALWIDTH" val="3126"/>
  <p:tag name="LATEXADDIN" val="\documentclass{article}&#10;\usepackage{amsmath}&#10;\pagestyle{empty}&#10;\begin{document}&#10;&#10;\begin{align}&#10;\frac{z_1}{z_2}=&amp;\frac{x_1+iy_1}{x_2+iy_2}=\frac{(x_1+iy_1)(x_2-iy_2)}{(x_2+iy_2)(x_2-iy_2)}\nonumber\\&#10;=&amp;\frac{x_1x_2+y_1y_2}{x_2^2+y_2^2}+i\frac{x_2y_1-y_2x_1}{x_2^2+y_2^2}&#10;\end{align}&#10;&#10;&#10;\end{document}"/>
  <p:tag name="IGUANATEXSIZE" val="24"/>
  <p:tag name="IGUANATEXCURSOR" val="138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35.xml><?xml version="1.0" encoding="utf-8"?>
<p:tagLst xmlns:p="http://schemas.openxmlformats.org/presentationml/2006/main">
  <p:tag name="OUTPUTDPI" val="1200"/>
  <p:tag name="ORIGINALHEIGHT" val="112.5"/>
  <p:tag name="ORIGINALWIDTH" val="1704"/>
  <p:tag name="LATEXADDIN" val="\documentclass{article}&#10;\usepackage{amsmath}&#10;\pagestyle{empty}&#10;\begin{document}&#10;&#10;$z_1=x_1+iy_1 ~\text{and}~z_2=x_2+iy_2$&#10;&#10;&#10;\end{document}"/>
  <p:tag name="IGUANATEXSIZE" val="24"/>
  <p:tag name="IGUANATEXCURSOR" val="9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36.xml><?xml version="1.0" encoding="utf-8"?>
<p:tagLst xmlns:p="http://schemas.openxmlformats.org/presentationml/2006/main">
  <p:tag name="TIMING" val="|29"/>
</p:tagLst>
</file>

<file path=ppt/tags/tag37.xml><?xml version="1.0" encoding="utf-8"?>
<p:tagLst xmlns:p="http://schemas.openxmlformats.org/presentationml/2006/main">
  <p:tag name="OUTPUTDPI" val="1200"/>
  <p:tag name="ORIGINALHEIGHT" val="101.25"/>
  <p:tag name="ORIGINALWIDTH" val="588"/>
  <p:tag name="LATEXADDIN" val="\documentclass{article}&#10;\usepackage{amsmath}&#10;\pagestyle{empty}&#10;\begin{document}&#10;&#10;$z_1=8+3i$&#10;&#10;&#10;\end{document}"/>
  <p:tag name="IGUANATEXSIZE" val="28"/>
  <p:tag name="IGUANATEXCURSOR" val="90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38.xml><?xml version="1.0" encoding="utf-8"?>
<p:tagLst xmlns:p="http://schemas.openxmlformats.org/presentationml/2006/main">
  <p:tag name="OUTPUTDPI" val="1200"/>
  <p:tag name="ORIGINALHEIGHT" val="101.25"/>
  <p:tag name="ORIGINALWIDTH" val="588"/>
  <p:tag name="LATEXADDIN" val="\documentclass{article}&#10;\usepackage{amsmath}&#10;\pagestyle{empty}&#10;\begin{document}&#10;&#10;$z_2=9-2i$&#10;&#10;&#10;\end{document}"/>
  <p:tag name="IGUANATEXSIZE" val="28"/>
  <p:tag name="IGUANATEXCURSOR" val="89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39.xml><?xml version="1.0" encoding="utf-8"?>
<p:tagLst xmlns:p="http://schemas.openxmlformats.org/presentationml/2006/main">
  <p:tag name="OUTPUTDPI" val="1200"/>
  <p:tag name="ORIGINALHEIGHT" val="103.5"/>
  <p:tag name="ORIGINALWIDTH" val="854.25"/>
  <p:tag name="LATEXADDIN" val="\documentclass{article}&#10;\usepackage{amsmath}&#10;\pagestyle{empty}&#10;\begin{document}&#10;&#10;$z_1+z_2=17+i$&#10;&#10;&#10;\end{document}"/>
  <p:tag name="IGUANATEXSIZE" val="24"/>
  <p:tag name="IGUANATEXCURSOR" val="90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40.xml><?xml version="1.0" encoding="utf-8"?>
<p:tagLst xmlns:p="http://schemas.openxmlformats.org/presentationml/2006/main">
  <p:tag name="OUTPUTDPI" val="1200"/>
  <p:tag name="ORIGINALHEIGHT" val="103.5"/>
  <p:tag name="ORIGINALWIDTH" val="826.5"/>
  <p:tag name="LATEXADDIN" val="\documentclass{article}&#10;\usepackage{amsmath}&#10;\pagestyle{empty}&#10;\begin{document}&#10;&#10;$z_1z_2=78+11i$&#10;&#10;&#10;\end{document}"/>
  <p:tag name="IGUANATEXSIZE" val="24"/>
  <p:tag name="IGUANATEXCURSOR" val="95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41.xml><?xml version="1.0" encoding="utf-8"?>
<p:tagLst xmlns:p="http://schemas.openxmlformats.org/presentationml/2006/main">
  <p:tag name="OUTPUTDPI" val="1200"/>
  <p:tag name="ORIGINALHEIGHT" val="101.25"/>
  <p:tag name="ORIGINALWIDTH" val="951"/>
  <p:tag name="LATEXADDIN" val="\documentclass{article}&#10;\usepackage{amsmath}&#10;\pagestyle{empty}&#10;\begin{document}&#10;&#10;$z_1-z_2=-1+5i$&#10;&#10;&#10;\end{document}"/>
  <p:tag name="IGUANATEXSIZE" val="24"/>
  <p:tag name="IGUANATEXCURSOR" val="95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42.xml><?xml version="1.0" encoding="utf-8"?>
<p:tagLst xmlns:p="http://schemas.openxmlformats.org/presentationml/2006/main">
  <p:tag name="OUTPUTDPI" val="1200"/>
  <p:tag name="ORIGINALHEIGHT" val="163.5"/>
  <p:tag name="ORIGINALWIDTH" val="724.5"/>
  <p:tag name="LATEXADDIN" val="\documentclass{article}&#10;\usepackage{amsmath}&#10;\pagestyle{empty}&#10;\begin{document}&#10;&#10;$\frac{z_1}{z_2}=\frac{66}{85}+\frac{43}{85}i$&#10;&#10;&#10;\end{document}"/>
  <p:tag name="IGUANATEXSIZE" val="24"/>
  <p:tag name="IGUANATEXCURSOR" val="126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43.xml><?xml version="1.0" encoding="utf-8"?>
<p:tagLst xmlns:p="http://schemas.openxmlformats.org/presentationml/2006/main">
  <p:tag name="TIMING" val="|29"/>
</p:tagLst>
</file>

<file path=ppt/tags/tag44.xml><?xml version="1.0" encoding="utf-8"?>
<p:tagLst xmlns:p="http://schemas.openxmlformats.org/presentationml/2006/main">
  <p:tag name="OUTPUTDPI" val="1200"/>
  <p:tag name="ORIGINALHEIGHT" val="108"/>
  <p:tag name="ORIGINALWIDTH" val="552"/>
  <p:tag name="LATEXADDIN" val="\documentclass{article}&#10;\usepackage{amsmath}&#10;\pagestyle{empty}&#10;\begin{document}&#10;&#10;$z=x+iy $&#10;&#10;&#10;\end{document}"/>
  <p:tag name="IGUANATEXSIZE" val="28"/>
  <p:tag name="IGUANATEXCURSOR" val="89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45.xml><?xml version="1.0" encoding="utf-8"?>
<p:tagLst xmlns:p="http://schemas.openxmlformats.org/presentationml/2006/main">
  <p:tag name="OUTPUTDPI" val="1200"/>
  <p:tag name="ORIGINALHEIGHT" val="108"/>
  <p:tag name="ORIGINALWIDTH" val="552"/>
  <p:tag name="LATEXADDIN" val="\documentclass{article}&#10;\usepackage{amsmath}&#10;\pagestyle{empty}&#10;\begin{document}&#10;&#10;$\bar{z}=x-iy $&#10;&#10;&#10;\end{document}"/>
  <p:tag name="IGUANATEXSIZE" val="28"/>
  <p:tag name="IGUANATEXCURSOR" val="92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46.xml><?xml version="1.0" encoding="utf-8"?>
<p:tagLst xmlns:p="http://schemas.openxmlformats.org/presentationml/2006/main">
  <p:tag name="OUTPUTDPI" val="1200"/>
  <p:tag name="ORIGINALHEIGHT" val="73.5"/>
  <p:tag name="ORIGINALWIDTH" val="56.25"/>
  <p:tag name="LATEXADDIN" val="\documentclass{article}&#10;\usepackage{amsmath}&#10;\pagestyle{empty}&#10;\begin{document}&#10;&#10;$\bar{z}$&#10;&#10;&#10;\end{document}"/>
  <p:tag name="IGUANATEXSIZE" val="24"/>
  <p:tag name="IGUANATEXCURSOR" val="89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47.xml><?xml version="1.0" encoding="utf-8"?>
<p:tagLst xmlns:p="http://schemas.openxmlformats.org/presentationml/2006/main">
  <p:tag name="OUTPUTDPI" val="1200"/>
  <p:tag name="ORIGINALHEIGHT" val="86.25"/>
  <p:tag name="ORIGINALWIDTH" val="102"/>
  <p:tag name="LATEXADDIN" val="\documentclass{article}&#10;\usepackage{amsmath}&#10;\pagestyle{empty}&#10;\begin{document}&#10;&#10;${z}^*$&#10;&#10;&#10;\end{document}"/>
  <p:tag name="IGUANATEXSIZE" val="24"/>
  <p:tag name="IGUANATEXCURSOR" val="87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48.xml><?xml version="1.0" encoding="utf-8"?>
<p:tagLst xmlns:p="http://schemas.openxmlformats.org/presentationml/2006/main">
  <p:tag name="OUTPUTDPI" val="1200"/>
  <p:tag name="ORIGINALHEIGHT" val="55.5"/>
  <p:tag name="ORIGINALWIDTH" val="53.25"/>
  <p:tag name="LATEXADDIN" val="\documentclass{article}&#10;\usepackage{amsmath}&#10;\pagestyle{empty}&#10;\begin{document}&#10;&#10;&#10;$z$&#10;&#10;\end{document}"/>
  <p:tag name="IGUANATEXSIZE" val="24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49.xml><?xml version="1.0" encoding="utf-8"?>
<p:tagLst xmlns:p="http://schemas.openxmlformats.org/presentationml/2006/main">
  <p:tag name="TIMING" val="|29"/>
</p:tagLst>
</file>

<file path=ppt/tags/tag50.xml><?xml version="1.0" encoding="utf-8"?>
<p:tagLst xmlns:p="http://schemas.openxmlformats.org/presentationml/2006/main">
  <p:tag name="OUTPUTDPI" val="1200"/>
  <p:tag name="ORIGINALHEIGHT" val="134.25"/>
  <p:tag name="ORIGINALWIDTH" val="1750.5"/>
  <p:tag name="LATEXADDIN" val="\documentclass{article}&#10;\usepackage{amsmath}&#10;\pagestyle{empty}&#10;\begin{document}&#10;&#10;$\bar{z}z=[{\rm Re}~z]^2+[{\rm Im}~z]^2=x^2+y^2 $&#10;&#10;&#10;\end{document}"/>
  <p:tag name="IGUANATEXSIZE" val="24"/>
  <p:tag name="IGUANATEXCURSOR" val="116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51.xml><?xml version="1.0" encoding="utf-8"?>
<p:tagLst xmlns:p="http://schemas.openxmlformats.org/presentationml/2006/main">
  <p:tag name="OUTPUTDPI" val="1200"/>
  <p:tag name="ORIGINALHEIGHT" val="111.75"/>
  <p:tag name="ORIGINALWIDTH" val="913.5"/>
  <p:tag name="LATEXADDIN" val="\documentclass{article}&#10;\usepackage{amsmath}&#10;\pagestyle{empty}&#10;\begin{document}&#10;&#10;$\overline{z_1+ z_2}=\bar{z}_1+\bar{z}_2$&#10;&#10;&#10;\end{document}"/>
  <p:tag name="IGUANATEXSIZE" val="24"/>
  <p:tag name="IGUANATEXCURSOR" val="112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52.xml><?xml version="1.0" encoding="utf-8"?>
<p:tagLst xmlns:p="http://schemas.openxmlformats.org/presentationml/2006/main">
  <p:tag name="OUTPUTDPI" val="1200"/>
  <p:tag name="ORIGINALHEIGHT" val="111.75"/>
  <p:tag name="ORIGINALWIDTH" val="913.5"/>
  <p:tag name="LATEXADDIN" val="\documentclass{article}&#10;\usepackage{amsmath}&#10;\pagestyle{empty}&#10;\begin{document}&#10;&#10;$\overline{z_1- z_2}=\bar{z}_1-\bar{z}_2$&#10;&#10;&#10;\end{document}"/>
  <p:tag name="IGUANATEXSIZE" val="24"/>
  <p:tag name="IGUANATEXCURSOR" val="112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53.xml><?xml version="1.0" encoding="utf-8"?>
<p:tagLst xmlns:p="http://schemas.openxmlformats.org/presentationml/2006/main">
  <p:tag name="OUTPUTDPI" val="1200"/>
  <p:tag name="ORIGINALHEIGHT" val="94.5"/>
  <p:tag name="ORIGINALWIDTH" val="789"/>
  <p:tag name="LATEXADDIN" val="\documentclass{article}&#10;\usepackage{amsmath}&#10;\pagestyle{empty}&#10;\begin{document}&#10;&#10;$\overline{z_1\cdot z_2}=\bar{z}_1\cdot\bar{z}_2$&#10;&#10;&#10;\end{document}"/>
  <p:tag name="IGUANATEXSIZE" val="24"/>
  <p:tag name="IGUANATEXCURSOR" val="120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54.xml><?xml version="1.0" encoding="utf-8"?>
<p:tagLst xmlns:p="http://schemas.openxmlformats.org/presentationml/2006/main">
  <p:tag name="OUTPUTDPI" val="1200"/>
  <p:tag name="ORIGINALHEIGHT" val="164.25"/>
  <p:tag name="ORIGINALWIDTH" val="403.5"/>
  <p:tag name="LATEXADDIN" val="\documentclass{article}&#10;\usepackage{amsmath}&#10;\pagestyle{empty}&#10;\begin{document}&#10;&#10;$\overline{\frac{z_1}{ z_2}}=\frac{\bar{z}_1}{\bar{z}_2}$&#10;&#10;&#10;\end{document}"/>
  <p:tag name="IGUANATEXSIZE" val="24"/>
  <p:tag name="IGUANATEXCURSOR" val="137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55.xml><?xml version="1.0" encoding="utf-8"?>
<p:tagLst xmlns:p="http://schemas.openxmlformats.org/presentationml/2006/main">
  <p:tag name="OUTPUTDPI" val="1200"/>
  <p:tag name="ORIGINALHEIGHT" val="146.25"/>
  <p:tag name="ORIGINALWIDTH" val="843.75"/>
  <p:tag name="LATEXADDIN" val="\documentclass{article}&#10;\usepackage{amsmath}&#10;\pagestyle{empty}&#10;\begin{document}&#10;&#10;$\frac{z+\bar{z}}{2}={\rm Re}~z=x$&#10;&#10;&#10;\end{document}"/>
  <p:tag name="IGUANATEXSIZE" val="24"/>
  <p:tag name="IGUANATEXCURSOR" val="11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56.xml><?xml version="1.0" encoding="utf-8"?>
<p:tagLst xmlns:p="http://schemas.openxmlformats.org/presentationml/2006/main">
  <p:tag name="OUTPUTDPI" val="1200"/>
  <p:tag name="ORIGINALHEIGHT" val="144.75"/>
  <p:tag name="ORIGINALWIDTH" val="842.25"/>
  <p:tag name="LATEXADDIN" val="\documentclass{article}&#10;\usepackage{amsmath}&#10;\pagestyle{empty}&#10;\begin{document}&#10;&#10;$\frac{z-\bar{z}}{2i}={\rm Im}~z=y$&#10;&#10;&#10;\end{document}"/>
  <p:tag name="IGUANATEXSIZE" val="24"/>
  <p:tag name="IGUANATEXCURSOR" val="115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57.xml><?xml version="1.0" encoding="utf-8"?>
<p:tagLst xmlns:p="http://schemas.openxmlformats.org/presentationml/2006/main">
  <p:tag name="OUTPUTDPI" val="1200"/>
  <p:tag name="ORIGINALHEIGHT" val="90.75"/>
  <p:tag name="ORIGINALWIDTH" val="282.75"/>
  <p:tag name="LATEXADDIN" val="\documentclass{article}&#10;\usepackage{amsmath}&#10;\pagestyle{empty}&#10;\begin{document}&#10;&#10;$\bar{\bar{z}}=z $&#10;&#10;&#10;\end{document}"/>
  <p:tag name="IGUANATEXSIZE" val="24"/>
  <p:tag name="IGUANATEXCURSOR" val="97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58.xml><?xml version="1.0" encoding="utf-8"?>
<p:tagLst xmlns:p="http://schemas.openxmlformats.org/presentationml/2006/main">
  <p:tag name="TIMING" val="|29"/>
</p:tagLst>
</file>

<file path=ppt/tags/tag59.xml><?xml version="1.0" encoding="utf-8"?>
<p:tagLst xmlns:p="http://schemas.openxmlformats.org/presentationml/2006/main">
  <p:tag name="OUTPUTDPI" val="1200"/>
  <p:tag name="ORIGINALHEIGHT" val="101.25"/>
  <p:tag name="ORIGINALWIDTH" val="588"/>
  <p:tag name="LATEXADDIN" val="\documentclass{article}&#10;\usepackage{amsmath}&#10;\pagestyle{empty}&#10;\begin{document}&#10;&#10;$z_1=5-5i$&#10;&#10;&#10;\end{document}"/>
  <p:tag name="IGUANATEXSIZE" val="28"/>
  <p:tag name="IGUANATEXCURSOR" val="90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60.xml><?xml version="1.0" encoding="utf-8"?>
<p:tagLst xmlns:p="http://schemas.openxmlformats.org/presentationml/2006/main">
  <p:tag name="OUTPUTDPI" val="1200"/>
  <p:tag name="ORIGINALHEIGHT" val="102"/>
  <p:tag name="ORIGINALWIDTH" val="684.75"/>
  <p:tag name="LATEXADDIN" val="\documentclass{article}&#10;\usepackage{amsmath}&#10;\pagestyle{empty}&#10;\begin{document}&#10;&#10;$z_2=-3+4i$&#10;&#10;&#10;\end{document}"/>
  <p:tag name="IGUANATEXSIZE" val="28"/>
  <p:tag name="IGUANATEXCURSOR" val="90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61.xml><?xml version="1.0" encoding="utf-8"?>
<p:tagLst xmlns:p="http://schemas.openxmlformats.org/presentationml/2006/main">
  <p:tag name="OUTPUTDPI" val="1200"/>
  <p:tag name="ORIGINALHEIGHT" val="144.75"/>
  <p:tag name="ORIGINALWIDTH" val="96.75"/>
  <p:tag name="LATEXADDIN" val="\documentclass{article}&#10;\usepackage{amsmath}&#10;\pagestyle{empty}&#10;\begin{document}&#10;&#10;&#10;$\frac{ {z}_1}{ {z}_2}$&#10;&#10;\end{document}"/>
  <p:tag name="IGUANATEXSIZE" val="28"/>
  <p:tag name="IGUANATEXCURSOR" val="98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62.xml><?xml version="1.0" encoding="utf-8"?>
<p:tagLst xmlns:p="http://schemas.openxmlformats.org/presentationml/2006/main">
  <p:tag name="OUTPUTDPI" val="1200"/>
  <p:tag name="ORIGINALHEIGHT" val="158.25"/>
  <p:tag name="ORIGINALWIDTH" val="96.75"/>
  <p:tag name="LATEXADDIN" val="\documentclass{article}&#10;\usepackage{amsmath}&#10;\pagestyle{empty}&#10;\begin{document}&#10;&#10;&#10;$\frac{\bar{z}_1}{\bar{z}_2}$&#10;&#10;\end{document}"/>
  <p:tag name="IGUANATEXSIZE" val="28"/>
  <p:tag name="IGUANATEXCURSOR" val="110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63.xml><?xml version="1.0" encoding="utf-8"?>
<p:tagLst xmlns:p="http://schemas.openxmlformats.org/presentationml/2006/main">
  <p:tag name="OUTPUTDPI" val="1200"/>
  <p:tag name="ORIGINALHEIGHT" val="598.5"/>
  <p:tag name="ORIGINALWIDTH" val="2359.5"/>
  <p:tag name="LATEXADDIN" val="\documentclass{article}&#10;\usepackage{amsmath}&#10;\pagestyle{empty}&#10;\begin{document}&#10;&#10;\begin{align}&#10;(1)~~~~~~\frac{z_1}{z_2} &amp; =\frac{5-5 i}{-3+4 i}=\frac{(5-5 i)(-3-4 i)}{(-3+4 i)(-3-4 i)} \nonumber\\&#10;&amp; =\frac{-35-5 i}{25}=-\frac{7}{5}-\frac{1}{5} i\nonumber&#10;\end{align}&#10;&#10;&#10;\end{document}"/>
  <p:tag name="IGUANATEXSIZE" val="24"/>
  <p:tag name="IGUANATEXCURSOR" val="100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64.xml><?xml version="1.0" encoding="utf-8"?>
<p:tagLst xmlns:p="http://schemas.openxmlformats.org/presentationml/2006/main">
  <p:tag name="OUTPUTDPI" val="1200"/>
  <p:tag name="ORIGINALHEIGHT" val="244.5"/>
  <p:tag name="ORIGINALWIDTH" val="1573.5"/>
  <p:tag name="LATEXADDIN" val="\documentclass{article}&#10;\usepackage{amsmath}&#10;\pagestyle{empty}&#10;\begin{document}&#10;&#10;&#10;$(2)~~~~~~\frac{\bar{z}_1}{\bar{z}_2}=\overline{\left(\frac{z_1}{z_2}\right)}=-\frac{7}{5}+\frac{1}{5} i$&#10;&#10;\end{document}"/>
  <p:tag name="IGUANATEXSIZE" val="24"/>
  <p:tag name="IGUANATEXCURSOR" val="92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65.xml><?xml version="1.0" encoding="utf-8"?>
<p:tagLst xmlns:p="http://schemas.openxmlformats.org/presentationml/2006/main">
  <p:tag name="TIMING" val="|29"/>
</p:tagLst>
</file>

<file path=ppt/tags/tag66.xml><?xml version="1.0" encoding="utf-8"?>
<p:tagLst xmlns:p="http://schemas.openxmlformats.org/presentationml/2006/main">
  <p:tag name="OUTPUTDPI" val="1200"/>
  <p:tag name="ORIGINALHEIGHT" val="125.25"/>
  <p:tag name="ORIGINALWIDTH" val="1289.25"/>
  <p:tag name="LATEXADDIN" val="\documentclass{article}&#10;\usepackage{amsmath}&#10;\pagestyle{empty}&#10;\begin{document}&#10;&#10;$\bar{z_1}z_2+z_1\bar{z_2}=2{\rm Re}(z_1\bar{z_2})$&#10;&#10;&#10;\end{document}"/>
  <p:tag name="IGUANATEXSIZE" val="28"/>
  <p:tag name="IGUANATEXCURSOR" val="109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67.xml><?xml version="1.0" encoding="utf-8"?>
<p:tagLst xmlns:p="http://schemas.openxmlformats.org/presentationml/2006/main">
  <p:tag name="OUTPUTDPI" val="1200"/>
  <p:tag name="ORIGINALHEIGHT" val="495"/>
  <p:tag name="ORIGINALWIDTH" val="1370.25"/>
  <p:tag name="LATEXADDIN" val="\documentclass{article}&#10;\usepackage{amsmath}&#10;\pagestyle{empty}&#10;\begin{document}&#10;&#10;\begin{align}&#10;\bar{z_1}z_2+z_1\bar{z_2}=\ &amp;\bar{z_1}\bar{\bar{z_2}}+z_1\bar{z_2}\nonumber\\&#10;=\ &amp;\overline{z_1\bar{z_2}}+z_1\bar{z_2}\nonumber\\&#10;=\ &amp;2{\rm Re}(z_1\bar{z_2})\nonumber&#10;\end{align}&#10;&#10;&#10;\end{document}"/>
  <p:tag name="IGUANATEXSIZE" val="28"/>
  <p:tag name="IGUANATEXCURSOR" val="229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68.xml><?xml version="1.0" encoding="utf-8"?>
<p:tagLst xmlns:p="http://schemas.openxmlformats.org/presentationml/2006/main">
  <p:tag name="TIMING" val="|29"/>
</p:tagLst>
</file>

<file path=ppt/tags/tag69.xml><?xml version="1.0" encoding="utf-8"?>
<p:tagLst xmlns:p="http://schemas.openxmlformats.org/presentationml/2006/main">
  <p:tag name="OUTPUTDPI" val="1200"/>
  <p:tag name="ORIGINALHEIGHT" val="92.25"/>
  <p:tag name="ORIGINALWIDTH" val="825.75"/>
  <p:tag name="LATEXADDIN" val="\documentclass{article}&#10;\usepackage{amsmath}&#10;\pagestyle{empty}&#10;\begin{document}&#10;&#10;$z_1&lt;z_2, z_1&gt;z_2$&#10;&#10;&#10;\end{document}"/>
  <p:tag name="IGUANATEXSIZE" val="24"/>
  <p:tag name="IGUANATEXCURSOR" val="98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70.xml><?xml version="1.0" encoding="utf-8"?>
<p:tagLst xmlns:p="http://schemas.openxmlformats.org/presentationml/2006/main">
  <p:tag name="OUTPUTDPI" val="1200"/>
  <p:tag name="ORIGINALHEIGHT" val="73.5"/>
  <p:tag name="ORIGINALWIDTH" val="376.5"/>
  <p:tag name="LATEXADDIN" val="\documentclass{article}&#10;\usepackage{amsmath}&#10;\pagestyle{empty}&#10;\begin{document}&#10;&#10;$z_1=z_2$&#10;&#10;&#10;\end{document}"/>
  <p:tag name="IGUANATEXSIZE" val="24"/>
  <p:tag name="IGUANATEXCURSOR" val="89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71.xml><?xml version="1.0" encoding="utf-8"?>
<p:tagLst xmlns:p="http://schemas.openxmlformats.org/presentationml/2006/main">
  <p:tag name="OUTPUTDPI" val="1200"/>
  <p:tag name="ORIGINALHEIGHT" val="73.5"/>
  <p:tag name="ORIGINALWIDTH" val="405"/>
  <p:tag name="LATEXADDIN" val="\documentclass{article}&#10;\usepackage{amsmath}&#10;\pagestyle{empty}&#10;\begin{document}&#10;&#10;$x_1=x_2$&#10;&#10;&#10;\end{document}"/>
  <p:tag name="IGUANATEXSIZE" val="24"/>
  <p:tag name="IGUANATEXCURSOR" val="87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72.xml><?xml version="1.0" encoding="utf-8"?>
<p:tagLst xmlns:p="http://schemas.openxmlformats.org/presentationml/2006/main">
  <p:tag name="OUTPUTDPI" val="1200"/>
  <p:tag name="ORIGINALHEIGHT" val="80.25"/>
  <p:tag name="ORIGINALWIDTH" val="384.75"/>
  <p:tag name="LATEXADDIN" val="\documentclass{article}&#10;\usepackage{amsmath}&#10;\pagestyle{empty}&#10;\begin{document}&#10;&#10;$y_1=y_2$&#10;&#10;&#10;\end{document}"/>
  <p:tag name="IGUANATEXSIZE" val="24"/>
  <p:tag name="IGUANATEXCURSOR" val="87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73.xml><?xml version="1.0" encoding="utf-8"?>
<p:tagLst xmlns:p="http://schemas.openxmlformats.org/presentationml/2006/main">
  <p:tag name="TIMING" val="|29"/>
</p:tagLst>
</file>

<file path=ppt/tags/tag74.xml><?xml version="1.0" encoding="utf-8"?>
<p:tagLst xmlns:p="http://schemas.openxmlformats.org/presentationml/2006/main">
  <p:tag name="OUTPUTDPI" val="1200"/>
  <p:tag name="ORIGINALHEIGHT" val="55.5"/>
  <p:tag name="ORIGINALWIDTH" val="62.25"/>
  <p:tag name="LATEXADDIN" val="\documentclass{article}&#10;\usepackage{amsmath}&#10;\pagestyle{empty}&#10;\begin{document}&#10;&#10;$x$&#10;&#10;&#10;\end{document}"/>
  <p:tag name="IGUANATEXSIZE" val="28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75.xml><?xml version="1.0" encoding="utf-8"?>
<p:tagLst xmlns:p="http://schemas.openxmlformats.org/presentationml/2006/main">
  <p:tag name="OUTPUTDPI" val="1200"/>
  <p:tag name="ORIGINALHEIGHT" val="80.25"/>
  <p:tag name="ORIGINALWIDTH" val="58.5"/>
  <p:tag name="LATEXADDIN" val="\documentclass{article}&#10;\usepackage{amsmath}&#10;\pagestyle{empty}&#10;\begin{document}&#10;&#10;$y$&#10;&#10;&#10;\end{document}"/>
  <p:tag name="IGUANATEXSIZE" val="28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76.xml><?xml version="1.0" encoding="utf-8"?>
<p:tagLst xmlns:p="http://schemas.openxmlformats.org/presentationml/2006/main">
  <p:tag name="OUTPUTDPI" val="1200"/>
  <p:tag name="ORIGINALHEIGHT" val="134.25"/>
  <p:tag name="ORIGINALWIDTH" val="767.25"/>
  <p:tag name="LATEXADDIN" val="\documentclass{article}&#10;\usepackage{amsmath}&#10;\pagestyle{empty}&#10;\begin{document}&#10;&#10;$(x+i y)^2=2 i.$&#10;&#10;&#10;\end{document}"/>
  <p:tag name="IGUANATEXSIZE" val="28"/>
  <p:tag name="IGUANATEXCURSOR" val="96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77.xml><?xml version="1.0" encoding="utf-8"?>
<p:tagLst xmlns:p="http://schemas.openxmlformats.org/presentationml/2006/main">
  <p:tag name="OUTPUTDPI" val="1200"/>
  <p:tag name="ORIGINALHEIGHT" val="134.25"/>
  <p:tag name="ORIGINALWIDTH" val="1421.25"/>
  <p:tag name="LATEXADDIN" val="\documentclass{article}&#10;\usepackage{amsmath}&#10;\pagestyle{empty}&#10;\begin{document}&#10;&#10;&#10;$(x+i y)^2=x^2+2 i x y-y^2$&#10;&#10;\end{document}"/>
  <p:tag name="IGUANATEXSIZE" val="24"/>
  <p:tag name="IGUANATEXCURSOR" val="108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78.xml><?xml version="1.0" encoding="utf-8"?>
<p:tagLst xmlns:p="http://schemas.openxmlformats.org/presentationml/2006/main">
  <p:tag name="OUTPUTDPI" val="1200"/>
  <p:tag name="ORIGINALHEIGHT" val="277.5"/>
  <p:tag name="ORIGINALWIDTH" val="621"/>
  <p:tag name="LATEXADDIN" val="\documentclass{article}&#10;\usepackage{amsmath}&#10;\pagestyle{empty}&#10;\begin{document}&#10;&#10;$\begin{array}{r}&#10;x^2-y^2=0 \\&#10;2 x y=2 .&#10;\end{array}$&#10;&#10;&#10;\end{document}"/>
  <p:tag name="IGUANATEXSIZE" val="24"/>
  <p:tag name="IGUANATEXCURSOR" val="13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79.xml><?xml version="1.0" encoding="utf-8"?>
<p:tagLst xmlns:p="http://schemas.openxmlformats.org/presentationml/2006/main">
  <p:tag name="OUTPUTDPI" val="1200"/>
  <p:tag name="ORIGINALHEIGHT" val="80.25"/>
  <p:tag name="ORIGINALWIDTH" val="294.75"/>
  <p:tag name="LATEXADDIN" val="\documentclass{article}&#10;\usepackage{amsmath}&#10;\pagestyle{empty}&#10;\begin{document}&#10;&#10;$y=x$&#10;&#10;&#10;\end{document}"/>
  <p:tag name="IGUANATEXSIZE" val="24"/>
  <p:tag name="IGUANATEXCURSOR" val="85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80.xml><?xml version="1.0" encoding="utf-8"?>
<p:tagLst xmlns:p="http://schemas.openxmlformats.org/presentationml/2006/main">
  <p:tag name="OUTPUTDPI" val="1200"/>
  <p:tag name="ORIGINALHEIGHT" val="80.25"/>
  <p:tag name="ORIGINALWIDTH" val="391.5"/>
  <p:tag name="LATEXADDIN" val="\documentclass{article}&#10;\usepackage{amsmath}&#10;\pagestyle{empty}&#10;\begin{document}&#10;&#10;$y=-x$&#10;&#10;&#10;\end{document}"/>
  <p:tag name="IGUANATEXSIZE" val="24"/>
  <p:tag name="IGUANATEXCURSOR" val="85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81.xml><?xml version="1.0" encoding="utf-8"?>
<p:tagLst xmlns:p="http://schemas.openxmlformats.org/presentationml/2006/main">
  <p:tag name="OUTPUTDPI" val="1200"/>
  <p:tag name="ORIGINALHEIGHT" val="103.5"/>
  <p:tag name="ORIGINALWIDTH" val="1418.25"/>
  <p:tag name="LATEXADDIN" val="\documentclass{article}&#10;\usepackage{amsmath}&#10;\pagestyle{empty}&#10;\begin{document}&#10;&#10;&#10;$2 x^2=2 \quad \text { or } \quad-2 x^2=2$&#10;&#10;\end{document}"/>
  <p:tag name="IGUANATEXSIZE" val="24"/>
  <p:tag name="IGUANATEXCURSOR" val="12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82.xml><?xml version="1.0" encoding="utf-8"?>
<p:tagLst xmlns:p="http://schemas.openxmlformats.org/presentationml/2006/main">
  <p:tag name="OUTPUTDPI" val="1200"/>
  <p:tag name="ORIGINALHEIGHT" val="55.5"/>
  <p:tag name="ORIGINALWIDTH" val="62.25"/>
  <p:tag name="LATEXADDIN" val="\documentclass{article}&#10;\usepackage{amsmath}&#10;\pagestyle{empty}&#10;\begin{document}&#10;&#10;$x$&#10;&#10;&#10;\end{document}"/>
  <p:tag name="IGUANATEXSIZE" val="28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83.xml><?xml version="1.0" encoding="utf-8"?>
<p:tagLst xmlns:p="http://schemas.openxmlformats.org/presentationml/2006/main">
  <p:tag name="OUTPUTDPI" val="1200"/>
  <p:tag name="ORIGINALHEIGHT" val="112.5"/>
  <p:tag name="ORIGINALWIDTH" val="1677.75"/>
  <p:tag name="LATEXADDIN" val="\documentclass{article}&#10;\usepackage{amsmath}&#10;\pagestyle{empty}&#10;\begin{document}&#10;&#10;$x=y=1 \quad \text { and } \quad x=y=-1$&#10;&#10;&#10;\end{document}"/>
  <p:tag name="IGUANATEXSIZE" val="24"/>
  <p:tag name="IGUANATEXCURSOR" val="120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84.xml><?xml version="1.0" encoding="utf-8"?>
<p:tagLst xmlns:p="http://schemas.openxmlformats.org/presentationml/2006/main">
  <p:tag name="TIMING" val="|29"/>
</p:tagLst>
</file>

<file path=ppt/tags/tag85.xml><?xml version="1.0" encoding="utf-8"?>
<p:tagLst xmlns:p="http://schemas.openxmlformats.org/presentationml/2006/main">
  <p:tag name="OUTPUTDPI" val="1200"/>
  <p:tag name="ORIGINALHEIGHT" val="108"/>
  <p:tag name="ORIGINALWIDTH" val="552"/>
  <p:tag name="LATEXADDIN" val="\documentclass{article}&#10;\usepackage{amsmath}&#10;\pagestyle{empty}&#10;\begin{document}&#10;&#10;$z=x+iy $&#10;&#10;&#10;\end{document}"/>
  <p:tag name="IGUANATEXSIZE" val="28"/>
  <p:tag name="IGUANATEXCURSOR" val="89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86.xml><?xml version="1.0" encoding="utf-8"?>
<p:tagLst xmlns:p="http://schemas.openxmlformats.org/presentationml/2006/main">
  <p:tag name="OUTPUTDPI" val="1200"/>
  <p:tag name="ORIGINALHEIGHT" val="125.25"/>
  <p:tag name="ORIGINALWIDTH" val="501"/>
  <p:tag name="LATEXADDIN" val="\documentclass{article}&#10;\usepackage{amsmath}&#10;\pagestyle{empty}&#10;\begin{document}&#10;&#10;$z=(x,y) $&#10;&#10;&#10;\end{document}"/>
  <p:tag name="IGUANATEXSIZE" val="28"/>
  <p:tag name="IGUANATEXCURSOR" val="88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87.xml><?xml version="1.0" encoding="utf-8"?>
<p:tagLst xmlns:p="http://schemas.openxmlformats.org/presentationml/2006/main">
  <p:tag name="OUTPUTDPI" val="1200"/>
  <p:tag name="ORIGINALHEIGHT" val="312"/>
  <p:tag name="ORIGINALWIDTH" val="1437.75"/>
  <p:tag name="LATEXADDIN" val="\documentclass{article}&#10;\usepackage{amsmath}&#10;\pagestyle{empty}&#10;\begin{document}&#10;&#10;\begin{align}&#10;z_1+z_2=&amp;(x_1,y_1)+(x_2,y_2)\nonumber\\&#10;=&amp;(x_1+x_2,y_1+y_2)\nonumber&#10;\end{align}&#10;&#10;&#10;\end{document}"/>
  <p:tag name="IGUANATEXSIZE" val="24"/>
  <p:tag name="IGUANATEXCURSOR" val="92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88.xml><?xml version="1.0" encoding="utf-8"?>
<p:tagLst xmlns:p="http://schemas.openxmlformats.org/presentationml/2006/main">
  <p:tag name="OUTPUTDPI" val="1200"/>
  <p:tag name="ORIGINALHEIGHT" val="312"/>
  <p:tag name="ORIGINALWIDTH" val="1773"/>
  <p:tag name="LATEXADDIN" val="\documentclass{article}&#10;\usepackage{amsmath}&#10;\pagestyle{empty}&#10;\begin{document}&#10;&#10;\begin{align}&#10;z_1z_2=&amp;(x_1,y_1)\cdot(x_2,y_2)\nonumber\\&#10;=&amp;(x_1x_2-y_1y_2, x_1y_2+x_2y_1)\nonumber&#10;\end{align}&#10;&#10;&#10;\end{document}"/>
  <p:tag name="IGUANATEXSIZE" val="24"/>
  <p:tag name="IGUANATEXCURSOR" val="140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89.xml><?xml version="1.0" encoding="utf-8"?>
<p:tagLst xmlns:p="http://schemas.openxmlformats.org/presentationml/2006/main">
  <p:tag name="TIMING" val="|29"/>
</p:tagLst>
</file>

<file path=ppt/tags/tag90.xml><?xml version="1.0" encoding="utf-8"?>
<p:tagLst xmlns:p="http://schemas.openxmlformats.org/presentationml/2006/main">
  <p:tag name="OUTPUTDPI" val="1200"/>
  <p:tag name="ORIGINALHEIGHT" val="125.25"/>
  <p:tag name="ORIGINALWIDTH" val="349.5"/>
  <p:tag name="LATEXADDIN" val="\documentclass{article}&#10;\usepackage{amsmath}&#10;\pagestyle{empty}&#10;\begin{document}&#10;&#10;&#10;$(0,-5)$&#10;&#10;\end{document}"/>
  <p:tag name="IGUANATEXSIZE" val="28"/>
  <p:tag name="IGUANATEXCURSOR" val="88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91.xml><?xml version="1.0" encoding="utf-8"?>
<p:tagLst xmlns:p="http://schemas.openxmlformats.org/presentationml/2006/main">
  <p:tag name="OUTPUTDPI" val="1200"/>
  <p:tag name="ORIGINALHEIGHT" val="108"/>
  <p:tag name="ORIGINALWIDTH" val="324"/>
  <p:tag name="LATEXADDIN" val="\documentclass{article}&#10;\usepackage{amsmath}&#10;\pagestyle{empty}&#10;\begin{document}&#10;&#10;&#10;$x+iy$&#10;&#10;\end{document}"/>
  <p:tag name="IGUANATEXSIZE" val="28"/>
  <p:tag name="IGUANATEXCURSOR" val="87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92.xml><?xml version="1.0" encoding="utf-8"?>
<p:tagLst xmlns:p="http://schemas.openxmlformats.org/presentationml/2006/main">
  <p:tag name="OUTPUTDPI" val="1200"/>
  <p:tag name="ORIGINALHEIGHT" val="125.25"/>
  <p:tag name="ORIGINALWIDTH" val="812.25"/>
  <p:tag name="LATEXADDIN" val="\documentclass{article}&#10;\usepackage{amsmath}&#10;\pagestyle{empty}&#10;\begin{document}&#10;&#10;&#10;$(1,-3)\cdot(9,-2)$&#10;&#10;\end{document}"/>
  <p:tag name="IGUANATEXSIZE" val="28"/>
  <p:tag name="IGUANATEXCURSOR" val="99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93.xml><?xml version="1.0" encoding="utf-8"?>
<p:tagLst xmlns:p="http://schemas.openxmlformats.org/presentationml/2006/main">
  <p:tag name="OUTPUTDPI" val="1200"/>
  <p:tag name="ORIGINALHEIGHT" val="108"/>
  <p:tag name="ORIGINALWIDTH" val="324"/>
  <p:tag name="LATEXADDIN" val="\documentclass{article}&#10;\usepackage{amsmath}&#10;\pagestyle{empty}&#10;\begin{document}&#10;&#10;&#10;$x+iy$&#10;&#10;\end{document}"/>
  <p:tag name="IGUANATEXSIZE" val="28"/>
  <p:tag name="IGUANATEXCURSOR" val="87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94.xml><?xml version="1.0" encoding="utf-8"?>
<p:tagLst xmlns:p="http://schemas.openxmlformats.org/presentationml/2006/main">
  <p:tag name="TIMING" val="|29"/>
</p:tagLst>
</file>

<file path=ppt/tags/tag95.xml><?xml version="1.0" encoding="utf-8"?>
<p:tagLst xmlns:p="http://schemas.openxmlformats.org/presentationml/2006/main">
  <p:tag name="OUTPUTDPI" val="1200"/>
  <p:tag name="ORIGINALHEIGHT" val="85.5"/>
  <p:tag name="ORIGINALWIDTH" val="310.5"/>
  <p:tag name="LATEXADDIN" val="\documentclass{article}&#10;\usepackage{amsmath}&#10;\pagestyle{empty}&#10;\begin{document}&#10;&#10;&#10;$4-3i$&#10;&#10;\end{document}"/>
  <p:tag name="IGUANATEXSIZE" val="16"/>
  <p:tag name="IGUANATEXCURSOR" val="87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96.xml><?xml version="1.0" encoding="utf-8"?>
<p:tagLst xmlns:p="http://schemas.openxmlformats.org/presentationml/2006/main">
  <p:tag name="TIMING" val="|29"/>
</p:tagLst>
</file>

<file path=ppt/tags/tag97.xml><?xml version="1.0" encoding="utf-8"?>
<p:tagLst xmlns:p="http://schemas.openxmlformats.org/presentationml/2006/main">
  <p:tag name="TIMING" val="|29"/>
</p:tagLst>
</file>

<file path=ppt/tags/tag98.xml><?xml version="1.0" encoding="utf-8"?>
<p:tagLst xmlns:p="http://schemas.openxmlformats.org/presentationml/2006/main">
  <p:tag name="OUTPUTDPI" val="1200"/>
  <p:tag name="ORIGINALHEIGHT" val="125.25"/>
  <p:tag name="ORIGINALWIDTH" val="1104.75"/>
  <p:tag name="LATEXADDIN" val="\documentclass{article}&#10;\usepackage{amsmath}&#10;\pagestyle{empty}&#10;\begin{document}&#10;&#10;$|z_1+z_2|\leq |z_1|+|z_2|$&#10;&#10;&#10;\end{document}"/>
  <p:tag name="IGUANATEXSIZE" val="24"/>
  <p:tag name="IGUANATEXCURSOR" val="106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99.xml><?xml version="1.0" encoding="utf-8"?>
<p:tagLst xmlns:p="http://schemas.openxmlformats.org/presentationml/2006/main">
  <p:tag name="OUTPUTDPI" val="1200"/>
  <p:tag name="ORIGINALHEIGHT" val="125.25"/>
  <p:tag name="ORIGINALWIDTH" val="2324.25"/>
  <p:tag name="LATEXADDIN" val="\documentclass{article}&#10;\usepackage{amsmath}&#10;\pagestyle{empty}&#10;\begin{document}&#10;&#10;$|z_1+z_2+\cdots+z_n|\leq |z_1|+|z_2|+\cdots+|z_n|$&#10;&#10;&#10;\end{document}"/>
  <p:tag name="IGUANATEXSIZE" val="24"/>
  <p:tag name="IGUANATEXCURSOR" val="130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00.xml><?xml version="1.0" encoding="utf-8"?>
<p:tagLst xmlns:p="http://schemas.openxmlformats.org/presentationml/2006/main">
  <p:tag name="TIMING" val="|29"/>
</p:tagLst>
</file>

<file path=ppt/tags/tag101.xml><?xml version="1.0" encoding="utf-8"?>
<p:tagLst xmlns:p="http://schemas.openxmlformats.org/presentationml/2006/main">
  <p:tag name="OUTPUTDPI" val="1200"/>
  <p:tag name="ORIGINALHEIGHT" val="88.5"/>
  <p:tag name="ORIGINALWIDTH" val="558"/>
  <p:tag name="LATEXADDIN" val="\documentclass{article}&#10;\usepackage{amsmath}&#10;\pagestyle{empty}&#10;\begin{document}&#10;&#10;$x=r\cos \theta$&#10;&#10;&#10;\end{document}"/>
  <p:tag name="IGUANATEXSIZE" val="24"/>
  <p:tag name="IGUANATEXCURSOR" val="96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02.xml><?xml version="1.0" encoding="utf-8"?>
<p:tagLst xmlns:p="http://schemas.openxmlformats.org/presentationml/2006/main">
  <p:tag name="OUTPUTDPI" val="1200"/>
  <p:tag name="ORIGINALHEIGHT" val="113.25"/>
  <p:tag name="ORIGINALWIDTH" val="539.25"/>
  <p:tag name="LATEXADDIN" val="\documentclass{article}&#10;\usepackage{amsmath}&#10;\pagestyle{empty}&#10;\begin{document}&#10;&#10;$y=r\sin \theta$&#10;&#10;&#10;\end{document}"/>
  <p:tag name="IGUANATEXSIZE" val="24"/>
  <p:tag name="IGUANATEXCURSOR" val="89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03.xml><?xml version="1.0" encoding="utf-8"?>
<p:tagLst xmlns:p="http://schemas.openxmlformats.org/presentationml/2006/main">
  <p:tag name="OUTPUTDPI" val="1200"/>
  <p:tag name="ORIGINALHEIGHT" val="108"/>
  <p:tag name="ORIGINALWIDTH" val="552"/>
  <p:tag name="LATEXADDIN" val="\documentclass{article}&#10;\usepackage{amsmath}&#10;\pagestyle{empty}&#10;\begin{document}&#10;&#10;$z=x+iy$&#10;&#10;&#10;\end{document}"/>
  <p:tag name="IGUANATEXSIZE" val="24"/>
  <p:tag name="IGUANATEXCURSOR" val="88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04.xml><?xml version="1.0" encoding="utf-8"?>
<p:tagLst xmlns:p="http://schemas.openxmlformats.org/presentationml/2006/main">
  <p:tag name="OUTPUTDPI" val="1200"/>
  <p:tag name="ORIGINALHEIGHT" val="125.25"/>
  <p:tag name="ORIGINALWIDTH" val="1068.75"/>
  <p:tag name="LATEXADDIN" val="\documentclass{article}&#10;\usepackage{amsmath}&#10;\pagestyle{empty}&#10;\begin{document}&#10;&#10;$z=r(\cos \theta+i\sin\theta)$&#10;&#10;&#10;\end{document}"/>
  <p:tag name="IGUANATEXSIZE" val="24"/>
  <p:tag name="IGUANATEXCURSOR" val="109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05.xml><?xml version="1.0" encoding="utf-8"?>
<p:tagLst xmlns:p="http://schemas.openxmlformats.org/presentationml/2006/main">
  <p:tag name="OUTPUTDPI" val="1200"/>
  <p:tag name="ORIGINALHEIGHT" val="55.5"/>
  <p:tag name="ORIGINALWIDTH" val="51"/>
  <p:tag name="LATEXADDIN" val="\documentclass{article}&#10;\usepackage{amsmath}&#10;\pagestyle{empty}&#10;\begin{document}&#10;&#10;$r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06.xml><?xml version="1.0" encoding="utf-8"?>
<p:tagLst xmlns:p="http://schemas.openxmlformats.org/presentationml/2006/main">
  <p:tag name="OUTPUTDPI" val="1200"/>
  <p:tag name="ORIGINALHEIGHT" val="88.5"/>
  <p:tag name="ORIGINALWIDTH" val="52.5"/>
  <p:tag name="LATEXADDIN" val="\documentclass{article}&#10;\usepackage{amsmath}&#10;\pagestyle{empty}&#10;\begin{document}&#10;&#10;$\theta$&#10;&#10;&#10;\end{document}"/>
  <p:tag name="IGUANATEXSIZE" val="24"/>
  <p:tag name="IGUANATEXCURSOR" val="88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07.xml><?xml version="1.0" encoding="utf-8"?>
<p:tagLst xmlns:p="http://schemas.openxmlformats.org/presentationml/2006/main">
  <p:tag name="OUTPUTDPI" val="1200"/>
  <p:tag name="ORIGINALHEIGHT" val="125.25"/>
  <p:tag name="ORIGINALWIDTH" val="104.25"/>
  <p:tag name="LATEXADDIN" val="\documentclass{article}&#10;\usepackage{amsmath}&#10;\pagestyle{empty}&#10;\begin{document}&#10;&#10;$|z|$&#10;&#10;&#10;\end{document}"/>
  <p:tag name="IGUANATEXSIZE" val="24"/>
  <p:tag name="IGUANATEXCURSOR" val="8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08.xml><?xml version="1.0" encoding="utf-8"?>
<p:tagLst xmlns:p="http://schemas.openxmlformats.org/presentationml/2006/main">
  <p:tag name="OUTPUTDPI" val="1200"/>
  <p:tag name="ORIGINALHEIGHT" val="81"/>
  <p:tag name="ORIGINALWIDTH" val="249"/>
  <p:tag name="LATEXADDIN" val="\documentclass{article}&#10;\usepackage{amsmath}&#10;\pagestyle{empty}&#10;\begin{document}&#10;&#10;$\arg{z}$&#10;&#10;&#10;\end{document}"/>
  <p:tag name="IGUANATEXSIZE" val="24"/>
  <p:tag name="IGUANATEXCURSOR" val="89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09.xml><?xml version="1.0" encoding="utf-8"?>
<p:tagLst xmlns:p="http://schemas.openxmlformats.org/presentationml/2006/main">
  <p:tag name="OUTPUTDPI" val="1200"/>
  <p:tag name="ORIGINALHEIGHT" val="150"/>
  <p:tag name="ORIGINALWIDTH" val="1431.75"/>
  <p:tag name="LATEXADDIN" val="\documentclass{article}&#10;\usepackage{amsmath}&#10;\pagestyle{empty}&#10;\begin{document}&#10;&#10;$|z|=r=\sqrt{x^2+y^2}=\sqrt{z\bar{z}}$&#10;&#10;&#10;\end{document}"/>
  <p:tag name="IGUANATEXSIZE" val="24"/>
  <p:tag name="IGUANATEXCURSOR" val="116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10.xml><?xml version="1.0" encoding="utf-8"?>
<p:tagLst xmlns:p="http://schemas.openxmlformats.org/presentationml/2006/main">
  <p:tag name="OUTPUTDPI" val="1200"/>
  <p:tag name="ORIGINALHEIGHT" val="137.25"/>
  <p:tag name="ORIGINALWIDTH" val="498"/>
  <p:tag name="LATEXADDIN" val="\documentclass{article}&#10;\usepackage{amsmath}&#10;\pagestyle{empty}&#10;\begin{document}&#10;&#10;$\tan \theta=\frac{y}{x}$&#10;&#10;&#10;\end{document}"/>
  <p:tag name="IGUANATEXSIZE" val="24"/>
  <p:tag name="IGUANATEXCURSOR" val="10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11.xml><?xml version="1.0" encoding="utf-8"?>
<p:tagLst xmlns:p="http://schemas.openxmlformats.org/presentationml/2006/main">
  <p:tag name="TIMING" val="|29"/>
</p:tagLst>
</file>

<file path=ppt/tags/tag112.xml><?xml version="1.0" encoding="utf-8"?>
<p:tagLst xmlns:p="http://schemas.openxmlformats.org/presentationml/2006/main">
  <p:tag name="OUTPUTDPI" val="1200"/>
  <p:tag name="ORIGINALHEIGHT" val="88.5"/>
  <p:tag name="ORIGINALWIDTH" val="52.5"/>
  <p:tag name="LATEXADDIN" val="\documentclass{article}&#10;\usepackage{amsmath}&#10;\pagestyle{empty}&#10;\begin{document}&#10;&#10;$\theta$&#10;&#10;&#10;\end{document}"/>
  <p:tag name="IGUANATEXSIZE" val="24"/>
  <p:tag name="IGUANATEXCURSOR" val="88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13.xml><?xml version="1.0" encoding="utf-8"?>
<p:tagLst xmlns:p="http://schemas.openxmlformats.org/presentationml/2006/main">
  <p:tag name="OUTPUTDPI" val="1200"/>
  <p:tag name="ORIGINALHEIGHT" val="98.25"/>
  <p:tag name="ORIGINALWIDTH" val="411"/>
  <p:tag name="LATEXADDIN" val="\documentclass{article}&#10;\usepackage{amsmath}&#10;\pagestyle{empty}&#10;\begin{document}&#10;&#10;$\theta+2k\pi$&#10;&#10;&#10;\end{document}"/>
  <p:tag name="IGUANATEXSIZE" val="24"/>
  <p:tag name="IGUANATEXCURSOR" val="9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14.xml><?xml version="1.0" encoding="utf-8"?>
<p:tagLst xmlns:p="http://schemas.openxmlformats.org/presentationml/2006/main">
  <p:tag name="OUTPUTDPI" val="1200"/>
  <p:tag name="ORIGINALHEIGHT" val="113.25"/>
  <p:tag name="ORIGINALWIDTH" val="876"/>
  <p:tag name="LATEXADDIN" val="\documentclass{article}&#10;\usepackage{amsmath}&#10;\pagestyle{empty}&#10;\begin{document}&#10;&#10;$-\pi&lt; {\rm Arg}~z\leq\pi$&#10;&#10;&#10;\end{document}"/>
  <p:tag name="IGUANATEXSIZE" val="24"/>
  <p:tag name="IGUANATEXCURSOR" val="86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15.xml><?xml version="1.0" encoding="utf-8"?>
<p:tagLst xmlns:p="http://schemas.openxmlformats.org/presentationml/2006/main">
  <p:tag name="TIMING" val="|29"/>
</p:tagLst>
</file>

<file path=ppt/tags/tag116.xml><?xml version="1.0" encoding="utf-8"?>
<p:tagLst xmlns:p="http://schemas.openxmlformats.org/presentationml/2006/main">
  <p:tag name="OUTPUTDPI" val="1200"/>
  <p:tag name="ORIGINALHEIGHT" val="137.25"/>
  <p:tag name="ORIGINALWIDTH" val="498"/>
  <p:tag name="LATEXADDIN" val="\documentclass{article}&#10;\usepackage{amsmath}&#10;\pagestyle{empty}&#10;\begin{document}&#10;&#10;$\tan \theta=\frac{y}{x}$&#10;&#10;&#10;\end{document}"/>
  <p:tag name="IGUANATEXSIZE" val="24"/>
  <p:tag name="IGUANATEXCURSOR" val="10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17.xml><?xml version="1.0" encoding="utf-8"?>
<p:tagLst xmlns:p="http://schemas.openxmlformats.org/presentationml/2006/main">
  <p:tag name="OUTPUTDPI" val="1200"/>
  <p:tag name="ORIGINALHEIGHT" val="137.25"/>
  <p:tag name="ORIGINALWIDTH" val="740.25"/>
  <p:tag name="LATEXADDIN" val="\documentclass{article}&#10;\usepackage{amsmath}&#10;\pagestyle{empty}&#10;\begin{document}&#10;&#10;$\theta=\arctan(\frac{y}{x})$&#10;&#10;&#10;\end{document}"/>
  <p:tag name="IGUANATEXSIZE" val="24"/>
  <p:tag name="IGUANATEXCURSOR" val="109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18.xml><?xml version="1.0" encoding="utf-8"?>
<p:tagLst xmlns:p="http://schemas.openxmlformats.org/presentationml/2006/main">
  <p:tag name="OUTPUTDPI" val="1200"/>
  <p:tag name="ORIGINALHEIGHT" val="136.5"/>
  <p:tag name="ORIGINALWIDTH" val="628.5"/>
  <p:tag name="LATEXADDIN" val="\documentclass{article}&#10;\usepackage{amsmath}&#10;\pagestyle{empty}&#10;\begin{document}&#10;&#10;$\theta\in (-\frac{\pi}{2},\frac{\pi}{2})$&#10;&#10;&#10;\end{document}"/>
  <p:tag name="IGUANATEXSIZE" val="24"/>
  <p:tag name="IGUANATEXCURSOR" val="121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19.xml><?xml version="1.0" encoding="utf-8"?>
<p:tagLst xmlns:p="http://schemas.openxmlformats.org/presentationml/2006/main">
  <p:tag name="OUTPUTDPI" val="1200"/>
  <p:tag name="ORIGINALHEIGHT" val="87.75"/>
  <p:tag name="ORIGINALWIDTH" val="291"/>
  <p:tag name="LATEXADDIN" val="\documentclass{article}&#10;\usepackage{amsmath}&#10;\pagestyle{empty}&#10;\begin{document}&#10;&#10;$x&gt;0$&#10;&#10;&#10;\end{document}"/>
  <p:tag name="IGUANATEXSIZE" val="24"/>
  <p:tag name="IGUANATEXCURSOR" val="85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20.xml><?xml version="1.0" encoding="utf-8"?>
<p:tagLst xmlns:p="http://schemas.openxmlformats.org/presentationml/2006/main">
  <p:tag name="OUTPUTDPI" val="1200"/>
  <p:tag name="ORIGINALHEIGHT" val="748.5"/>
  <p:tag name="ORIGINALWIDTH" val="2222.25"/>
  <p:tag name="LATEXADDIN" val="\documentclass{article}&#10;\usepackage{amsmath}&#10;\usepackage{amssymb}&#10;\pagestyle{empty}&#10;\begin{document}&#10;&#10;\begin{align}&#10;{\rm Arg}~z=\left\{\begin{array}{cl}\arctan(\frac{y}{x}),&amp;x&gt;0,y \in\mathbb{R}\\&#10;\arctan(\frac{y}{x})+\pi,&amp;x&lt;0,y \geq0\\&#10;\arctan(\frac{y}{x})-\pi,&amp;x&lt;0,y &lt;0\\&#10;-\frac{\pi}{2},&amp;x=0,y &lt;0\\&#10;\frac{\pi}{2},&amp;x=0,y &gt;0\end{array}\right.\nonumber&#10;\end{align}&#10;&#10;&#10;\end{document}"/>
  <p:tag name="IGUANATEXSIZE" val="24"/>
  <p:tag name="IGUANATEXCURSOR" val="322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21.xml><?xml version="1.0" encoding="utf-8"?>
<p:tagLst xmlns:p="http://schemas.openxmlformats.org/presentationml/2006/main">
  <p:tag name="TIMING" val="|29"/>
</p:tagLst>
</file>

<file path=ppt/tags/tag122.xml><?xml version="1.0" encoding="utf-8"?>
<p:tagLst xmlns:p="http://schemas.openxmlformats.org/presentationml/2006/main">
  <p:tag name="OUTPUTDPI" val="1200"/>
  <p:tag name="ORIGINALHEIGHT" val="608.25"/>
  <p:tag name="ORIGINALWIDTH" val="1277.25"/>
  <p:tag name="LATEXADDIN" val="\documentclass{article}&#10;\usepackage{amsmath}&#10;\usepackage{amssymb}&#10;\pagestyle{empty}&#10;\begin{document}&#10;&#10;\begin{align}&#10;\cos({\rm Arg}~z)=\frac{x}{\sqrt{x^2+y^2}}\nonumber\\&#10;\sin({\rm Arg}~z)=\frac{y}{\sqrt{x^2+y^2}}\nonumber&#10;\end{align}&#10;&#10;&#10;\end{document}"/>
  <p:tag name="IGUANATEXSIZE" val="24"/>
  <p:tag name="IGUANATEXCURSOR" val="187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23.xml><?xml version="1.0" encoding="utf-8"?>
<p:tagLst xmlns:p="http://schemas.openxmlformats.org/presentationml/2006/main">
  <p:tag name="TIMING" val="|29"/>
</p:tagLst>
</file>

<file path=ppt/tags/tag124.xml><?xml version="1.0" encoding="utf-8"?>
<p:tagLst xmlns:p="http://schemas.openxmlformats.org/presentationml/2006/main">
  <p:tag name="OUTPUTDPI" val="1200"/>
  <p:tag name="ORIGINALHEIGHT" val="84.75"/>
  <p:tag name="ORIGINALWIDTH" val="537.75"/>
  <p:tag name="LATEXADDIN" val="\documentclass{article}&#10;\usepackage{amsmath}&#10;\pagestyle{empty}&#10;\begin{document}&#10;&#10;$z=5-5i$&#10;&#10;&#10;\end{document}"/>
  <p:tag name="IGUANATEXSIZE" val="28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25.xml><?xml version="1.0" encoding="utf-8"?>
<p:tagLst xmlns:p="http://schemas.openxmlformats.org/presentationml/2006/main">
  <p:tag name="OUTPUTDPI" val="1200"/>
  <p:tag name="ORIGINALHEIGHT" val="88.5"/>
  <p:tag name="ORIGINALWIDTH" val="52.5"/>
  <p:tag name="LATEXADDIN" val="\documentclass{article}&#10;\usepackage{amsmath}&#10;\pagestyle{empty}&#10;\begin{document}&#10;&#10;$\theta$&#10;&#10;&#10;\end{document}"/>
  <p:tag name="IGUANATEXSIZE" val="24"/>
  <p:tag name="IGUANATEXCURSOR" val="88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26.xml><?xml version="1.0" encoding="utf-8"?>
<p:tagLst xmlns:p="http://schemas.openxmlformats.org/presentationml/2006/main">
  <p:tag name="OUTPUTDPI" val="1200"/>
  <p:tag name="ORIGINALHEIGHT" val="84.75"/>
  <p:tag name="ORIGINALWIDTH" val="537.75"/>
  <p:tag name="LATEXADDIN" val="\documentclass{article}&#10;\usepackage{amsmath}&#10;\pagestyle{empty}&#10;\begin{document}&#10;&#10;$z=5-5i$&#10;&#10;&#10;\end{document}"/>
  <p:tag name="IGUANATEXSIZE" val="28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27.xml><?xml version="1.0" encoding="utf-8"?>
<p:tagLst xmlns:p="http://schemas.openxmlformats.org/presentationml/2006/main">
  <p:tag name="OUTPUTDPI" val="1200"/>
  <p:tag name="ORIGINALHEIGHT" val="168.75"/>
  <p:tag name="ORIGINALWIDTH" val="558.75"/>
  <p:tag name="LATEXADDIN" val="\documentclass{article}&#10;\usepackage{amsmath}&#10;\pagestyle{empty}&#10;\begin{document}&#10;&#10;$\cos\theta=\frac{\sqrt{2}}{2}$&#10;&#10;&#10;\end{document}"/>
  <p:tag name="IGUANATEXSIZE" val="24"/>
  <p:tag name="IGUANATEXCURSOR" val="106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28.xml><?xml version="1.0" encoding="utf-8"?>
<p:tagLst xmlns:p="http://schemas.openxmlformats.org/presentationml/2006/main">
  <p:tag name="OUTPUTDPI" val="1200"/>
  <p:tag name="ORIGINALHEIGHT" val="168.75"/>
  <p:tag name="ORIGINALWIDTH" val="642"/>
  <p:tag name="LATEXADDIN" val="\documentclass{article}&#10;\usepackage{amsmath}&#10;\pagestyle{empty}&#10;\begin{document}&#10;&#10;$\sin\theta=-\frac{\sqrt{2}}{2}$&#10;&#10;&#10;\end{document}"/>
  <p:tag name="IGUANATEXSIZE" val="24"/>
  <p:tag name="IGUANATEXCURSOR" val="86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29.xml><?xml version="1.0" encoding="utf-8"?>
<p:tagLst xmlns:p="http://schemas.openxmlformats.org/presentationml/2006/main">
  <p:tag name="OUTPUTDPI" val="1200"/>
  <p:tag name="ORIGINALHEIGHT" val="130.5"/>
  <p:tag name="ORIGINALWIDTH" val="646.5"/>
  <p:tag name="LATEXADDIN" val="\documentclass{article}&#10;\usepackage{amsmath}&#10;\pagestyle{empty}&#10;\begin{document}&#10;&#10;${\rm Arg}~z=-\frac{\pi}{4}$&#10;&#10;&#10;\end{document}"/>
  <p:tag name="IGUANATEXSIZE" val="24"/>
  <p:tag name="IGUANATEXCURSOR" val="104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30.xml><?xml version="1.0" encoding="utf-8"?>
<p:tagLst xmlns:p="http://schemas.openxmlformats.org/presentationml/2006/main">
  <p:tag name="OUTPUTDPI" val="1200"/>
  <p:tag name="ORIGINALHEIGHT" val="151.5"/>
  <p:tag name="ORIGINALWIDTH" val="1642.5"/>
  <p:tag name="LATEXADDIN" val="\documentclass{article}&#10;\usepackage{amsmath}&#10;\pagestyle{empty}&#10;\begin{document}&#10;&#10;$z=5\sqrt{2}(\cos(-\frac{\pi}{4})+i\sin(-\frac{\pi}{4}))$&#10;&#10;&#10;\end{document}"/>
  <p:tag name="IGUANATEXSIZE" val="24"/>
  <p:tag name="IGUANATEXCURSOR" val="136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31.xml><?xml version="1.0" encoding="utf-8"?>
<p:tagLst xmlns:p="http://schemas.openxmlformats.org/presentationml/2006/main">
  <p:tag name="TIMING" val="|29"/>
</p:tagLst>
</file>

<file path=ppt/tags/tag132.xml><?xml version="1.0" encoding="utf-8"?>
<p:tagLst xmlns:p="http://schemas.openxmlformats.org/presentationml/2006/main">
  <p:tag name="OUTPUTDPI" val="1200"/>
  <p:tag name="ORIGINALHEIGHT" val="312"/>
  <p:tag name="ORIGINALWIDTH" val="3741.75"/>
  <p:tag name="LATEXADDIN" val="\documentclass{article}&#10;\usepackage{amsmath}&#10;\pagestyle{empty}&#10;\begin{document}&#10;&#10;&#10;\begin{align}&#10;z_1z_2=\ &amp;&#10;r_1r_2(\cos\theta_1\cos\theta_2-\sin\theta_1\sin\theta_2+i(\cos\theta_1\sin\theta_2+\sin\theta_1\cos\theta_2))\nonumber\\&#10;=\ &amp;r_1r_2(\cos(\theta_1+\theta_2)+i\sin(\theta_1+\theta_2))\nonumber&#10;\end{align}&#10;&#10;\end{document}"/>
  <p:tag name="IGUANATEXSIZE" val="24"/>
  <p:tag name="IGUANATEXCURSOR" val="298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33.xml><?xml version="1.0" encoding="utf-8"?>
<p:tagLst xmlns:p="http://schemas.openxmlformats.org/presentationml/2006/main">
  <p:tag name="OUTPUTDPI" val="1200"/>
  <p:tag name="ORIGINALHEIGHT" val="125.25"/>
  <p:tag name="ORIGINALWIDTH" val="1276.5"/>
  <p:tag name="LATEXADDIN" val="\documentclass{article}&#10;\usepackage{amsmath}&#10;\pagestyle{empty}&#10;\begin{document}&#10;&#10;&#10;$z_1=r_1(\cos\theta_1+i\sin\theta_1)$&#10;&#10;\end{document}"/>
  <p:tag name="IGUANATEXSIZE" val="24"/>
  <p:tag name="IGUANATEXCURSOR" val="117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34.xml><?xml version="1.0" encoding="utf-8"?>
<p:tagLst xmlns:p="http://schemas.openxmlformats.org/presentationml/2006/main">
  <p:tag name="OUTPUTDPI" val="1200"/>
  <p:tag name="ORIGINALHEIGHT" val="125.25"/>
  <p:tag name="ORIGINALWIDTH" val="1276.5"/>
  <p:tag name="LATEXADDIN" val="\documentclass{article}&#10;\usepackage{amsmath}&#10;\pagestyle{empty}&#10;\begin{document}&#10;&#10;&#10;$z_2=r_2(\cos\theta_2+i\sin\theta_2)$&#10;&#10;\end{document}"/>
  <p:tag name="IGUANATEXSIZE" val="24"/>
  <p:tag name="IGUANATEXCURSOR" val="10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35.xml><?xml version="1.0" encoding="utf-8"?>
<p:tagLst xmlns:p="http://schemas.openxmlformats.org/presentationml/2006/main">
  <p:tag name="OUTPUTDPI" val="1200"/>
  <p:tag name="ORIGINALHEIGHT" val="588"/>
  <p:tag name="ORIGINALWIDTH" val="2551.5"/>
  <p:tag name="LATEXADDIN" val="\documentclass{article}&#10;\usepackage{amsmath}&#10;\pagestyle{empty}&#10;\begin{document}&#10;&#10;&#10;\begin{align}&#10;\frac{z_1}{z_2}=\ &amp;\frac{z_1\bar{z}_2}{z_2\bar{z}_2}=\frac{r_1r_2(\cos(\theta_1-\theta_2)+i\sin(\theta_1-\theta_2))}{r_2^2}\nonumber\\&#10;=\ &amp;\frac{r_1}{r_2}(\cos(\theta_1-\theta_2)+i\sin(\theta_1-\theta_2))\nonumber&#10;\end{align}&#10;&#10;\end{document}"/>
  <p:tag name="IGUANATEXSIZE" val="24"/>
  <p:tag name="IGUANATEXCURSOR" val="249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36.xml><?xml version="1.0" encoding="utf-8"?>
<p:tagLst xmlns:p="http://schemas.openxmlformats.org/presentationml/2006/main">
  <p:tag name="TIMING" val="|29"/>
</p:tagLst>
</file>

<file path=ppt/tags/tag137.xml><?xml version="1.0" encoding="utf-8"?>
<p:tagLst xmlns:p="http://schemas.openxmlformats.org/presentationml/2006/main">
  <p:tag name="OUTPUTDPI" val="1200"/>
  <p:tag name="ORIGINALHEIGHT" val="312"/>
  <p:tag name="ORIGINALWIDTH" val="1360.5"/>
  <p:tag name="LATEXADDIN" val="\documentclass{article}&#10;\usepackage{amsmath}&#10;\pagestyle{empty}&#10;\begin{document}&#10;&#10;\begin{align}&#10;z^n=\ &amp;r^n(\cos\theta+i\sin\theta)^n\nonumber\\&#10;=\ &amp;r^n(\cos n\theta+i\sin n\theta)\nonumber&#10;\end{align}&#10;&#10;&#10;\end{document}"/>
  <p:tag name="IGUANATEXSIZE" val="24"/>
  <p:tag name="IGUANATEXCURSOR" val="187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38.xml><?xml version="1.0" encoding="utf-8"?>
<p:tagLst xmlns:p="http://schemas.openxmlformats.org/presentationml/2006/main">
  <p:tag name="OUTPUTDPI" val="1200"/>
  <p:tag name="ORIGINALHEIGHT" val="125.25"/>
  <p:tag name="ORIGINALWIDTH" val="1865.25"/>
  <p:tag name="LATEXADDIN" val="\documentclass{article}&#10;\usepackage{amsmath}&#10;\pagestyle{empty}&#10;\begin{document}&#10;&#10;\begin{align}&#10;(\cos\theta+i\sin\theta)^n=\cos n\theta+i\sin n\theta\nonumber&#10;\end{align}&#10;&#10;&#10;\end{document}"/>
  <p:tag name="IGUANATEXSIZE" val="24"/>
  <p:tag name="IGUANATEXCURSOR" val="148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39.xml><?xml version="1.0" encoding="utf-8"?>
<p:tagLst xmlns:p="http://schemas.openxmlformats.org/presentationml/2006/main">
  <p:tag name="OUTPUTDPI" val="1200"/>
  <p:tag name="ORIGINALHEIGHT" val="84.75"/>
  <p:tag name="ORIGINALWIDTH" val="294.75"/>
  <p:tag name="LATEXADDIN" val="\documentclass{article}&#10;\usepackage{amsmath}&#10;\pagestyle{empty}&#10;\begin{document}&#10;&#10;&#10;$n=3$&#10;&#10;\end{document}"/>
  <p:tag name="IGUANATEXSIZE" val="24"/>
  <p:tag name="IGUANATEXCURSOR" val="86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40.xml><?xml version="1.0" encoding="utf-8"?>
<p:tagLst xmlns:p="http://schemas.openxmlformats.org/presentationml/2006/main">
  <p:tag name="OUTPUTDPI" val="1200"/>
  <p:tag name="ORIGINALHEIGHT" val="315.75"/>
  <p:tag name="ORIGINALWIDTH" val="1785.75"/>
  <p:tag name="LATEXADDIN" val="\documentclass{article}&#10;\usepackage{amsmath}&#10;\pagestyle{empty}&#10;\begin{document}&#10;&#10;\begin{align}&#10;\cos3\theta=\ &amp;\cos^3\theta-3\cos\theta\sin^2\cos\theta\nonumber\\&#10;\sin3\theta=\ &amp;3\cos^2\theta\sin\theta-\sin^3\theta\nonumber&#10;\end{align}&#10;&#10;&#10;\end{document}"/>
  <p:tag name="IGUANATEXSIZE" val="24"/>
  <p:tag name="IGUANATEXCURSOR" val="177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41.xml><?xml version="1.0" encoding="utf-8"?>
<p:tagLst xmlns:p="http://schemas.openxmlformats.org/presentationml/2006/main">
  <p:tag name="OUTPUTDPI" val="1200"/>
  <p:tag name="ORIGINALHEIGHT" val="83.25"/>
  <p:tag name="ORIGINALWIDTH" val="275.25"/>
  <p:tag name="LATEXADDIN" val="\documentclass{article}&#10;\usepackage{amsmath}&#10;\pagestyle{empty}&#10;\begin{document}&#10;&#10;$r=1$&#10;&#10;&#10;\end{document}"/>
  <p:tag name="IGUANATEXSIZE" val="24"/>
  <p:tag name="IGUANATEXCURSOR" val="85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42.xml><?xml version="1.0" encoding="utf-8"?>
<p:tagLst xmlns:p="http://schemas.openxmlformats.org/presentationml/2006/main">
  <p:tag name="TIMING" val="|29"/>
</p:tagLst>
</file>

<file path=ppt/tags/tag143.xml><?xml version="1.0" encoding="utf-8"?>
<p:tagLst xmlns:p="http://schemas.openxmlformats.org/presentationml/2006/main">
  <p:tag name="OUTPUTDPI" val="1200"/>
  <p:tag name="ORIGINALHEIGHT" val="713.25"/>
  <p:tag name="ORIGINALWIDTH" val="2622"/>
  <p:tag name="LATEXADDIN" val="\documentclass{article}&#10;\usepackage{amsmath}&#10;\pagestyle{empty}&#10;\begin{document}&#10;&#10;\begin{align}&#10;\ &amp;(\cos\theta+i\sin\theta)^3\nonumber\\&#10;=\ &amp;\cos^3\theta+3i\cos^2\theta\sin\theta-3\cos\theta\sin^2\theta-i\sin^3\theta\nonumber\\&#10;=\ &amp;\cos^3\theta-3\cos\theta\sin^2\theta+i(3\cos^2\theta\sin\theta- \sin^3\theta)\nonumber\\&#10;=\ &amp; \cos3\theta+i\sin3\theta\nonumber&#10;\end{align}&#10;&#10;&#10;\end{document}"/>
  <p:tag name="IGUANATEXSIZE" val="24"/>
  <p:tag name="IGUANATEXCURSOR" val="349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44.xml><?xml version="1.0" encoding="utf-8"?>
<p:tagLst xmlns:p="http://schemas.openxmlformats.org/presentationml/2006/main">
  <p:tag name="OUTPUTDPI" val="1200"/>
  <p:tag name="ORIGINALHEIGHT" val="315.75"/>
  <p:tag name="ORIGINALWIDTH" val="1785.75"/>
  <p:tag name="LATEXADDIN" val="\documentclass{article}&#10;\usepackage{amsmath}&#10;\pagestyle{empty}&#10;\begin{document}&#10;&#10;\begin{align}&#10;\cos3\theta=\ &amp;\cos^3\theta-3\cos\theta\sin^2\cos\theta\nonumber\\&#10;\sin3\theta=\ &amp;3\cos^2\theta\sin\theta-\sin^3\theta\nonumber&#10;\end{align}&#10;&#10;&#10;\end{document}"/>
  <p:tag name="IGUANATEXSIZE" val="24"/>
  <p:tag name="IGUANATEXCURSOR" val="177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45.xml><?xml version="1.0" encoding="utf-8"?>
<p:tagLst xmlns:p="http://schemas.openxmlformats.org/presentationml/2006/main">
  <p:tag name="TIMING" val="|29"/>
</p:tagLst>
</file>

<file path=ppt/tags/tag146.xml><?xml version="1.0" encoding="utf-8"?>
<p:tagLst xmlns:p="http://schemas.openxmlformats.org/presentationml/2006/main">
  <p:tag name="OUTPUTDPI" val="1200"/>
  <p:tag name="ORIGINALHEIGHT" val="55.5"/>
  <p:tag name="ORIGINALWIDTH" val="74.25"/>
  <p:tag name="LATEXADDIN" val="\documentclass{article}&#10;\usepackage{amsmath}&#10;\pagestyle{empty}&#10;\begin{document}&#10;&#10;$\omega$&#10;&#10;&#10;\end{document}"/>
  <p:tag name="IGUANATEXSIZE" val="24"/>
  <p:tag name="IGUANATEXCURSOR" val="88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47.xml><?xml version="1.0" encoding="utf-8"?>
<p:tagLst xmlns:p="http://schemas.openxmlformats.org/presentationml/2006/main">
  <p:tag name="OUTPUTDPI" val="1200"/>
  <p:tag name="ORIGINALHEIGHT" val="55.5"/>
  <p:tag name="ORIGINALWIDTH" val="53.25"/>
  <p:tag name="LATEXADDIN" val="\documentclass{article}&#10;\usepackage{amsmath}&#10;\pagestyle{empty}&#10;\begin{document}&#10;&#10;$z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48.xml><?xml version="1.0" encoding="utf-8"?>
<p:tagLst xmlns:p="http://schemas.openxmlformats.org/presentationml/2006/main">
  <p:tag name="OUTPUTDPI" val="1200"/>
  <p:tag name="ORIGINALHEIGHT" val="84"/>
  <p:tag name="ORIGINALWIDTH" val="372.75"/>
  <p:tag name="LATEXADDIN" val="\documentclass{article}&#10;\usepackage{amsmath}&#10;\pagestyle{empty}&#10;\begin{document}&#10;&#10;$\omega^n=z$&#10;&#10;&#10;\end{document}"/>
  <p:tag name="IGUANATEXSIZE" val="24"/>
  <p:tag name="IGUANATEXCURSOR" val="92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49.xml><?xml version="1.0" encoding="utf-8"?>
<p:tagLst xmlns:p="http://schemas.openxmlformats.org/presentationml/2006/main">
  <p:tag name="OUTPUTDPI" val="1200"/>
  <p:tag name="ORIGINALHEIGHT" val="125.25"/>
  <p:tag name="ORIGINALWIDTH" val="1152"/>
  <p:tag name="LATEXADDIN" val="\documentclass{article}&#10;\usepackage{amsmath}&#10;\pagestyle{empty}&#10;\begin{document}&#10;&#10;$\omega=R(\cos\phi+i\sin\phi)$&#10;&#10;&#10;\end{document}"/>
  <p:tag name="IGUANATEXSIZE" val="24"/>
  <p:tag name="IGUANATEXCURSOR" val="109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50.xml><?xml version="1.0" encoding="utf-8"?>
<p:tagLst xmlns:p="http://schemas.openxmlformats.org/presentationml/2006/main">
  <p:tag name="OUTPUTDPI" val="1200"/>
  <p:tag name="ORIGINALHEIGHT" val="125.25"/>
  <p:tag name="ORIGINALWIDTH" val="434.25"/>
  <p:tag name="LATEXADDIN" val="\documentclass{article}&#10;\usepackage{amsmath}&#10;\pagestyle{empty}&#10;\begin{document}&#10;&#10;$\omega=\sqrt[n]{z}$&#10;&#10;&#10;\end{document}"/>
  <p:tag name="IGUANATEXSIZE" val="24"/>
  <p:tag name="IGUANATEXCURSOR" val="100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51.xml><?xml version="1.0" encoding="utf-8"?>
<p:tagLst xmlns:p="http://schemas.openxmlformats.org/presentationml/2006/main">
  <p:tag name="OUTPUTDPI" val="1200"/>
  <p:tag name="ORIGINALHEIGHT" val="125.25"/>
  <p:tag name="ORIGINALWIDTH" val="2460"/>
  <p:tag name="LATEXADDIN" val="\documentclass{article}&#10;\usepackage{amsmath}&#10;\pagestyle{empty}&#10;\begin{document}&#10;&#10;$\omega^n=R^n(\cos n\phi+i\sin n\phi)=r(\cos \theta+i\sin \theta)$&#10;&#10;&#10;\end{document}"/>
  <p:tag name="IGUANATEXSIZE" val="24"/>
  <p:tag name="IGUANATEXCURSOR" val="145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52.xml><?xml version="1.0" encoding="utf-8"?>
<p:tagLst xmlns:p="http://schemas.openxmlformats.org/presentationml/2006/main">
  <p:tag name="OUTPUTDPI" val="1200"/>
  <p:tag name="ORIGINALHEIGHT" val="154.5"/>
  <p:tag name="ORIGINALWIDTH" val="2873.25"/>
  <p:tag name="LATEXADDIN" val="\documentclass{article}&#10;\usepackage{amsmath}&#10;\pagestyle{empty}&#10;\begin{document}&#10;&#10;$\sqrt[n]{z}=\sqrt[n]{r}(\cos\frac{\theta+2k\pi}{n}+i\sin\frac{\theta+2k\pi}{n}),k=0,1,\cdots,n-1$&#10;&#10;&#10;\end{document}"/>
  <p:tag name="IGUANATEXSIZE" val="24"/>
  <p:tag name="IGUANATEXCURSOR" val="160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53.xml><?xml version="1.0" encoding="utf-8"?>
<p:tagLst xmlns:p="http://schemas.openxmlformats.org/presentationml/2006/main">
  <p:tag name="TIMING" val="|29"/>
</p:tagLst>
</file>

<file path=ppt/tags/tag154.xml><?xml version="1.0" encoding="utf-8"?>
<p:tagLst xmlns:p="http://schemas.openxmlformats.org/presentationml/2006/main">
  <p:tag name="OUTPUTDPI" val="1200"/>
  <p:tag name="ORIGINALHEIGHT" val="125.25"/>
  <p:tag name="ORIGINALWIDTH" val="316.5"/>
  <p:tag name="LATEXADDIN" val="\documentclass{article}&#10;\usepackage{amsmath}&#10;\pagestyle{empty}&#10;\begin{document}&#10;&#10;$\sqrt[4]{-64}$&#10;&#10;&#10;\end{document}"/>
  <p:tag name="IGUANATEXSIZE" val="28"/>
  <p:tag name="IGUANATEXCURSOR" val="82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55.xml><?xml version="1.0" encoding="utf-8"?>
<p:tagLst xmlns:p="http://schemas.openxmlformats.org/presentationml/2006/main">
  <p:tag name="OUTPUTDPI" val="1200"/>
  <p:tag name="ORIGINALHEIGHT" val="458.25"/>
  <p:tag name="ORIGINALWIDTH" val="2818.5"/>
  <p:tag name="LATEXADDIN" val="\documentclass{article}&#10;\usepackage{amsmath}&#10;\pagestyle{empty}&#10;\begin{document}&#10;&#10;\begin{align}&#10;&amp; R=\sqrt[4]{64}=2 \sqrt{2} \nonumber\\&#10;&amp; \phi=\frac{\pi}{4}, \frac{\pi+2 \pi}{4}, \frac{\pi+4 \pi}{4}, \frac{\pi+6 \pi}{4}, \cdots=\frac{\pi}{4}, \frac{3 \pi}{4}, \frac{5 \pi}{4}, \frac{7 \pi}{4}\nonumber&#10;\end{align}&#10;&#10;&#10;\end{document}"/>
  <p:tag name="IGUANATEXSIZE" val="24"/>
  <p:tag name="IGUANATEXCURSOR" val="141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56.xml><?xml version="1.0" encoding="utf-8"?>
<p:tagLst xmlns:p="http://schemas.openxmlformats.org/presentationml/2006/main">
  <p:tag name="OUTPUTDPI" val="1200"/>
  <p:tag name="ORIGINALHEIGHT" val="112.5"/>
  <p:tag name="ORIGINALWIDTH" val="1059.75"/>
  <p:tag name="LATEXADDIN" val="\documentclass{article}&#10;\usepackage{amsmath}&#10;\pagestyle{empty}&#10;\begin{document}&#10;&#10;$r=64, \theta=\pi+2 k \pi$&#10;&#10;&#10;\end{document}"/>
  <p:tag name="IGUANATEXSIZE" val="24"/>
  <p:tag name="IGUANATEXCURSOR" val="0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57.xml><?xml version="1.0" encoding="utf-8"?>
<p:tagLst xmlns:p="http://schemas.openxmlformats.org/presentationml/2006/main">
  <p:tag name="OUTPUTDPI" val="1200"/>
  <p:tag name="ORIGINALHEIGHT" val="125.25"/>
  <p:tag name="ORIGINALWIDTH" val="1152"/>
  <p:tag name="LATEXADDIN" val="\documentclass{article}&#10;\usepackage{amsmath}&#10;\pagestyle{empty}&#10;\begin{document}&#10;&#10;&#10;$\omega=R(\cos\phi+i\sin\phi)$&#10;&#10;\end{document}"/>
  <p:tag name="IGUANATEXSIZE" val="24"/>
  <p:tag name="IGUANATEXCURSOR" val="96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58.xml><?xml version="1.0" encoding="utf-8"?>
<p:tagLst xmlns:p="http://schemas.openxmlformats.org/presentationml/2006/main">
  <p:tag name="OUTPUTDPI" val="1200"/>
  <p:tag name="ORIGINALHEIGHT" val="105.75"/>
  <p:tag name="ORIGINALWIDTH" val="520.5"/>
  <p:tag name="LATEXADDIN" val="\documentclass{article}&#10;\usepackage{amsmath}&#10;\pagestyle{empty}&#10;\begin{document}&#10;&#10;&#10;$\omega^4=-64$&#10;&#10;\end{document}"/>
  <p:tag name="IGUANATEXSIZE" val="24"/>
  <p:tag name="IGUANATEXCURSOR" val="91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59.xml><?xml version="1.0" encoding="utf-8"?>
<p:tagLst xmlns:p="http://schemas.openxmlformats.org/presentationml/2006/main">
  <p:tag name="OUTPUTDPI" val="1200"/>
  <p:tag name="ORIGINALHEIGHT" val="129"/>
  <p:tag name="ORIGINALWIDTH" val="1452.75"/>
  <p:tag name="LATEXADDIN" val="\documentclass{article}&#10;\usepackage{amsmath}&#10;\pagestyle{empty}&#10;\begin{document}&#10;&#10;&#10;$R^4=64~\text{and}~4\phi=\pi+2k\pi$&#10;&#10;\end{document}"/>
  <p:tag name="IGUANATEXSIZE" val="24"/>
  <p:tag name="IGUANATEXCURSOR" val="115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60.xml><?xml version="1.0" encoding="utf-8"?>
<p:tagLst xmlns:p="http://schemas.openxmlformats.org/presentationml/2006/main">
  <p:tag name="TIMING" val="|29"/>
</p:tagLst>
</file>

<file path=ppt/tags/tag161.xml><?xml version="1.0" encoding="utf-8"?>
<p:tagLst xmlns:p="http://schemas.openxmlformats.org/presentationml/2006/main">
  <p:tag name="OUTPUTDPI" val="1200"/>
  <p:tag name="ORIGINALHEIGHT" val="125.25"/>
  <p:tag name="ORIGINALWIDTH" val="316.5"/>
  <p:tag name="LATEXADDIN" val="\documentclass{article}&#10;\usepackage{amsmath}&#10;\pagestyle{empty}&#10;\begin{document}&#10;&#10;$\sqrt[4]{-64}$&#10;&#10;&#10;\end{document}"/>
  <p:tag name="IGUANATEXSIZE" val="28"/>
  <p:tag name="IGUANATEXCURSOR" val="82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62.xml><?xml version="1.0" encoding="utf-8"?>
<p:tagLst xmlns:p="http://schemas.openxmlformats.org/presentationml/2006/main">
  <p:tag name="OUTPUTDPI" val="1200"/>
  <p:tag name="ORIGINALHEIGHT" val="135"/>
  <p:tag name="ORIGINALWIDTH" val="2814"/>
  <p:tag name="LATEXADDIN" val="\documentclass{article}&#10;\usepackage{amsmath}&#10;\pagestyle{empty}&#10;\begin{document}&#10;&#10;&#10;$\sqrt[4]{-64}= \pm 2 \pm 2 i \text { (all four combinations of } \pm \text { signs) }$&#10;&#10;\end{document}"/>
  <p:tag name="IGUANATEXSIZE" val="24"/>
  <p:tag name="IGUANATEXCURSOR" val="168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63.xml><?xml version="1.0" encoding="utf-8"?>
<p:tagLst xmlns:p="http://schemas.openxmlformats.org/presentationml/2006/main">
  <p:tag name="OUTPUTDPI" val="1200"/>
  <p:tag name="ORIGINALHEIGHT" val="125.25"/>
  <p:tag name="ORIGINALWIDTH" val="222.75"/>
  <p:tag name="LATEXADDIN" val="\documentclass{article}&#10;\usepackage{amsmath}&#10;\pagestyle{empty}&#10;\begin{document}&#10;&#10;$2\sqrt{2}$&#10;&#10;&#10;\end{document}"/>
  <p:tag name="IGUANATEXSIZE" val="24"/>
  <p:tag name="IGUANATEXCURSOR" val="90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64.xml><?xml version="1.0" encoding="utf-8"?>
<p:tagLst xmlns:p="http://schemas.openxmlformats.org/presentationml/2006/main">
  <p:tag name="TIMING" val="|29"/>
</p:tagLst>
</file>

<file path=ppt/tags/tag165.xml><?xml version="1.0" encoding="utf-8"?>
<p:tagLst xmlns:p="http://schemas.openxmlformats.org/presentationml/2006/main">
  <p:tag name="OUTPUTDPI" val="1200"/>
  <p:tag name="ORIGINALHEIGHT" val="981"/>
  <p:tag name="ORIGINALWIDTH" val="559.5"/>
  <p:tag name="LATEXADDIN" val="\documentclass{article}&#10;\usepackage{amsmath}&#10;\pagestyle{empty}&#10;\begin{document}&#10;1. $1+i$\\&#10;&#10;2. $-4+4 i$\\&#10;&#10;3. $2 i,-2 i$\\&#10;&#10;4. $-5$&#10;&#10;&#10;\end{document}"/>
  <p:tag name="IGUANATEXSIZE" val="24"/>
  <p:tag name="IGUANATEXCURSOR" val="131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66.xml><?xml version="1.0" encoding="utf-8"?>
<p:tagLst xmlns:p="http://schemas.openxmlformats.org/presentationml/2006/main">
  <p:tag name="OUTPUTDPI" val="1200"/>
  <p:tag name="ORIGINALHEIGHT" val="1086.75"/>
  <p:tag name="ORIGINALWIDTH" val="635.25"/>
  <p:tag name="LATEXADDIN" val="\documentclass{article}&#10;\usepackage{amsmath}&#10;\pagestyle{empty}&#10;\begin{document}&#10;&#10;5. $\frac{\sqrt{2}+i / 3}{-\sqrt{8}-2 i / 3}$\\&#10;&#10;6. $\frac{\sqrt{3}-10 i}{-\frac{1}{2} \sqrt{3}+5 i}$\\&#10;&#10;7. $1+\frac{1}{2} \pi i$\\&#10;&#10;8. $\frac{-4+9 i}{2+5 i}$\\&#10;&#10;&#10;\end{document}"/>
  <p:tag name="IGUANATEXSIZE" val="24"/>
  <p:tag name="IGUANATEXCURSOR" val="22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67.xml><?xml version="1.0" encoding="utf-8"?>
<p:tagLst xmlns:p="http://schemas.openxmlformats.org/presentationml/2006/main">
  <p:tag name="TIMING" val="|29"/>
</p:tagLst>
</file>

<file path=ppt/tags/tag168.xml><?xml version="1.0" encoding="utf-8"?>
<p:tagLst xmlns:p="http://schemas.openxmlformats.org/presentationml/2006/main">
  <p:tag name="OUTPUTDPI" val="1200"/>
  <p:tag name="ORIGINALHEIGHT" val="114"/>
  <p:tag name="ORIGINALWIDTH" val="990.75"/>
  <p:tag name="LATEXADDIN" val="\documentclass{article}&#10;\usepackage{amsmath}&#10;\pagestyle{empty}&#10;\begin{document}&#10;&#10;$z^4-6 i z^2+16=0$&#10;&#10;&#10;\end{document}"/>
  <p:tag name="IGUANATEXSIZE" val="24"/>
  <p:tag name="IGUANATEXCURSOR" val="99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69.xml><?xml version="1.0" encoding="utf-8"?>
<p:tagLst xmlns:p="http://schemas.openxmlformats.org/presentationml/2006/main">
  <p:tag name="OUTPUTDPI" val="1200"/>
  <p:tag name="ORIGINALHEIGHT" val="134.25"/>
  <p:tag name="ORIGINALWIDTH" val="1503.75"/>
  <p:tag name="LATEXADDIN" val="\documentclass{article}&#10;\usepackage{amsmath}&#10;\pagestyle{empty}&#10;\begin{document}&#10;&#10;$z^2-(6-2 i) z+17-6 i=0$&#10;&#10;&#10;\end{document}"/>
  <p:tag name="IGUANATEXSIZE" val="24"/>
  <p:tag name="IGUANATEXCURSOR" val="10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70.xml><?xml version="1.0" encoding="utf-8"?>
<p:tagLst xmlns:p="http://schemas.openxmlformats.org/presentationml/2006/main">
  <p:tag name="TIMING" val="|29"/>
</p:tagLst>
</file>

<file path=ppt/tags/tag171.xml><?xml version="1.0" encoding="utf-8"?>
<p:tagLst xmlns:p="http://schemas.openxmlformats.org/presentationml/2006/main">
  <p:tag name="OUTPUTDPI" val="1200"/>
  <p:tag name="ORIGINALHEIGHT" val="117"/>
  <p:tag name="ORIGINALWIDTH" val="1006.5"/>
  <p:tag name="LATEXADDIN" val="\documentclass{article}&#10;\usepackage{amsmath}&#10;\pagestyle{empty}&#10;\begin{document}&#10;&#10;&#10;$e^{i\theta}=\cos\theta+i\sin\theta$&#10;&#10;\end{document}"/>
  <p:tag name="IGUANATEXSIZE" val="24"/>
  <p:tag name="IGUANATEXCURSOR" val="117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72.xml><?xml version="1.0" encoding="utf-8"?>
<p:tagLst xmlns:p="http://schemas.openxmlformats.org/presentationml/2006/main">
  <p:tag name="OUTPUTDPI" val="1200"/>
  <p:tag name="ORIGINALHEIGHT" val="88.5"/>
  <p:tag name="ORIGINALWIDTH" val="294"/>
  <p:tag name="LATEXADDIN" val="\documentclass{article}&#10;\usepackage{amsmath}&#10;\pagestyle{empty}&#10;\begin{document}&#10;&#10;$\theta=\pi$&#10;&#10;&#10;\end{document}"/>
  <p:tag name="IGUANATEXSIZE" val="24"/>
  <p:tag name="IGUANATEXCURSOR" val="9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73.xml><?xml version="1.0" encoding="utf-8"?>
<p:tagLst xmlns:p="http://schemas.openxmlformats.org/presentationml/2006/main">
  <p:tag name="OUTPUTDPI" val="1200"/>
  <p:tag name="ORIGINALHEIGHT" val="114"/>
  <p:tag name="ORIGINALWIDTH" val="594"/>
  <p:tag name="LATEXADDIN" val="\documentclass{article}&#10;\usepackage{amsmath}&#10;\pagestyle{empty}&#10;\begin{document}&#10;&#10;&#10;$e^{i\pi}+1=0$&#10;&#10;\end{document}"/>
  <p:tag name="IGUANATEXSIZE" val="24"/>
  <p:tag name="IGUANATEXCURSOR" val="95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74.xml><?xml version="1.0" encoding="utf-8"?>
<p:tagLst xmlns:p="http://schemas.openxmlformats.org/presentationml/2006/main">
  <p:tag name="OUTPUTDPI" val="1200"/>
  <p:tag name="ORIGINALHEIGHT" val="107.25"/>
  <p:tag name="ORIGINALWIDTH" val="507"/>
  <p:tag name="LATEXADDIN" val="\documentclass{article}&#10;\usepackage{amsmath}&#10;\pagestyle{empty}&#10;\begin{document}&#10;&#10;$e,\pi,i,0,1$&#10;&#10;&#10;\end{document}"/>
  <p:tag name="IGUANATEXSIZE" val="24"/>
  <p:tag name="IGUANATEXCURSOR" val="9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75.xml><?xml version="1.0" encoding="utf-8"?>
<p:tagLst xmlns:p="http://schemas.openxmlformats.org/presentationml/2006/main">
  <p:tag name="TIMING" val="|29"/>
</p:tagLst>
</file>

<file path=ppt/tags/tag176.xml><?xml version="1.0" encoding="utf-8"?>
<p:tagLst xmlns:p="http://schemas.openxmlformats.org/presentationml/2006/main">
  <p:tag name="TIMING" val="|29"/>
</p:tagLst>
</file>

<file path=ppt/tags/tag177.xml><?xml version="1.0" encoding="utf-8"?>
<p:tagLst xmlns:p="http://schemas.openxmlformats.org/presentationml/2006/main">
  <p:tag name="OUTPUTDPI" val="1200"/>
  <p:tag name="ORIGINALHEIGHT" val="180"/>
  <p:tag name="ORIGINALWIDTH" val="520.5"/>
  <p:tag name="LATEXADDIN" val="\documentclass{article}&#10;\usepackage{amsmath}&#10;\pagestyle{empty}&#10;\begin{document}&#10;&#10;$\left(1+\frac{i \pi}{N}\right)^N$&#10;&#10;&#10;\end{document}"/>
  <p:tag name="IGUANATEXSIZE" val="18"/>
  <p:tag name="IGUANATEXCURSOR" val="11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78.xml><?xml version="1.0" encoding="utf-8"?>
<p:tagLst xmlns:p="http://schemas.openxmlformats.org/presentationml/2006/main">
  <p:tag name="OUTPUTDPI" val="1200"/>
  <p:tag name="ORIGINALHEIGHT" val="189"/>
  <p:tag name="ORIGINALWIDTH" val="1040.25"/>
  <p:tag name="LATEXADDIN" val="\documentclass{article}&#10;\usepackage{amsmath}&#10;\pagestyle{empty}&#10;\begin{document}&#10;&#10;$e^x=\lim \limits_{n \rightarrow \infty}\left(1+\frac{x}{n}\right)^n$&#10;&#10;&#10;\end{document}"/>
  <p:tag name="IGUANATEXSIZE" val="24"/>
  <p:tag name="IGUANATEXCURSOR" val="136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79.xml><?xml version="1.0" encoding="utf-8"?>
<p:tagLst xmlns:p="http://schemas.openxmlformats.org/presentationml/2006/main">
  <p:tag name="OUTPUTDPI" val="1200"/>
  <p:tag name="ORIGINALHEIGHT" val="189"/>
  <p:tag name="ORIGINALWIDTH" val="1035"/>
  <p:tag name="LATEXADDIN" val="\documentclass{article}&#10;\usepackage{amsmath}&#10;\pagestyle{empty}&#10;\begin{document}&#10;&#10;$e^z=\lim \limits_{n \rightarrow \infty}\left(1+\frac{z}{n}\right)^n$&#10;&#10;&#10;\end{document}"/>
  <p:tag name="IGUANATEXSIZE" val="24"/>
  <p:tag name="IGUANATEXCURSOR" val="136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80.xml><?xml version="1.0" encoding="utf-8"?>
<p:tagLst xmlns:p="http://schemas.openxmlformats.org/presentationml/2006/main">
  <p:tag name="TIMING" val="|29"/>
</p:tagLst>
</file>

<file path=ppt/tags/tag181.xml><?xml version="1.0" encoding="utf-8"?>
<p:tagLst xmlns:p="http://schemas.openxmlformats.org/presentationml/2006/main">
  <p:tag name="OUTPUTDPI" val="1200"/>
  <p:tag name="ORIGINALHEIGHT" val="154.5"/>
  <p:tag name="ORIGINALWIDTH" val="4071"/>
  <p:tag name="LATEXADDIN" val="\documentclass{article}&#10;\usepackage{amsmath}&#10;\pagestyle{empty}&#10;\begin{document}&#10;&#10;$f(x)=f(a)+(x-a) f^{\prime}(a)+\frac{1}{2 !}(x-a)^2 f^{\prime \prime}(a)+\cdots+\frac{1}{n !}(x-a)^n f^{(n)}(a)+\cdots$&#10;&#10;&#10;\end{document}"/>
  <p:tag name="IGUANATEXSIZE" val="20"/>
  <p:tag name="IGUANATEXCURSOR" val="156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82.xml><?xml version="1.0" encoding="utf-8"?>
<p:tagLst xmlns:p="http://schemas.openxmlformats.org/presentationml/2006/main">
  <p:tag name="OUTPUTDPI" val="1200"/>
  <p:tag name="ORIGINALHEIGHT" val="596.25"/>
  <p:tag name="ORIGINALWIDTH" val="1360.5"/>
  <p:tag name="LATEXADDIN" val="\documentclass{article}&#10;\usepackage{amsmath}&#10;\pagestyle{empty}&#10;\begin{document}&#10;&#10;\begin{align}&#10;&amp; \cos \theta=1-\frac{\theta^2}{2 !}+\frac{\theta^4}{4 !}-\cdots \nonumber\\&#10;&amp; \sin \theta=\theta-\frac{\theta^3}{3 !}+\frac{\theta^5}{5 !}-\cdots\nonumber&#10;\end{align}&#10;&#10;&#10;\end{document}"/>
  <p:tag name="IGUANATEXSIZE" val="20"/>
  <p:tag name="IGUANATEXCURSOR" val="155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83.xml><?xml version="1.0" encoding="utf-8"?>
<p:tagLst xmlns:p="http://schemas.openxmlformats.org/presentationml/2006/main">
  <p:tag name="OUTPUTDPI" val="1200"/>
  <p:tag name="ORIGINALHEIGHT" val="1113"/>
  <p:tag name="ORIGINALWIDTH" val="2674.5"/>
  <p:tag name="LATEXADDIN" val="\documentclass{article}&#10;\usepackage{amsmath}&#10;\pagestyle{empty}&#10;\begin{document}&#10;&#10;\begin{align}&#10;e^{{i} \theta} &amp; =1+{i} \theta+\frac{({i} \theta)^2}{2 !}+\frac{({i} \theta)^3}{3 !}+\frac{({i} \theta)^4}{4 !}+\frac{({i} \theta)^5}{5 !}+\cdots \nonumber\\&#10;&amp; =1+{i} \theta-\frac{\theta^2}{2 !}-{i} \frac{\theta^3}{3 !}+\frac{\theta^4}{4 !}+{i} \frac{\theta^5}{5 !} \cdots \nonumber\\&#10;&amp; =1-\frac{\theta^2}{2 !}+\frac{\theta^4}{4 !}+\ldots+{i}\left(\theta-\frac{\theta^3}{3 !}+\frac{\theta^5}{5 !} \cdots\right)\nonumber\\&#10;&amp;=\cos\theta+{i}\sin\theta\nonumber&#10;\end{align}&#10;&#10;&#10;\end{document}"/>
  <p:tag name="IGUANATEXSIZE" val="20"/>
  <p:tag name="IGUANATEXCURSOR" val="336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84.xml><?xml version="1.0" encoding="utf-8"?>
<p:tagLst xmlns:p="http://schemas.openxmlformats.org/presentationml/2006/main">
  <p:tag name="TIMING" val="|29"/>
</p:tagLst>
</file>

<file path=ppt/tags/tag185.xml><?xml version="1.0" encoding="utf-8"?>
<p:tagLst xmlns:p="http://schemas.openxmlformats.org/presentationml/2006/main">
  <p:tag name="OUTPUTDPI" val="1200"/>
  <p:tag name="ORIGINALHEIGHT" val="138"/>
  <p:tag name="ORIGINALWIDTH" val="1445.25"/>
  <p:tag name="LATEXADDIN" val="\documentclass{article}&#10;\usepackage{amsmath}&#10;\pagestyle{empty}&#10;\begin{document}&#10;&#10;$z=r(\cos \theta+{i} \sin \theta)=r e^{{i} \theta}$&#10;&#10;&#10;\end{document}"/>
  <p:tag name="IGUANATEXSIZE" val="24"/>
  <p:tag name="IGUANATEXCURSOR" val="120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86.xml><?xml version="1.0" encoding="utf-8"?>
<p:tagLst xmlns:p="http://schemas.openxmlformats.org/presentationml/2006/main">
  <p:tag name="OUTPUTDPI" val="1200"/>
  <p:tag name="ORIGINALHEIGHT" val="506.25"/>
  <p:tag name="ORIGINALWIDTH" val="2003.25"/>
  <p:tag name="LATEXADDIN" val="\documentclass{article}&#10;\usepackage{amsmath}&#10;\pagestyle{empty}&#10;\begin{document}&#10;\begin{align}&#10;&amp; z_1 \cdot z_2=r_1 e^{{i} \theta_1} \cdot r_2 e^{{i} \theta_2}=r_1 r_2 e^{{i}\left(\theta_1+\theta_2\right)} \nonumber\\&#10;&amp; \frac{z_1}{z_2}=\frac{r_1 e^{{i} \theta_1}}{r_2 e^{{i} \theta_2}}=\frac{r_1}{r_2} e^{{i}\left(\theta_1-\theta_2\right)} \quad\left(z_2 \neq 0\right)\nonumber&#10;\end{align}&#10;&#10;&#10;&#10;\end{document}"/>
  <p:tag name="IGUANATEXSIZE" val="20"/>
  <p:tag name="IGUANATEXCURSOR" val="303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87.xml><?xml version="1.0" encoding="utf-8"?>
<p:tagLst xmlns:p="http://schemas.openxmlformats.org/presentationml/2006/main">
  <p:tag name="OUTPUTDPI" val="1200"/>
  <p:tag name="ORIGINALHEIGHT" val="156.75"/>
  <p:tag name="ORIGINALWIDTH" val="1266"/>
  <p:tag name="LATEXADDIN" val="\documentclass{article}&#10;\usepackage{amsmath}&#10;\pagestyle{empty}&#10;\begin{document}&#10;&#10;&#10;$z^n=\left(r e^{{i} \theta}\right)^n=r^n \cdot e^{i n \theta}$&#10;&#10;\end{document}"/>
  <p:tag name="IGUANATEXSIZE" val="20"/>
  <p:tag name="IGUANATEXCURSOR" val="135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88.xml><?xml version="1.0" encoding="utf-8"?>
<p:tagLst xmlns:p="http://schemas.openxmlformats.org/presentationml/2006/main">
  <p:tag name="OUTPUTDPI" val="1200"/>
  <p:tag name="ORIGINALHEIGHT" val="156.75"/>
  <p:tag name="ORIGINALWIDTH" val="2732.25"/>
  <p:tag name="LATEXADDIN" val="\documentclass{article}&#10;\usepackage{amsmath}&#10;\pagestyle{empty}&#10;\begin{document}&#10;&#10;$\left(e^{{i} \theta}\right)^n=(\cos \theta+{i} \sin \theta)^n=e^{{in} \theta}=\cos n \theta+{i} \sin n \theta$&#10;&#10;&#10;\end{document}"/>
  <p:tag name="IGUANATEXSIZE" val="20"/>
  <p:tag name="IGUANATEXCURSOR" val="147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89.xml><?xml version="1.0" encoding="utf-8"?>
<p:tagLst xmlns:p="http://schemas.openxmlformats.org/presentationml/2006/main">
  <p:tag name="TIMING" val="|29"/>
</p:tagLst>
</file>

<file path=ppt/tags/tag190.xml><?xml version="1.0" encoding="utf-8"?>
<p:tagLst xmlns:p="http://schemas.openxmlformats.org/presentationml/2006/main">
  <p:tag name="OUTPUTDPI" val="1200"/>
  <p:tag name="ORIGINALHEIGHT" val="93.75"/>
  <p:tag name="ORIGINALWIDTH" val="310.5"/>
  <p:tag name="LATEXADDIN" val="\documentclass{article}&#10;\usepackage{amsmath}&#10;\pagestyle{empty}&#10;\begin{document}&#10;&#10;$4+3i$&#10;&#10;&#10;\end{document}"/>
  <p:tag name="IGUANATEXSIZE" val="24"/>
  <p:tag name="IGUANATEXCURSOR" val="86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91.xml><?xml version="1.0" encoding="utf-8"?>
<p:tagLst xmlns:p="http://schemas.openxmlformats.org/presentationml/2006/main">
  <p:tag name="OUTPUTDPI" val="1200"/>
  <p:tag name="ORIGINALHEIGHT" val="84.75"/>
  <p:tag name="ORIGINALWIDTH" val="240.75"/>
  <p:tag name="LATEXADDIN" val="\documentclass{article}&#10;\usepackage{amsmath}&#10;\pagestyle{empty}&#10;\begin{document}&#10;&#10;$-6.3$&#10;&#10;&#10;\end{document}"/>
  <p:tag name="IGUANATEXSIZE" val="24"/>
  <p:tag name="IGUANATEXCURSOR" val="86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92.xml><?xml version="1.0" encoding="utf-8"?>
<p:tagLst xmlns:p="http://schemas.openxmlformats.org/presentationml/2006/main">
  <p:tag name="OUTPUTDPI" val="1200"/>
  <p:tag name="ORIGINALHEIGHT" val="125.25"/>
  <p:tag name="ORIGINALWIDTH" val="138.75"/>
  <p:tag name="LATEXADDIN" val="\documentclass{article}&#10;\usepackage{amsmath}&#10;\pagestyle{empty}&#10;\begin{document}&#10;&#10;$\sqrt{i}$&#10;&#10;&#10;\end{document}"/>
  <p:tag name="IGUANATEXSIZE" val="24"/>
  <p:tag name="IGUANATEXCURSOR" val="89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93.xml><?xml version="1.0" encoding="utf-8"?>
<p:tagLst xmlns:p="http://schemas.openxmlformats.org/presentationml/2006/main">
  <p:tag name="OUTPUTDPI" val="1200"/>
  <p:tag name="ORIGINALHEIGHT" val="122.25"/>
  <p:tag name="ORIGINALWIDTH" val="517.5"/>
  <p:tag name="LATEXADDIN" val="\documentclass{article}&#10;\usepackage{amsmath}&#10;\pagestyle{empty}&#10;\begin{document}&#10;&#10;$5e^{i\arctan{\frac{3}{4}}}$&#10;&#10;&#10;\end{document}"/>
  <p:tag name="IGUANATEXSIZE" val="24"/>
  <p:tag name="IGUANATEXCURSOR" val="102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94.xml><?xml version="1.0" encoding="utf-8"?>
<p:tagLst xmlns:p="http://schemas.openxmlformats.org/presentationml/2006/main">
  <p:tag name="OUTPUTDPI" val="1200"/>
  <p:tag name="ORIGINALHEIGHT" val="105.75"/>
  <p:tag name="ORIGINALWIDTH" val="303"/>
  <p:tag name="LATEXADDIN" val="\documentclass{article}&#10;\usepackage{amsmath}&#10;\pagestyle{empty}&#10;\begin{document}&#10;&#10;$6.3e^{i\pi}$&#10;&#10;&#10;\end{document}"/>
  <p:tag name="IGUANATEXSIZE" val="24"/>
  <p:tag name="IGUANATEXCURSOR" val="92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95.xml><?xml version="1.0" encoding="utf-8"?>
<p:tagLst xmlns:p="http://schemas.openxmlformats.org/presentationml/2006/main">
  <p:tag name="OUTPUTDPI" val="1200"/>
  <p:tag name="ORIGINALHEIGHT" val="120.75"/>
  <p:tag name="ORIGINALWIDTH" val="666.75"/>
  <p:tag name="LATEXADDIN" val="\documentclass{article}&#10;\usepackage{amsmath}&#10;\pagestyle{empty}&#10;\begin{document}&#10;&#10;$e^{i\frac{\pi}{4}}~\text{and}~e^{i\frac{5\pi}{4}}$&#10;&#10;&#10;\end{document}"/>
  <p:tag name="IGUANATEXSIZE" val="24"/>
  <p:tag name="IGUANATEXCURSOR" val="131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96.xml><?xml version="1.0" encoding="utf-8"?>
<p:tagLst xmlns:p="http://schemas.openxmlformats.org/presentationml/2006/main">
  <p:tag name="TIMING" val="|29"/>
</p:tagLst>
</file>

<file path=ppt/tags/tag197.xml><?xml version="1.0" encoding="utf-8"?>
<p:tagLst xmlns:p="http://schemas.openxmlformats.org/presentationml/2006/main">
  <p:tag name="OUTPUTDPI" val="1200"/>
  <p:tag name="ORIGINALHEIGHT" val="134.25"/>
  <p:tag name="ORIGINALWIDTH" val="801.75"/>
  <p:tag name="LATEXADDIN" val="\documentclass{article}&#10;\usepackage{amsmath}&#10;\pagestyle{empty}&#10;\begin{document}&#10;&#10;$(1+i)^2 /(1-i)$&#10;&#10;&#10;\end{document}"/>
  <p:tag name="IGUANATEXSIZE" val="28"/>
  <p:tag name="IGUANATEXCURSOR" val="96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98.xml><?xml version="1.0" encoding="utf-8"?>
<p:tagLst xmlns:p="http://schemas.openxmlformats.org/presentationml/2006/main">
  <p:tag name="OUTPUTDPI" val="1200"/>
  <p:tag name="ORIGINALHEIGHT" val="93"/>
  <p:tag name="ORIGINALWIDTH" val="240"/>
  <p:tag name="LATEXADDIN" val="\documentclass{article}&#10;\usepackage{amsmath}&#10;\pagestyle{empty}&#10;\begin{document}&#10;&#10;&#10;$1+i$&#10;&#10;\end{document}"/>
  <p:tag name="IGUANATEXSIZE" val="24"/>
  <p:tag name="IGUANATEXCURSOR" val="86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99.xml><?xml version="1.0" encoding="utf-8"?>
<p:tagLst xmlns:p="http://schemas.openxmlformats.org/presentationml/2006/main">
  <p:tag name="OUTPUTDPI" val="1200"/>
  <p:tag name="ORIGINALHEIGHT" val="83.25"/>
  <p:tag name="ORIGINALWIDTH" val="240"/>
  <p:tag name="LATEXADDIN" val="\documentclass{article}&#10;\usepackage{amsmath}&#10;\pagestyle{empty}&#10;\begin{document}&#10;&#10;&#10;$1-i$&#10;&#10;\end{document}"/>
  <p:tag name="IGUANATEXSIZE" val="24"/>
  <p:tag name="IGUANATEXCURSOR" val="85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200.xml><?xml version="1.0" encoding="utf-8"?>
<p:tagLst xmlns:p="http://schemas.openxmlformats.org/presentationml/2006/main">
  <p:tag name="OUTPUTDPI" val="1200"/>
  <p:tag name="ORIGINALHEIGHT" val="127.5"/>
  <p:tag name="ORIGINALWIDTH" val="2042.25"/>
  <p:tag name="LATEXADDIN" val="\documentclass{article}&#10;\usepackage{amsmath}&#10;\pagestyle{empty}&#10;\begin{document}&#10;&#10;&#10;$1+i=\sqrt{2} e^{i \pi / 4}~\text{and}~1-i=\sqrt{2} e^{-i \pi / 4}$&#10;&#10;\end{document}"/>
  <p:tag name="IGUANATEXSIZE" val="24"/>
  <p:tag name="IGUANATEXCURSOR" val="119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201.xml><?xml version="1.0" encoding="utf-8"?>
<p:tagLst xmlns:p="http://schemas.openxmlformats.org/presentationml/2006/main">
  <p:tag name="OUTPUTDPI" val="1200"/>
  <p:tag name="ORIGINALHEIGHT" val="708.75"/>
  <p:tag name="ORIGINALWIDTH" val="1766.25"/>
  <p:tag name="LATEXADDIN" val="\documentclass{article}&#10;\usepackage{amsmath}&#10;\pagestyle{empty}&#10;\begin{document}&#10;&#10;&#10;\begin{align}&#10;\frac{(1+i)^2}{1-i}=\ &amp;\frac{\left(\sqrt{2} e^{i \pi / 4}\right)^2}{\sqrt{2} e^{-i \pi / 4}}\nonumber\\&#10;=\ &amp;\frac{2 e^{i \pi / 2}}{\sqrt{2} e^{-i \pi / 4}}=\sqrt{2} e^{3 i \pi / 4}\nonumber&#10;\end{align}&#10;&#10;&#10;\end{document}"/>
  <p:tag name="IGUANATEXSIZE" val="24"/>
  <p:tag name="IGUANATEXCURSOR" val="285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202.xml><?xml version="1.0" encoding="utf-8"?>
<p:tagLst xmlns:p="http://schemas.openxmlformats.org/presentationml/2006/main">
  <p:tag name="TIMING" val="|29"/>
</p:tagLst>
</file>

<file path=ppt/tags/tag203.xml><?xml version="1.0" encoding="utf-8"?>
<p:tagLst xmlns:p="http://schemas.openxmlformats.org/presentationml/2006/main">
  <p:tag name="OUTPUTDPI" val="1200"/>
  <p:tag name="ORIGINALHEIGHT" val="718.5"/>
  <p:tag name="ORIGINALWIDTH" val="579"/>
  <p:tag name="LATEXADDIN" val="\documentclass{article}&#10;\usepackage{amsmath}&#10;\pagestyle{empty}&#10;\begin{document}&#10;&#10;1. $\sqrt[3]{3+4 i}$ \\&#10;&#10;2. $\sqrt[4]{-4}$ \\&#10;&#10;3. $\sqrt[8]{1}$&#10;&#10;&#10;\end{document}"/>
  <p:tag name="IGUANATEXSIZE" val="24"/>
  <p:tag name="IGUANATEXCURSOR" val="8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04.xml><?xml version="1.0" encoding="utf-8"?>
<p:tagLst xmlns:p="http://schemas.openxmlformats.org/presentationml/2006/main">
  <p:tag name="TIMING" val="|29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jpeg"/></Relationships>
</file>

<file path=ppt/theme/theme1.xml><?xml version="1.0" encoding="utf-8"?>
<a:theme xmlns:a="http://schemas.openxmlformats.org/drawingml/2006/main" name="清晰度">
  <a:themeElements>
    <a:clrScheme name="橙色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自定义 2">
      <a:majorFont>
        <a:latin typeface="Times New Roman"/>
        <a:ea typeface="华文楷体"/>
        <a:cs typeface=""/>
      </a:majorFont>
      <a:minorFont>
        <a:latin typeface="Times New Roman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5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6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7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c="http://schemas.microsoft.com/office/infopath/2007/PartnerControls" xmlns:p="http://schemas.microsoft.com/office/2006/metadata/properties" xmlns:xsi="http://www.w3.org/2001/XMLSchema-instance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ma:contentTypeVersion="11" ma:versionID="c821f5595c10624a561c763398b2b375" ma:contentTypeID="0x01010005412C54EF6B924AA1F01C994AD17189" ma:contentTypeDescription="Create a new document." ct:_="" ma:_="" ma:contentTypeName="Document" ma:contentTypeScope="">
  <xsd:schema xmlns:ns3="509add88-2c79-4840-b307-c95dbf689d65" xmlns:xsd="http://www.w3.org/2001/XMLSchema" xmlns:p="http://schemas.microsoft.com/office/2006/metadata/properties" xmlns:xs="http://www.w3.org/2001/XMLSchema" ns3:_="" ma:fieldsID="98b50cfb8e477a941a04507b6ff479b1" ma:root="true" targetNamespace="http://schemas.microsoft.com/office/2006/metadata/properties">
    <xsd:import namespace="509add88-2c79-4840-b307-c95dbf689d6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pc="http://schemas.microsoft.com/office/infopath/2007/PartnerControls" xmlns:xsd="http://www.w3.org/2001/XMLSchema" xmlns:dms="http://schemas.microsoft.com/office/2006/documentManagement/types" xmlns:xs="http://www.w3.org/2001/XMLSchema" targetNamespace="509add88-2c79-4840-b307-c95dbf689d65" elementFormDefault="qualified">
    <xsd:import namespace="http://schemas.microsoft.com/office/2006/documentManagement/types"/>
    <xsd:import namespace="http://schemas.microsoft.com/office/infopath/2007/PartnerControls"/>
    <xsd:element nillable="true" ma:hidden="true" ma:index="8" ma:readOnly="true" ma:internalName="MediaServiceMetadata" name="MediaServiceMetadata" ma:displayName="MediaServiceMetadata">
      <xsd:simpleType>
        <xsd:restriction base="dms:Note"/>
      </xsd:simpleType>
    </xsd:element>
    <xsd:element nillable="true" ma:hidden="true" ma:index="9" ma:readOnly="true" ma:internalName="MediaServiceFastMetadata" name="MediaServiceFastMetadata" ma:displayName="MediaServiceFastMetadata">
      <xsd:simpleType>
        <xsd:restriction base="dms:Note"/>
      </xsd:simpleType>
    </xsd:element>
    <xsd:element nillable="true" ma:hidden="true" ma:index="10" ma:readOnly="true" ma:internalName="MediaServiceAutoKeyPoints" name="MediaServiceAutoKeyPoints" ma:displayName="MediaServiceAutoKeyPoints">
      <xsd:simpleType>
        <xsd:restriction base="dms:Note"/>
      </xsd:simpleType>
    </xsd:element>
    <xsd:element nillable="true" ma:index="11" ma:readOnly="true" ma:internalName="MediaServiceKeyPoints" name="MediaServiceKeyPoints" ma:displayName="KeyPoints">
      <xsd:simpleType>
        <xsd:restriction base="dms:Note">
          <xsd:maxLength value="255"/>
        </xsd:restriction>
      </xsd:simpleType>
    </xsd:element>
    <xsd:element nillable="true" ma:hidden="true" ma:index="12" ma:readOnly="true" ma:internalName="MediaServiceDateTaken" name="MediaServiceDateTaken" ma:displayName="MediaServiceDateTaken">
      <xsd:simpleType>
        <xsd:restriction base="dms:Text"/>
      </xsd:simpleType>
    </xsd:element>
    <xsd:element nillable="true" ma:index="13" ma:readOnly="true" ma:internalName="MediaServiceAutoTags" name="MediaServiceAutoTags" ma:displayName="Tags">
      <xsd:simpleType>
        <xsd:restriction base="dms:Text"/>
      </xsd:simpleType>
    </xsd:element>
    <xsd:element nillable="true" ma:index="14" ma:readOnly="true" ma:internalName="MediaServiceOCR" name="MediaServiceOCR" ma:displayName="Extracted Text">
      <xsd:simpleType>
        <xsd:restriction base="dms:Note">
          <xsd:maxLength value="255"/>
        </xsd:restriction>
      </xsd:simpleType>
    </xsd:element>
    <xsd:element nillable="true" ma:hidden="true" ma:index="15" ma:readOnly="true" ma:internalName="MediaServiceGenerationTime" name="MediaServiceGenerationTime" ma:displayName="MediaServiceGenerationTime">
      <xsd:simpleType>
        <xsd:restriction base="dms:Text"/>
      </xsd:simpleType>
    </xsd:element>
    <xsd:element nillable="true" ma:hidden="true" ma:index="16" ma:readOnly="true" ma:internalName="MediaServiceEventHashCode" name="MediaServiceEventHashCode" ma:displayName="MediaServiceEventHashCode">
      <xsd:simpleType>
        <xsd:restriction base="dms:Text"/>
      </xsd:simpleType>
    </xsd:element>
    <xsd:element nillable="true" ma:index="17" ma:readOnly="true" ma:internalName="MediaLengthInSeconds" name="MediaLengthInSeconds" ma:displayName="Length (seconds)">
      <xsd:simpleType>
        <xsd:restriction base="dms:Unknown"/>
      </xsd:simpleType>
    </xsd:element>
    <xsd:element nillable="true" ma:index="18" ma:readOnly="true" ma:internalName="MediaServiceLocation" name="MediaServiceLocation" ma:displayName="Location">
      <xsd:simpleType>
        <xsd:restriction base="dms:Text"/>
      </xsd:simpleType>
    </xsd:element>
  </xsd:schema>
  <xsd:schema xmlns:dcterms="http://purl.org/dc/terms/" xmlns:odoc="http://schemas.microsoft.com/internal/obd" xmlns:xsd="http://www.w3.org/2001/XMLSchema" xmlns:dc="http://purl.org/dc/elements/1.1/" xmlns="http://schemas.openxmlformats.org/package/2006/metadata/core-properties" xmlns:xsi="http://www.w3.org/2001/XMLSchema-instance" attributeFormDefault="unqualified" blockDefault="#all" targetNamespace="http://schemas.openxmlformats.org/package/2006/metadata/core-properties" elementFormDefault="qualified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type="CT_coreProperties" name="coreProperties"/>
    <xsd:complexType name="CT_coreProperties">
      <xsd:all>
        <xsd:element maxOccurs="1" ref="dc:creator" minOccurs="0"/>
        <xsd:element maxOccurs="1" ref="dcterms:created" minOccurs="0"/>
        <xsd:element maxOccurs="1" ref="dc:identifier" minOccurs="0"/>
        <xsd:element type="xsd:string" ma:index="0" maxOccurs="1" name="contentType" minOccurs="0" ma:displayName="Content Type"/>
        <xsd:element ma:index="4" maxOccurs="1" ref="dc:title" minOccurs="0" ma:displayName="Title"/>
        <xsd:element maxOccurs="1" ref="dc:subject" minOccurs="0"/>
        <xsd:element maxOccurs="1" ref="dc:description" minOccurs="0"/>
        <xsd:element type="xsd:string" maxOccurs="1" name="keywords" minOccurs="0"/>
        <xsd:element maxOccurs="1" ref="dc:language" minOccurs="0"/>
        <xsd:element type="xsd:string" maxOccurs="1" name="category" minOccurs="0"/>
        <xsd:element type="xsd:string" maxOccurs="1" name="version" minOccurs="0"/>
        <xsd:element type="xsd:string" maxOccurs="1" name="revision" minOccurs="0">
          <xsd:annotation>
            <xsd:documentation>
                        This value indicates the number of saves or revisions. The application is responsible for updating this value after each revision.
                    </xsd:documentation>
          </xsd:annotation>
        </xsd:element>
        <xsd:element type="xsd:string" maxOccurs="1" name="lastModifiedBy" minOccurs="0"/>
        <xsd:element maxOccurs="1" ref="dcterms:modified" minOccurs="0"/>
        <xsd:element type="xsd:string" maxOccurs="1" name="contentStatus" minOccurs="0"/>
      </xsd:all>
    </xsd:complexType>
  </xsd:schema>
  <xs:schema xmlns:pc="http://schemas.microsoft.com/office/infopath/2007/PartnerControls" xmlns:xs="http://www.w3.org/2001/XMLSchema" attributeFormDefault="unqualified" targetNamespace="http://schemas.microsoft.com/office/infopath/2007/PartnerControls" elementFormDefault="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type="xs:string" name="DisplayName"/>
    <xs:element type="xs:string" name="AccountId"/>
    <xs:element type="xs:string" name="AccountType"/>
    <xs:element name="BDCAssociatedEntity">
      <xs:complexType>
        <xs:sequence>
          <xs:element maxOccurs="unbounded" ref="pc:BDCEntity" minOccurs="0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type="xs:string" name="EntityNamespace"/>
    <xs:attribute type="xs:string" name="EntityName"/>
    <xs:attribute type="xs:string" name="SystemInstanceName"/>
    <xs:attribute type="xs:string" name="AssociationName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type="xs:string" name="EntityDisplayName"/>
    <xs:element type="xs:string" name="EntityInstanceReference"/>
    <xs:element type="xs:string" name="EntityId1"/>
    <xs:element type="xs:string" name="EntityId2"/>
    <xs:element type="xs:string" name="EntityId3"/>
    <xs:element type="xs:string" name="EntityId4"/>
    <xs:element type="xs:string" name="EntityId5"/>
    <xs:element name="Terms">
      <xs:complexType>
        <xs:sequence>
          <xs:element maxOccurs="unbounded" ref="pc:TermInfo" minOccurs="0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type="xs:string" name="TermName"/>
    <xs:element type="xs:string" name="TermId"/>
  </xs:schema>
</ct:contentTypeSchema>
</file>

<file path=customXml/itemProps205.xml><?xml version="1.0" encoding="utf-8"?>
<ds:datastoreItem xmlns:ds="http://schemas.openxmlformats.org/officeDocument/2006/customXml" ds:itemID="{5CF95E56-3C74-46E8-B397-B550E9987BE7}">
  <ds:schemaRefs/>
</ds:datastoreItem>
</file>

<file path=customXml/itemProps206.xml><?xml version="1.0" encoding="utf-8"?>
<ds:datastoreItem xmlns:ds="http://schemas.openxmlformats.org/officeDocument/2006/customXml" ds:itemID="{3476EB68-BDCE-46B7-8523-EAC1B59D9CD7}">
  <ds:schemaRefs/>
</ds:datastoreItem>
</file>

<file path=customXml/itemProps207.xml><?xml version="1.0" encoding="utf-8"?>
<ds:datastoreItem xmlns:ds="http://schemas.openxmlformats.org/officeDocument/2006/customXml" ds:itemID="{D916F450-6281-48D5-8DD7-ABC720A5FBFC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10585</Words>
  <Application>WPS 表格</Application>
  <PresentationFormat>全屏显示(4:3)</PresentationFormat>
  <Paragraphs>616</Paragraphs>
  <Slides>57</Slides>
  <Notes>57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57</vt:i4>
      </vt:variant>
    </vt:vector>
  </HeadingPairs>
  <TitlesOfParts>
    <vt:vector size="79" baseType="lpstr">
      <vt:lpstr>Arial</vt:lpstr>
      <vt:lpstr>宋体</vt:lpstr>
      <vt:lpstr>Wingdings</vt:lpstr>
      <vt:lpstr>汉仪书宋二KW</vt:lpstr>
      <vt:lpstr>Calibri</vt:lpstr>
      <vt:lpstr>Helvetica Neue</vt:lpstr>
      <vt:lpstr>Times New Roman</vt:lpstr>
      <vt:lpstr>楷体</vt:lpstr>
      <vt:lpstr>汉仪楷体KW</vt:lpstr>
      <vt:lpstr>Times New Roman Bold Italic</vt:lpstr>
      <vt:lpstr>Times New Roman Italic</vt:lpstr>
      <vt:lpstr>PingFang SC Regular</vt:lpstr>
      <vt:lpstr>华文楷体</vt:lpstr>
      <vt:lpstr>微软雅黑</vt:lpstr>
      <vt:lpstr>方正雅意黑 GB18030L2</vt:lpstr>
      <vt:lpstr>宋体</vt:lpstr>
      <vt:lpstr>Arial Unicode MS</vt:lpstr>
      <vt:lpstr>DejaVu Math TeX Gyre</vt:lpstr>
      <vt:lpstr>Wingdings</vt:lpstr>
      <vt:lpstr>Times New Roman Bold</vt:lpstr>
      <vt:lpstr>楷体</vt:lpstr>
      <vt:lpstr>清晰度</vt:lpstr>
      <vt:lpstr>Mathematical Foundations of Control Engineering 控制工程数学基础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FULLY DISTRIBUTED EVENT-TRIGGERED ADAPTIVE CONTROL OF UNCERTAIN HETEROGENEOUS MULTI-AGENT SYSTEMS</dc:title>
  <dc:creator>Ruohan</dc:creator>
  <cp:lastModifiedBy>=3=</cp:lastModifiedBy>
  <cp:revision>1655</cp:revision>
  <dcterms:created xsi:type="dcterms:W3CDTF">2026-09-07T12:14:05Z</dcterms:created>
  <dcterms:modified xsi:type="dcterms:W3CDTF">2026-09-07T12:14:05Z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0x01010005412C54EF6B924AA1F01C994AD17189</vt:lpwstr>
  </property>
  <property fmtid="{D5CDD505-2E9C-101B-9397-08002B2CF9AE}" pid="3" name="KSOProductBuildVer">
    <vt:lpwstr>2052-12.1.28492.28492</vt:lpwstr>
  </property>
  <property fmtid="{D5CDD505-2E9C-101B-9397-08002B2CF9AE}" pid="4" name="ICV">
    <vt:lpwstr>B48939AB2D9811EC168D9B6A0CB40A61_42</vt:lpwstr>
  </property>
</Properties>
</file>